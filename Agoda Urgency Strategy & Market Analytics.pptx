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7.png"/><Relationship Id="rId6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image" Target="../media/image24.png"/><Relationship Id="rId13" Type="http://schemas.openxmlformats.org/officeDocument/2006/relationships/image" Target="../media/image25.png"/><Relationship Id="rId14" Type="http://schemas.openxmlformats.org/officeDocument/2006/relationships/image" Target="../media/image26.png"/><Relationship Id="rId15" Type="http://schemas.openxmlformats.org/officeDocument/2006/relationships/image" Target="../media/image27.png"/><Relationship Id="rId16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image" Target="../media/image44.png"/><Relationship Id="rId11" Type="http://schemas.openxmlformats.org/officeDocument/2006/relationships/image" Target="../media/image45.png"/><Relationship Id="rId12" Type="http://schemas.openxmlformats.org/officeDocument/2006/relationships/image" Target="../media/image4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00" cy="73854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33400"/>
            <a:ext cx="6800850" cy="887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Montserrat"/>
              </a:rPr>
              <a:t>Executive Strategy: Urgency &amp; Market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516260"/>
            <a:ext cx="6477000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1821060"/>
            <a:ext cx="6477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Product leadership is exploring the rollout of urgency messaging across Agoda’s booking funnel. Analyzing 48,914 real bookings (Oct–Dec 2016) across 5 cities reveals critical flaws in standard industry assumptions and outlines a highly targeted commercial strategy.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068835"/>
            <a:ext cx="6800850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0F172A"/>
                </a:solidFill>
                <a:latin typeface="Montserrat"/>
              </a:rPr>
              <a:t>Core Analytical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360491"/>
            <a:ext cx="6800850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0F172A"/>
                </a:solidFill>
                <a:latin typeface="Montserrat"/>
              </a:rPr>
              <a:t>Strategic Phased Rollout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369766"/>
            <a:ext cx="624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The "Price Drop" Paradox: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Prices drop by ~30% as check-in approaches ($170 down to $119). </a:t>
            </a:r>
            <a:r>
              <a:rPr b="0" sz="1200" i="1" u="none">
                <a:solidFill>
                  <a:srgbClr val="334155"/>
                </a:solidFill>
                <a:latin typeface="Inter"/>
              </a:rPr>
              <a:t>"Prices are rising!"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copy is factually incorrect for the majority of inventory.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922216"/>
            <a:ext cx="624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Massive Urgency Market: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47.9% of all bookings occur within 7 days of check-in, confirming the existence of a massive "urgency mode" user base.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4474666"/>
            <a:ext cx="624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The "Sweet Spot":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4-Star Non-Chain Properties represent the prime commercial opportunity (high volume, 52.7% last-minute urgency, premium $192 ADR).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5661421"/>
            <a:ext cx="624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Pivot Messaging: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Ban static price-increase claims. Transition to Inventory Scarcity and real-time Social Proof.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6213871"/>
            <a:ext cx="624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Target Deployment: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Launch A/B tests strictly on 4-star non-chain properties in Urgency Hotspots (Cities E &amp; A). Exclude Planner Markets (City C).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88816"/>
            <a:ext cx="85725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41266"/>
            <a:ext cx="85725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493716"/>
            <a:ext cx="85725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680471"/>
            <a:ext cx="85725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6232921"/>
            <a:ext cx="8572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386780"/>
            <a:ext cx="5334000" cy="499496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5353050"/>
            <a:ext cx="5334000" cy="1028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153792"/>
            <a:ext cx="1682650" cy="96961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7025" y="4153792"/>
            <a:ext cx="1682799" cy="96961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2700" y="4153792"/>
            <a:ext cx="1682799" cy="9696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" y="1386780"/>
            <a:ext cx="5334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The dataset exhibits heavy concentration in specific cities and property types, but the most critical finding lies in the </a:t>
            </a:r>
            <a:r>
              <a:rPr b="1" sz="1200" i="0" u="none">
                <a:solidFill>
                  <a:srgbClr val="0F172A"/>
                </a:solidFill>
                <a:latin typeface="Inter"/>
              </a:rPr>
              <a:t>pricing distribution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. Analyzing Average Daily Rate (ADR) reveals extreme right-skewness.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2215455"/>
            <a:ext cx="5334000" cy="1747837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71500" y="2215455"/>
          <a:ext cx="5324473" cy="1747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800373"/>
                <a:gridCol w="1436191"/>
                <a:gridCol w="2087909"/>
              </a:tblGrid>
              <a:tr h="436959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0F172A"/>
                          </a:solidFill>
                          <a:latin typeface="Montserrat SemiBold"/>
                        </a:rPr>
                        <a:t>Market Dimension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0F172A"/>
                          </a:solidFill>
                          <a:latin typeface="Montserrat SemiBold"/>
                        </a:rPr>
                        <a:t>Top Category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0F172A"/>
                          </a:solidFill>
                          <a:latin typeface="Montserrat SemiBold"/>
                        </a:rPr>
                        <a:t>Volume Share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36959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City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City 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45.6% (22,366 bookings)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6959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Property Type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Hotel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72.2% (35,441 bookings)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696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Chain Status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Non-Chain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73.0% (35,825 bookings)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76262" y="2634555"/>
            <a:ext cx="18003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76636" y="2634555"/>
            <a:ext cx="14361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12827" y="2634555"/>
            <a:ext cx="20879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3200" y="5524500"/>
            <a:ext cx="4838700" cy="685800"/>
          </a:xfrm>
          <a:prstGeom prst="rect">
            <a:avLst/>
          </a:prstGeom>
          <a:noFill/>
        </p:spPr>
        <p:txBody>
          <a:bodyPr wrap="square" lIns="22860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Statistical Imperative:</a:t>
            </a:r>
            <a:r>
              <a:rPr b="0" sz="1200" i="0" u="none">
                <a:solidFill>
                  <a:srgbClr val="991B1B"/>
                </a:solidFill>
                <a:latin typeface="Inter Medium"/>
              </a:rPr>
              <a:t> The Mean is inflated 30.3% above the Median due to a luxury tail ($3,156 Max). Using Mean ADR distorts baselines; strategies must use Median.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262" y="3072705"/>
            <a:ext cx="18003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76636" y="3072705"/>
            <a:ext cx="14361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12827" y="3072705"/>
            <a:ext cx="20879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6262" y="3510855"/>
            <a:ext cx="18003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76636" y="3510855"/>
            <a:ext cx="14361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12827" y="3510855"/>
            <a:ext cx="20879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2475" y="4306192"/>
            <a:ext cx="1416739" cy="159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1" sz="1050" i="0" u="none">
                <a:solidFill>
                  <a:srgbClr val="64748B"/>
                </a:solidFill>
                <a:latin typeface="Montserrat"/>
              </a:rPr>
              <a:t>MEDIAN (P50)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475" y="4561433"/>
            <a:ext cx="13492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b="0" sz="2850" i="0" u="none">
                <a:solidFill>
                  <a:srgbClr val="0F172A"/>
                </a:solidFill>
                <a:latin typeface="Inter Light"/>
              </a:rPr>
              <a:t>$114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78000" y="4306192"/>
            <a:ext cx="1416895" cy="159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1" sz="1050" i="0" u="none">
                <a:solidFill>
                  <a:srgbClr val="64748B"/>
                </a:solidFill>
                <a:latin typeface="Montserrat"/>
              </a:rPr>
              <a:t>MEAN (AVG)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78000" y="4561433"/>
            <a:ext cx="1349424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b="0" sz="2850" i="0" u="none">
                <a:solidFill>
                  <a:srgbClr val="0F172A"/>
                </a:solidFill>
                <a:latin typeface="Inter Light"/>
              </a:rPr>
              <a:t>$148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3675" y="4306192"/>
            <a:ext cx="1416895" cy="159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1" sz="1050" i="0" u="none">
                <a:solidFill>
                  <a:srgbClr val="64748B"/>
                </a:solidFill>
                <a:latin typeface="Montserrat"/>
              </a:rPr>
              <a:t>LUXURY (P95)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3675" y="4561433"/>
            <a:ext cx="1349424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b="0" sz="2850" i="0" u="none">
                <a:solidFill>
                  <a:srgbClr val="0F172A"/>
                </a:solidFill>
                <a:latin typeface="Inter Light"/>
              </a:rPr>
              <a:t>$366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200" y="5562600"/>
            <a:ext cx="152400" cy="1524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71500" y="533400"/>
            <a:ext cx="11601450" cy="453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Montserrat"/>
              </a:rPr>
              <a:t>1. Market Distribution &amp; ADR Skewness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" y="1081980"/>
            <a:ext cx="11049000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86855"/>
            <a:ext cx="5334000" cy="439489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192017"/>
            <a:ext cx="5334000" cy="942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5353050"/>
            <a:ext cx="5334000" cy="10287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1386780"/>
            <a:ext cx="1104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Analyzing ADR against booking lead time invalidates the core industry assumption that hotel prices consistently rise closer to check-in. In reality, properties heavily discount distress inventory.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1986855"/>
            <a:ext cx="5334000" cy="3062287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1500" y="1986855"/>
          <a:ext cx="5324472" cy="3062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591567"/>
                <a:gridCol w="1003696"/>
                <a:gridCol w="1127968"/>
                <a:gridCol w="1601241"/>
              </a:tblGrid>
              <a:tr h="437469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0F172A"/>
                          </a:solidFill>
                          <a:latin typeface="Montserrat SemiBold"/>
                        </a:rPr>
                        <a:t>Lead Time Bucket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0F172A"/>
                          </a:solidFill>
                          <a:latin typeface="Montserrat SemiBold"/>
                        </a:rPr>
                        <a:t>Share (%)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0F172A"/>
                          </a:solidFill>
                          <a:latin typeface="Montserrat SemiBold"/>
                        </a:rPr>
                        <a:t>Avg ADR ($)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0F172A"/>
                          </a:solidFill>
                          <a:latin typeface="Montserrat SemiBold"/>
                        </a:rPr>
                        <a:t>Price vs. 30+ Days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37469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30+ days (Baseline)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17.3%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$170.00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-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7469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2–4 weeks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20.0%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$164.00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-3.5% (-$6)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7469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1–2 weeks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14.8%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$153.00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-10.0% (-$17)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7469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4–7 days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13.9%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$144.00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-15.3% (-$26)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7469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1–3 days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22.5%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$132.00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EF4444"/>
                          </a:solidFill>
                          <a:latin typeface="Inter"/>
                        </a:rPr>
                        <a:t>-22.3% (-$38)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7473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Same Day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11.4%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$119.00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EF4444"/>
                          </a:solidFill>
                          <a:latin typeface="Inter"/>
                        </a:rPr>
                        <a:t>-30.0% (-$51)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76262" y="2405955"/>
            <a:ext cx="15915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67830" y="2405955"/>
            <a:ext cx="10036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71527" y="2405955"/>
            <a:ext cx="11279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9495" y="2405955"/>
            <a:ext cx="16012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5372992"/>
            <a:ext cx="12382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Inter"/>
              </a:rPr>
              <a:t>ECONOMIC DRIVER: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5582542"/>
            <a:ext cx="50292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Hotels aggressively lower rates close to check-in to clear distress inventory (a discounted room yields higher marginal revenue than an empty room).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200" y="5524500"/>
            <a:ext cx="4838700" cy="685800"/>
          </a:xfrm>
          <a:prstGeom prst="rect">
            <a:avLst/>
          </a:prstGeom>
          <a:noFill/>
        </p:spPr>
        <p:txBody>
          <a:bodyPr wrap="square" lIns="22860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The Trust Risk:</a:t>
            </a:r>
            <a:r>
              <a:rPr b="0" sz="1200" i="0" u="none">
                <a:solidFill>
                  <a:srgbClr val="991B1B"/>
                </a:solidFill>
                <a:latin typeface="Inter Medium"/>
              </a:rPr>
              <a:t> "Prices are rising!" is factually misleading for the vast majority of inventory. We must pivot to Inventory Scarcity or verified rate increases.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262" y="2844105"/>
            <a:ext cx="15915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67830" y="2844105"/>
            <a:ext cx="10036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71527" y="2844105"/>
            <a:ext cx="11279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9495" y="2844105"/>
            <a:ext cx="16012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262" y="3282255"/>
            <a:ext cx="15915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67830" y="3282255"/>
            <a:ext cx="10036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171527" y="3282255"/>
            <a:ext cx="11279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9495" y="3282255"/>
            <a:ext cx="16012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6262" y="3720405"/>
            <a:ext cx="15915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67830" y="3720405"/>
            <a:ext cx="10036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71527" y="3720405"/>
            <a:ext cx="11279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9495" y="3720405"/>
            <a:ext cx="16012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6262" y="4158555"/>
            <a:ext cx="15915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167830" y="4158555"/>
            <a:ext cx="10036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71527" y="4158555"/>
            <a:ext cx="11279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99495" y="4158555"/>
            <a:ext cx="16012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6262" y="4596705"/>
            <a:ext cx="15915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167830" y="4596705"/>
            <a:ext cx="10036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71527" y="4596705"/>
            <a:ext cx="11279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99495" y="4596705"/>
            <a:ext cx="16012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200" y="5562600"/>
            <a:ext cx="152400" cy="1524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71500" y="533400"/>
            <a:ext cx="11601450" cy="453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Montserrat"/>
              </a:rPr>
              <a:t>2. The "Price Drop" Paradox vs. Lead Time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1500" y="1081980"/>
            <a:ext cx="11049000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4579441"/>
            <a:ext cx="5334000" cy="1028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7375" y="2312491"/>
            <a:ext cx="4048125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7375" y="2731591"/>
            <a:ext cx="4048125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7375" y="3150691"/>
            <a:ext cx="4048125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7375" y="3569791"/>
            <a:ext cx="4048125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7375" y="3988891"/>
            <a:ext cx="4048125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7375" y="2312491"/>
            <a:ext cx="3440906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7375" y="2731591"/>
            <a:ext cx="3036093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57375" y="3150691"/>
            <a:ext cx="2955131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57375" y="3569791"/>
            <a:ext cx="2428875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57375" y="3988891"/>
            <a:ext cx="161925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500" y="2455366"/>
            <a:ext cx="1047750" cy="10477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29625" y="2455366"/>
            <a:ext cx="1047750" cy="10477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72750" y="2455366"/>
            <a:ext cx="1047750" cy="104775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" y="1386780"/>
            <a:ext cx="1104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Booking behavior is highly heterogeneous. Certain cities represent massive urgency opportunities, while others are dominated by advance planners hostile to last-minute pressure tactics.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1986855"/>
            <a:ext cx="5600700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1" sz="1200" i="0" u="none">
                <a:solidFill>
                  <a:srgbClr val="0F172A"/>
                </a:solidFill>
                <a:latin typeface="Montserrat"/>
              </a:rPr>
              <a:t>% Last-Minute Bookings (≤7 Days) by 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436566"/>
            <a:ext cx="533400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*City A accounts for 45.6% of all bookings, making its 51.5% urgency rate the largest raw volume opportunity.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6500" y="1986855"/>
            <a:ext cx="5600700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1" sz="1200" i="0" u="none">
                <a:solidFill>
                  <a:srgbClr val="0F172A"/>
                </a:solidFill>
                <a:latin typeface="Montserrat"/>
              </a:rPr>
              <a:t>Temporal Seasonality (Q4 2016)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6500" y="3836491"/>
            <a:ext cx="5334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0F172A"/>
                </a:solidFill>
                <a:latin typeface="Inter"/>
              </a:rPr>
              <a:t>October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sees peak urgency ($149 ADR) driven by short-lead business travel. </a:t>
            </a:r>
            <a:r>
              <a:rPr b="1" sz="1050" i="0" u="none">
                <a:solidFill>
                  <a:srgbClr val="0F172A"/>
                </a:solidFill>
                <a:latin typeface="Inter"/>
              </a:rPr>
              <a:t>December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planning windows expand to 15.7 days due to holiday leisure bookings ($154 ADR).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86500" y="2969716"/>
            <a:ext cx="53340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200" y="4750891"/>
            <a:ext cx="48387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Deployment Strategy:</a:t>
            </a:r>
            <a:r>
              <a:rPr b="0" sz="1200" i="0" u="none">
                <a:solidFill>
                  <a:srgbClr val="064E3B"/>
                </a:solidFill>
                <a:latin typeface="Inter Medium"/>
              </a:rPr>
              <a:t> City C users plan weeks in advance (20.6 days avg lead time). Exclude City C entirely from urgency tests; focus on E, B, and 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" y="2383928"/>
            <a:ext cx="1143000" cy="161925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r"/>
            <a:r>
              <a:rPr b="0" sz="1050" i="0" u="none">
                <a:solidFill>
                  <a:srgbClr val="334155"/>
                </a:solidFill>
                <a:latin typeface="Inter SemiBold"/>
              </a:rPr>
              <a:t>City 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" y="2803028"/>
            <a:ext cx="1143000" cy="161925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r"/>
            <a:r>
              <a:rPr b="0" sz="1050" i="0" u="none">
                <a:solidFill>
                  <a:srgbClr val="334155"/>
                </a:solidFill>
                <a:latin typeface="Inter SemiBold"/>
              </a:rPr>
              <a:t>City 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" y="3222128"/>
            <a:ext cx="1143000" cy="161925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r"/>
            <a:r>
              <a:rPr b="0" sz="1050" i="0" u="none">
                <a:solidFill>
                  <a:srgbClr val="334155"/>
                </a:solidFill>
                <a:latin typeface="Inter SemiBold"/>
              </a:rPr>
              <a:t>City 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" y="3641228"/>
            <a:ext cx="1143000" cy="161925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r"/>
            <a:r>
              <a:rPr b="0" sz="1050" i="0" u="none">
                <a:solidFill>
                  <a:srgbClr val="334155"/>
                </a:solidFill>
                <a:latin typeface="Inter SemiBold"/>
              </a:rPr>
              <a:t>City 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" y="4060328"/>
            <a:ext cx="1143000" cy="161925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r"/>
            <a:r>
              <a:rPr b="0" sz="1050" i="0" u="none">
                <a:solidFill>
                  <a:srgbClr val="334155"/>
                </a:solidFill>
                <a:latin typeface="Inter SemiBold"/>
              </a:rPr>
              <a:t>City 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4625" y="2774453"/>
            <a:ext cx="571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1" sz="1500" i="0" u="none">
                <a:solidFill>
                  <a:srgbClr val="0F172A"/>
                </a:solidFill>
                <a:latin typeface="Inter"/>
              </a:rPr>
              <a:t>51.6%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39175" y="2774453"/>
            <a:ext cx="6286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1" sz="1500" i="0" u="none">
                <a:solidFill>
                  <a:srgbClr val="64748B"/>
                </a:solidFill>
                <a:latin typeface="Inter"/>
              </a:rPr>
              <a:t>48.6%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2300" y="2774453"/>
            <a:ext cx="6286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1" sz="1500" i="0" u="none">
                <a:solidFill>
                  <a:srgbClr val="0F172A"/>
                </a:solidFill>
                <a:latin typeface="Inter"/>
              </a:rPr>
              <a:t>43.8%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00200" y="2402978"/>
            <a:ext cx="114300" cy="1333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00200" y="2822078"/>
            <a:ext cx="114300" cy="1333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00200" y="3241178"/>
            <a:ext cx="114300" cy="1333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00200" y="3660278"/>
            <a:ext cx="114300" cy="1333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00200" y="4079378"/>
            <a:ext cx="114300" cy="1333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71500" y="533400"/>
            <a:ext cx="11601450" cy="453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Montserrat"/>
              </a:rPr>
              <a:t>3. Geographic &amp; Temporal Hotspots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1500" y="1081980"/>
            <a:ext cx="11049000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86855"/>
            <a:ext cx="5334000" cy="439489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4339530"/>
            <a:ext cx="5334000" cy="119821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1386780"/>
            <a:ext cx="1104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Urgency behavior does not scale linearly with star rating; instead, it forms a distinct U-shaped curve, revealing two vastly different psychological drivers for last-minute bookings.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5100" y="1986855"/>
            <a:ext cx="5105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0-2 Stars (61% Avg):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Ultra price-sensitive deal hunters operating on extreme short notice. (Low $50–$91 ADR).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5100" y="2539305"/>
            <a:ext cx="5105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3 Stars (44.3%):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Mass market families/groups requiring coordination and longer planning windows.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100" y="3091755"/>
            <a:ext cx="5105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10B981"/>
                </a:solidFill>
                <a:latin typeface="Inter"/>
              </a:rPr>
              <a:t>4 Stars (52.7%):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Business travelers &amp; spontaneous premium leisure. This is the 🎯 Target Segment.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3644205"/>
            <a:ext cx="5105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5 Stars (49.5%):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Split between impulse luxury ("treat-yourself") and planned special occasions.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100" y="4539555"/>
            <a:ext cx="5150643" cy="159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1" sz="1050" i="0" u="none">
                <a:solidFill>
                  <a:srgbClr val="64748B"/>
                </a:solidFill>
                <a:latin typeface="Montserrat"/>
              </a:rPr>
              <a:t>THE 4-STAR COMMERCIAL ADVANTAGE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06100" y="5185320"/>
            <a:ext cx="7143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Average ADR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33400"/>
            <a:ext cx="11601450" cy="453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Montserrat"/>
              </a:rPr>
              <a:t>4. Property Tier Analysis: The Urgency U-Curve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081980"/>
            <a:ext cx="11049000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2005905"/>
            <a:ext cx="85725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2558355"/>
            <a:ext cx="85725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3110805"/>
            <a:ext cx="85725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3663255"/>
            <a:ext cx="85725" cy="1428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15100" y="4794795"/>
            <a:ext cx="9334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2400" i="0" u="none">
                <a:solidFill>
                  <a:srgbClr val="0F172A"/>
                </a:solidFill>
                <a:latin typeface="Inter Light"/>
              </a:rPr>
              <a:t>29.5%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5100" y="5185320"/>
            <a:ext cx="7429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Market Share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5362" y="4794795"/>
            <a:ext cx="9239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2400" i="0" u="none">
                <a:solidFill>
                  <a:srgbClr val="0F172A"/>
                </a:solidFill>
                <a:latin typeface="Inter Light"/>
              </a:rPr>
              <a:t>52.7%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5362" y="5185320"/>
            <a:ext cx="7429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Urgency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06100" y="4794795"/>
            <a:ext cx="7143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2400" i="0" u="none">
                <a:solidFill>
                  <a:srgbClr val="0F172A"/>
                </a:solidFill>
                <a:latin typeface="Inter Light"/>
              </a:rPr>
              <a:t>$192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0" y="3055590"/>
            <a:ext cx="2095500" cy="2095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22177"/>
            <a:ext cx="5334000" cy="125536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3820417"/>
            <a:ext cx="5334000" cy="125536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5266283"/>
            <a:ext cx="5334000" cy="10287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500" y="1386780"/>
            <a:ext cx="1104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Analyzing ownership models highlights a massive divergence in price sensitivity and urgency behavior, guiding where messaging tests will be most effective.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2073622"/>
            <a:ext cx="5600700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0F172A"/>
                </a:solidFill>
                <a:latin typeface="Montserrat"/>
              </a:rPr>
              <a:t>Behavioral Divergence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2622202"/>
            <a:ext cx="5150643" cy="159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1" sz="1050" i="0" u="none">
                <a:solidFill>
                  <a:srgbClr val="0F172A"/>
                </a:solidFill>
                <a:latin typeface="Montserrat"/>
              </a:rPr>
              <a:t>INDEPENDENT / NON-CHAIN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100" y="2877442"/>
            <a:ext cx="490537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0F172A"/>
                </a:solidFill>
                <a:latin typeface="Inter"/>
              </a:rPr>
              <a:t>48.5% Urgency | $129 Avg ADR</a:t>
            </a:r>
            <a:r>
              <a:t>
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Highly fragmented, price-sensitive inventory. Represents the bulk testing ground for price/scarcity messaging.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100" y="4020442"/>
            <a:ext cx="5150643" cy="159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1" sz="1050" i="0" u="none">
                <a:solidFill>
                  <a:srgbClr val="0F172A"/>
                </a:solidFill>
                <a:latin typeface="Montserrat"/>
              </a:rPr>
              <a:t>CHAIN PROPERTIES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4275683"/>
            <a:ext cx="490537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0F172A"/>
                </a:solidFill>
                <a:latin typeface="Inter"/>
              </a:rPr>
              <a:t>46.1% Urgency | $200 Avg ADR</a:t>
            </a:r>
            <a:r>
              <a:t>
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Lower urgency, commanding a massive 55% price premium. Users typically book corporate rates or leverage brand loyalty.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5437733"/>
            <a:ext cx="48387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Testing Ground:</a:t>
            </a:r>
            <a:r>
              <a:rPr b="0" sz="1200" i="0" u="none">
                <a:solidFill>
                  <a:srgbClr val="064E3B"/>
                </a:solidFill>
                <a:latin typeface="Inter Medium"/>
              </a:rPr>
              <a:t> Non-chain properties represent 73% of the market and exhibit higher urgency. Limit phase 1 tests exclusively to this segment.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5365402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62350" y="5365402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" y="533400"/>
            <a:ext cx="11601450" cy="453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Montserrat"/>
              </a:rPr>
              <a:t>5. Chain vs. Independent Dynamics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081980"/>
            <a:ext cx="11049000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639567"/>
            <a:ext cx="5334000" cy="800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4639567"/>
            <a:ext cx="5334000" cy="8001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1386780"/>
            <a:ext cx="1104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Combining geographic and property tier insights allows us to isolate the exact micro-segments that yield the highest commercial return for urgency messaging.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2177355"/>
            <a:ext cx="11049000" cy="2176462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1500" y="2177355"/>
          <a:ext cx="11039474" cy="21764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428750"/>
                <a:gridCol w="5021609"/>
                <a:gridCol w="4589115"/>
              </a:tblGrid>
              <a:tr h="725487"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75" i="0" u="none">
                          <a:solidFill>
                            <a:srgbClr val="0F172A"/>
                          </a:solidFill>
                          <a:latin typeface="Montserrat SemiBold"/>
                        </a:rPr>
                        <a:t>High Urgency (&gt;55%)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75" i="0" u="none">
                          <a:solidFill>
                            <a:srgbClr val="0F172A"/>
                          </a:solidFill>
                          <a:latin typeface="Montserrat SemiBold"/>
                        </a:rPr>
                        <a:t>Low Urgency (&lt;40%)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725487"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 SemiBold"/>
                        </a:rPr>
                        <a:t>High ADR</a:t>
                      </a:r>
                      <a: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Inter SemiBold"/>
                        </a:rPr>
                        <a:t>
        (&gt;$150)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City E - 4⭐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 (64.8% / $161)</a:t>
                      </a:r>
                      <a:r>
                        <a:t>
</a:t>
                      </a:r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City A - 4⭐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 (55.4% / $130)</a:t>
                      </a:r>
                      <a:r>
                        <a:t>
</a:t>
                      </a:r>
                      <a:r>
                        <a:rPr b="1" sz="1050" i="0" u="none">
                          <a:solidFill>
                            <a:srgbClr val="10B981"/>
                          </a:solidFill>
                          <a:latin typeface="Inter"/>
                        </a:rPr>
                        <a:t>TARGET SEGMENT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City C - 5⭐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 (22.8% / $667)</a:t>
                      </a:r>
                      <a:r>
                        <a:t>
</a:t>
                      </a:r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City C - 4⭐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 (29.3% / $445)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25488"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 SemiBold"/>
                        </a:rPr>
                        <a:t>Low ADR</a:t>
                      </a:r>
                      <a: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Inter SemiBold"/>
                        </a:rPr>
                        <a:t>
        (&lt;$150)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City E - 1⭐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 (75.6% / $30)</a:t>
                      </a:r>
                      <a:r>
                        <a:t>
</a:t>
                      </a:r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City B - 0⭐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 (73.5% / $24)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City C - 3⭐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 (27.9% / $224)</a:t>
                      </a:r>
                      <a:r>
                        <a:t>
</a:t>
                      </a:r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City B - 5⭐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 (37.7% / $281)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005012" y="2601217"/>
            <a:ext cx="50216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26622" y="2601217"/>
            <a:ext cx="45891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262" y="3639442"/>
            <a:ext cx="1428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26622" y="3639442"/>
            <a:ext cx="45891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" y="4811017"/>
            <a:ext cx="48387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City E 4-Star:</a:t>
            </a:r>
            <a:r>
              <a:rPr b="0" sz="1200" i="0" u="none">
                <a:solidFill>
                  <a:srgbClr val="1E3A8A"/>
                </a:solidFill>
                <a:latin typeface="Inter Medium"/>
              </a:rPr>
              <a:t> 64.8% urgency (1,480 bookings, 31% of City E). A perfect micro-climate for high-ADR scarcity testing.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4811017"/>
            <a:ext cx="48387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City A 4-Star:</a:t>
            </a:r>
            <a:r>
              <a:rPr b="0" sz="1200" i="0" u="none">
                <a:solidFill>
                  <a:srgbClr val="1E3A8A"/>
                </a:solidFill>
                <a:latin typeface="Inter Medium"/>
              </a:rPr>
              <a:t> 55.4% urgency, 5,841 bookings. The massive volume generator for the A/B test pipeline.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533400"/>
            <a:ext cx="11601450" cy="453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Montserrat"/>
              </a:rPr>
              <a:t>6. The Ultimate Target Matrix (City × Star Rating)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081980"/>
            <a:ext cx="11049000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1386780"/>
            <a:ext cx="1104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To ensure robust experimental design, we tested the Spearman rank correlation between booking lead time and ADR to see if the relationship is statistically significant across markets.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082105"/>
            <a:ext cx="5334000" cy="34480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1500" y="2082105"/>
          <a:ext cx="5324473" cy="3448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202828"/>
                <a:gridCol w="1160115"/>
                <a:gridCol w="913358"/>
                <a:gridCol w="2048172"/>
              </a:tblGrid>
              <a:tr h="492578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0F172A"/>
                          </a:solidFill>
                          <a:latin typeface="Montserrat SemiBold"/>
                        </a:rPr>
                        <a:t>Market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0F172A"/>
                          </a:solidFill>
                          <a:latin typeface="Montserrat SemiBold"/>
                        </a:rPr>
                        <a:t>Spearman ρ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0F172A"/>
                          </a:solidFill>
                          <a:latin typeface="Montserrat SemiBold"/>
                        </a:rPr>
                        <a:t>P-value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0F172A"/>
                          </a:solidFill>
                          <a:latin typeface="Montserrat SemiBold"/>
                        </a:rPr>
                        <a:t>Interpretation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92578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Inter"/>
                        </a:rPr>
                        <a:t>Overall Market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0.1613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2.15e-283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Highly Significant (Weak Pos)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</a:tr>
              <a:tr h="492578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City 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0.0843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1.52e-22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Significant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2578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City 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0.2271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1.04e-07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Significant (Weak Pos)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2578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City 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0.2094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3.30e-02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Significant (Weak Pos)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2578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City 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0.0095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3.40e-01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EF4444"/>
                          </a:solidFill>
                          <a:latin typeface="Inter"/>
                        </a:rPr>
                        <a:t>Not Significant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2582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City 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0.0726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4.58e-01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EF4444"/>
                          </a:solidFill>
                          <a:latin typeface="Inter"/>
                        </a:rPr>
                        <a:t>Not Significant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86500" y="1986855"/>
            <a:ext cx="5600700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1" sz="1200" i="0" u="none">
                <a:solidFill>
                  <a:srgbClr val="0F172A"/>
                </a:solidFill>
                <a:latin typeface="Montserrat"/>
              </a:rPr>
              <a:t>A/B Testing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284041"/>
            <a:ext cx="5600700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1" sz="1200" i="0" u="none">
                <a:solidFill>
                  <a:srgbClr val="0F172A"/>
                </a:solidFill>
                <a:latin typeface="Montserrat"/>
              </a:rPr>
              <a:t>Guardrail Metrics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262" y="2686942"/>
            <a:ext cx="12028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79091" y="2686942"/>
            <a:ext cx="11601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39206" y="2686942"/>
            <a:ext cx="9133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52564" y="2686942"/>
            <a:ext cx="20481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5100" y="2264866"/>
            <a:ext cx="5105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Target: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4-Star Non-Chain Properties (Cities E &amp; A).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100" y="2588716"/>
            <a:ext cx="5105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Control (50%):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Standard UI (No Urgency Badging).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5100" y="2912566"/>
            <a:ext cx="5105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Treatment (50%):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Dynamic Scarcity + Social Proof.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5100" y="3562052"/>
            <a:ext cx="5105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Primary Success: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Search-to-Book CVR (+2.5% Target).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5100" y="3885902"/>
            <a:ext cx="5105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Risk Metric 1: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24-Hour Cancellation Rate (&lt;0.5% var).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5100" y="4209752"/>
            <a:ext cx="5105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Risk Metric 2: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30-Day Repeat Booking Rate (Trust).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262" y="3325117"/>
            <a:ext cx="12028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79091" y="3325117"/>
            <a:ext cx="11601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39206" y="3325117"/>
            <a:ext cx="9133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52564" y="3325117"/>
            <a:ext cx="20481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6262" y="3763267"/>
            <a:ext cx="12028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79091" y="3763267"/>
            <a:ext cx="11601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39206" y="3763267"/>
            <a:ext cx="9133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52564" y="3763267"/>
            <a:ext cx="20481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6262" y="4201417"/>
            <a:ext cx="12028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779091" y="4201417"/>
            <a:ext cx="11601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39206" y="4201417"/>
            <a:ext cx="9133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52564" y="4201417"/>
            <a:ext cx="20481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6262" y="4639567"/>
            <a:ext cx="12028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779091" y="4639567"/>
            <a:ext cx="11601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939206" y="4639567"/>
            <a:ext cx="9133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52564" y="4639567"/>
            <a:ext cx="20481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6262" y="5077717"/>
            <a:ext cx="12028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79091" y="5077717"/>
            <a:ext cx="11601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939206" y="5077717"/>
            <a:ext cx="9133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52564" y="5077717"/>
            <a:ext cx="20481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1500" y="533400"/>
            <a:ext cx="11601450" cy="453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Montserrat"/>
              </a:rPr>
              <a:t>7. Statistical Validity &amp; Correlation Testing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1500" y="1081980"/>
            <a:ext cx="11049000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283916"/>
            <a:ext cx="85725" cy="14287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607766"/>
            <a:ext cx="85725" cy="14287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931616"/>
            <a:ext cx="85725" cy="142875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581102"/>
            <a:ext cx="85725" cy="142875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904952"/>
            <a:ext cx="85725" cy="142875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4228802"/>
            <a:ext cx="8572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569916"/>
            <a:ext cx="11049000" cy="800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297310"/>
            <a:ext cx="3524250" cy="20344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3875" y="2297310"/>
            <a:ext cx="3524250" cy="203448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0" y="2297310"/>
            <a:ext cx="3524250" cy="2034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500" y="1386780"/>
            <a:ext cx="11049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To maximize conversion without causing user fatigue or friction, urgency messaging must be tailored to specific funnel stages and micro-segments.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1948755"/>
            <a:ext cx="11601450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0F172A"/>
                </a:solidFill>
                <a:latin typeface="Montserrat"/>
              </a:rPr>
              <a:t>Funnel Placement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741366"/>
            <a:ext cx="10553700" cy="457200"/>
          </a:xfrm>
          <a:prstGeom prst="rect">
            <a:avLst/>
          </a:prstGeom>
          <a:noFill/>
        </p:spPr>
        <p:txBody>
          <a:bodyPr wrap="square" lIns="22860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Estimated Business Impact:</a:t>
            </a:r>
            <a:r>
              <a:rPr b="0" sz="1200" i="0" u="none">
                <a:solidFill>
                  <a:srgbClr val="064E3B"/>
                </a:solidFill>
                <a:latin typeface="Inter Medium"/>
              </a:rPr>
              <a:t> A modest +1.5% CVR lift via Scarcity/Social proof on the 20,000 baseline target bookings yields an estimated </a:t>
            </a:r>
            <a:r>
              <a:rPr b="1" sz="1200" i="0" u="none">
                <a:solidFill>
                  <a:srgbClr val="0F172A"/>
                </a:solidFill>
                <a:latin typeface="Inter"/>
              </a:rPr>
              <a:t>$2.5M - $4.0M Annual GBV Lift</a:t>
            </a:r>
            <a:r>
              <a:rPr b="0" sz="1200" i="0" u="none">
                <a:solidFill>
                  <a:srgbClr val="064E3B"/>
                </a:solidFill>
                <a:latin typeface="Inter Medium"/>
              </a:rPr>
              <a:t> when scaled globally across matching inventory.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2544960"/>
            <a:ext cx="476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9150" y="3164085"/>
            <a:ext cx="3180397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0F172A"/>
                </a:solidFill>
                <a:latin typeface="Montserrat"/>
              </a:rPr>
              <a:t>1. Search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3465016"/>
            <a:ext cx="30289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0F172A"/>
                </a:solidFill>
                <a:latin typeface="Inter"/>
              </a:rPr>
              <a:t>Goal: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Filter &amp; Contrast</a:t>
            </a:r>
            <a:r>
              <a:t>
</a:t>
            </a:r>
            <a:r>
              <a:rPr b="1" sz="1050" i="0" u="none">
                <a:solidFill>
                  <a:srgbClr val="0F172A"/>
                </a:solidFill>
                <a:latin typeface="Inter"/>
              </a:rPr>
              <a:t>Tactic: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Social Proof Badges</a:t>
            </a:r>
            <a:r>
              <a:t>
</a:t>
            </a:r>
            <a:r>
              <a:rPr b="0" sz="1050" i="1" u="none">
                <a:solidFill>
                  <a:srgbClr val="475569"/>
                </a:solidFill>
                <a:latin typeface="Inter"/>
              </a:rPr>
              <a:t>"15 people viewing in City A"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81525" y="2564010"/>
            <a:ext cx="476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81525" y="3183135"/>
            <a:ext cx="3180397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0F172A"/>
                </a:solidFill>
                <a:latin typeface="Montserrat"/>
              </a:rPr>
              <a:t>2. Property Page (PDP)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525" y="3484066"/>
            <a:ext cx="30289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0F172A"/>
                </a:solidFill>
                <a:latin typeface="Inter"/>
              </a:rPr>
              <a:t>Goal: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High Intent Conversion</a:t>
            </a:r>
            <a:r>
              <a:t>
</a:t>
            </a:r>
            <a:r>
              <a:rPr b="1" sz="1050" i="0" u="none">
                <a:solidFill>
                  <a:srgbClr val="0F172A"/>
                </a:solidFill>
                <a:latin typeface="Inter"/>
              </a:rPr>
              <a:t>Tactic: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Inventory Scarcity</a:t>
            </a:r>
            <a:r>
              <a:t>
</a:t>
            </a:r>
            <a:r>
              <a:rPr b="0" sz="1050" i="1" u="none">
                <a:solidFill>
                  <a:srgbClr val="475569"/>
                </a:solidFill>
                <a:latin typeface="Inter"/>
              </a:rPr>
              <a:t>"Only 2 rooms left at this price!"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3900" y="2544960"/>
            <a:ext cx="476250" cy="4762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43900" y="3164085"/>
            <a:ext cx="3180397" cy="205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1" sz="1350" i="0" u="none">
                <a:solidFill>
                  <a:srgbClr val="0F172A"/>
                </a:solidFill>
                <a:latin typeface="Montserrat"/>
              </a:rPr>
              <a:t>3. Booking 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3900" y="3465016"/>
            <a:ext cx="30289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0F172A"/>
                </a:solidFill>
                <a:latin typeface="Inter"/>
              </a:rPr>
              <a:t>Goal: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Friction Reduction</a:t>
            </a:r>
            <a:r>
              <a:t>
</a:t>
            </a:r>
            <a:r>
              <a:rPr b="1" sz="1050" i="0" u="none">
                <a:solidFill>
                  <a:srgbClr val="0F172A"/>
                </a:solidFill>
                <a:latin typeface="Inter"/>
              </a:rPr>
              <a:t>Tactic: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Trust &amp; Mitigation</a:t>
            </a:r>
            <a:r>
              <a:t>
</a:t>
            </a:r>
            <a:r>
              <a:rPr b="0" sz="1050" i="1" u="none">
                <a:solidFill>
                  <a:srgbClr val="475569"/>
                </a:solidFill>
                <a:latin typeface="Inter"/>
              </a:rPr>
              <a:t>"Lock in this price today"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4779466"/>
            <a:ext cx="1524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500" y="2678310"/>
            <a:ext cx="209550" cy="2095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14875" y="2697360"/>
            <a:ext cx="209550" cy="2095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62962" y="2678310"/>
            <a:ext cx="238125" cy="2095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71500" y="533400"/>
            <a:ext cx="11601450" cy="453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Montserrat"/>
              </a:rPr>
              <a:t>8. Core Recommendations &amp; Funnel Implementation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1081980"/>
            <a:ext cx="11049000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29655"/>
            <a:ext cx="857250" cy="476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66875" y="1536799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https://cdn.prod.website-files.com/698a15a8c68d8a4f171bf4b3/6a6a1447db9399b85b5b731c_CelLink-ai-infra.jpg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6875" y="1770161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techarena.ai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33400"/>
            <a:ext cx="11601450" cy="453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Montserrat"/>
              </a:rPr>
              <a:t>Image Sources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1081980"/>
            <a:ext cx="11049000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