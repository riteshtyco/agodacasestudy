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6" r:id="rId3"/>
    <p:sldId id="271" r:id="rId4"/>
    <p:sldId id="272" r:id="rId5"/>
    <p:sldId id="273" r:id="rId6"/>
    <p:sldId id="274" r:id="rId7"/>
    <p:sldId id="269" r:id="rId8"/>
    <p:sldId id="270" r:id="rId9"/>
    <p:sldId id="267" r:id="rId10"/>
    <p:sldId id="278" r:id="rId11"/>
    <p:sldId id="279" r:id="rId12"/>
    <p:sldId id="259" r:id="rId13"/>
    <p:sldId id="266" r:id="rId14"/>
    <p:sldId id="280" r:id="rId15"/>
    <p:sldId id="281" r:id="rId16"/>
    <p:sldId id="275" r:id="rId17"/>
    <p:sldId id="276" r:id="rId18"/>
    <p:sldId id="277" r:id="rId19"/>
    <p:sldId id="282" r:id="rId20"/>
    <p:sldId id="25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D05F946-5B49-1AEC-EABB-2D8D96D2FCB6}" v="451" dt="2026-08-04T11:33:32.435"/>
    <p1510:client id="{D12A3738-1E73-49A6-8417-59B0FA57068A}" v="29" dt="2026-08-03T18:47:54.93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p:scale>
          <a:sx n="66" d="100"/>
          <a:sy n="66" d="100"/>
        </p:scale>
        <p:origin x="1330" y="31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85BFB-DB30-3302-B2B1-332D7B929F2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51412D58-9A17-B103-AAE2-0CE277AD20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F23D0F8-1FD3-5C55-669D-7AC8E06A645B}"/>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462F4B8A-3214-D689-FB3A-74F1AAB2C6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F8FF7E-E280-C69B-3DAE-64610617BF8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pic>
        <p:nvPicPr>
          <p:cNvPr id="7" name="Picture 6" descr="image.png">
            <a:extLst>
              <a:ext uri="{FF2B5EF4-FFF2-40B4-BE49-F238E27FC236}">
                <a16:creationId xmlns:a16="http://schemas.microsoft.com/office/drawing/2014/main" id="{E84FA770-3D14-E72F-86F1-5BAFA16C15FC}"/>
              </a:ext>
            </a:extLst>
          </p:cNvPr>
          <p:cNvPicPr>
            <a:picLocks noChangeAspect="1"/>
          </p:cNvPicPr>
          <p:nvPr userDrawn="1"/>
        </p:nvPicPr>
        <p:blipFill>
          <a:blip r:embed="rId2"/>
          <a:stretch>
            <a:fillRect/>
          </a:stretch>
        </p:blipFill>
        <p:spPr>
          <a:xfrm>
            <a:off x="-68826" y="0"/>
            <a:ext cx="12260826" cy="7385446"/>
          </a:xfrm>
          <a:prstGeom prst="rect">
            <a:avLst/>
          </a:prstGeom>
        </p:spPr>
      </p:pic>
    </p:spTree>
    <p:extLst>
      <p:ext uri="{BB962C8B-B14F-4D97-AF65-F5344CB8AC3E}">
        <p14:creationId xmlns:p14="http://schemas.microsoft.com/office/powerpoint/2010/main" val="5734917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AB5A6C-B2DD-84BA-ADE1-0EF2F235DCE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34D54BA-0815-777C-CCAA-4FA094A9BB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518FF8-D77C-C957-3546-21896569A352}"/>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6B37A2C0-8E24-BE83-0B10-3A1E0E6B035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DCA26C-FDEC-9ABF-FF17-252E6443DE66}"/>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3149687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637582-6995-2A2B-3228-C2B73FDCC46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6AF6F1F9-64C9-0B2C-B29B-48AC5849804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C853FB9-5A63-1AB5-F1F1-B49302BA6077}"/>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27A21526-2DA3-DC42-0C80-AE27A6CDDDE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1629704-FA8B-6FE5-DF92-55DF5B14781D}"/>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7687789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A531C1-AF62-917B-ADD0-CC5F451D8E92}"/>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B85CEE1-71D1-1E6B-0DED-56B96CA89CE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5E52BDC-F12C-592B-35A9-F7EFF9FB1CD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1C28A07-6B61-9324-CD7E-655E90C93D31}"/>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6" name="Footer Placeholder 5">
            <a:extLst>
              <a:ext uri="{FF2B5EF4-FFF2-40B4-BE49-F238E27FC236}">
                <a16:creationId xmlns:a16="http://schemas.microsoft.com/office/drawing/2014/main" id="{869B311A-3DA8-E4F6-7FE4-0BF9F388C27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31FA04F-EAEA-4F76-F046-9E9EFEA2A8E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878035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979C0A-E214-0161-F3AB-E29778B4B2F9}"/>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490324-57A8-4035-162F-61B4CEF29DA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4264063-20A9-7635-DE3B-126A885CE21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0164683-5911-CF75-6995-7BCD42981C8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8F46990-EEC0-7485-E082-AAA509E68EC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8315C69E-B164-06A3-C30A-F128F66AF2A0}"/>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8" name="Footer Placeholder 7">
            <a:extLst>
              <a:ext uri="{FF2B5EF4-FFF2-40B4-BE49-F238E27FC236}">
                <a16:creationId xmlns:a16="http://schemas.microsoft.com/office/drawing/2014/main" id="{BD6F6484-60C5-FDBE-166B-13D691BBF9D6}"/>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3218F12-897E-436D-F537-2227FDB0DE50}"/>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794570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3AEE96-AE37-35B3-8702-52D7AED9D1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1A7F918F-71A0-9D43-625D-BE7BB78CDD13}"/>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4" name="Footer Placeholder 3">
            <a:extLst>
              <a:ext uri="{FF2B5EF4-FFF2-40B4-BE49-F238E27FC236}">
                <a16:creationId xmlns:a16="http://schemas.microsoft.com/office/drawing/2014/main" id="{264A6E24-87D9-9D7D-E926-BEC0A4F753E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7951F19-586F-AFD1-281B-1A9982950B75}"/>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5123978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B68EFED-221F-74A5-02F5-D49FD4D089CD}"/>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3" name="Footer Placeholder 2">
            <a:extLst>
              <a:ext uri="{FF2B5EF4-FFF2-40B4-BE49-F238E27FC236}">
                <a16:creationId xmlns:a16="http://schemas.microsoft.com/office/drawing/2014/main" id="{7EF820DE-3F72-6CFF-D150-FE346D0DF67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4E89B2-D114-E7BB-B9AE-30FDBD4E3AAA}"/>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2122655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67CF77-585E-E576-56C1-7B5A805E54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2F5EB6-D6A4-F245-A7F1-F6425BEF6DD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47E7042-22C3-623A-DA4D-210EA1F306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E391C74-F790-C15E-8199-92E9BCF2035C}"/>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6" name="Footer Placeholder 5">
            <a:extLst>
              <a:ext uri="{FF2B5EF4-FFF2-40B4-BE49-F238E27FC236}">
                <a16:creationId xmlns:a16="http://schemas.microsoft.com/office/drawing/2014/main" id="{37F09AAB-1604-F1E7-FA8B-477D4D4318C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22A3ADE-BEFC-1853-663F-FC61FC1EE134}"/>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11420867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A4206C-DCBE-DEDC-3303-EDB21DBC4CE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886ABB2-C337-66A7-0DF4-61A5FA97067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4033A46-3806-1DA7-9978-10CB83999A7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DCD5FC4-FDB3-C2C0-F738-6E98B628E410}"/>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6" name="Footer Placeholder 5">
            <a:extLst>
              <a:ext uri="{FF2B5EF4-FFF2-40B4-BE49-F238E27FC236}">
                <a16:creationId xmlns:a16="http://schemas.microsoft.com/office/drawing/2014/main" id="{7B166307-FD70-81D6-76DA-EA347B05E7D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CF8B62F-C943-4138-73EA-075AF0D2771F}"/>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6012731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2CD44-0F64-E5BE-D4B0-AEDB1B154A9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8BC322C-23AA-16F5-8A81-0B6DF3E4894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069DEB4-0D5E-0DD6-D65E-2ED2FC448421}"/>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C480B9C5-1075-5C91-FAD9-0E2E223119B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F6F731-B845-E77D-815A-3F3F562D5288}"/>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4053138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3DEDB4-AA11-8F46-A289-B385D4C1193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C92997B-A6C3-8178-E106-68EA5DD870D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477E28C-A5BD-45AE-9BFF-DA508D27BDF5}"/>
              </a:ext>
            </a:extLst>
          </p:cNvPr>
          <p:cNvSpPr>
            <a:spLocks noGrp="1"/>
          </p:cNvSpPr>
          <p:nvPr>
            <p:ph type="dt" sz="half" idx="10"/>
          </p:nvPr>
        </p:nvSpPr>
        <p:spPr/>
        <p:txBody>
          <a:body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FA4CD7F1-BEF5-2B5F-C5CC-B13DA2ED4F0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1C0E239-F2C8-9B7A-93B8-69CD94004589}"/>
              </a:ext>
            </a:extLst>
          </p:cNvPr>
          <p:cNvSpPr>
            <a:spLocks noGrp="1"/>
          </p:cNvSpPr>
          <p:nvPr>
            <p:ph type="sldNum" sz="quarter" idx="12"/>
          </p:nvPr>
        </p:nvSpPr>
        <p:spPr>
          <a:xfrm>
            <a:off x="8610600" y="6356350"/>
            <a:ext cx="2743200" cy="365125"/>
          </a:xfrm>
          <a:prstGeom prst="rect">
            <a:avLst/>
          </a:prstGeom>
        </p:spPr>
        <p:txBody>
          <a:bodyPr/>
          <a:lstStyle/>
          <a:p>
            <a:fld id="{B0001B83-B8B1-47B2-A936-2A704A202F31}" type="slidenum">
              <a:rPr lang="en-IN" smtClean="0"/>
              <a:t>‹#›</a:t>
            </a:fld>
            <a:endParaRPr lang="en-IN"/>
          </a:p>
        </p:txBody>
      </p:sp>
    </p:spTree>
    <p:extLst>
      <p:ext uri="{BB962C8B-B14F-4D97-AF65-F5344CB8AC3E}">
        <p14:creationId xmlns:p14="http://schemas.microsoft.com/office/powerpoint/2010/main" val="26437850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8DBDB63-83CD-F7FE-FF1F-214635758B1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47A0CD4-3375-15DB-3D44-7FA417637F9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D09D36B-CC60-E291-E8EB-550F73A1DB8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0F728EAC-A07D-48BD-BD6D-591DC842D8E2}" type="datetimeFigureOut">
              <a:rPr lang="en-IN" smtClean="0"/>
              <a:t>04-08-2026</a:t>
            </a:fld>
            <a:endParaRPr lang="en-IN"/>
          </a:p>
        </p:txBody>
      </p:sp>
      <p:sp>
        <p:nvSpPr>
          <p:cNvPr id="5" name="Footer Placeholder 4">
            <a:extLst>
              <a:ext uri="{FF2B5EF4-FFF2-40B4-BE49-F238E27FC236}">
                <a16:creationId xmlns:a16="http://schemas.microsoft.com/office/drawing/2014/main" id="{806E9551-FC65-2E4B-26A6-D4EF379BAA4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pic>
        <p:nvPicPr>
          <p:cNvPr id="8" name="Picture 7" descr="image.png">
            <a:extLst>
              <a:ext uri="{FF2B5EF4-FFF2-40B4-BE49-F238E27FC236}">
                <a16:creationId xmlns:a16="http://schemas.microsoft.com/office/drawing/2014/main" id="{F28FA7CA-F909-9C3B-F75F-EECC700DD569}"/>
              </a:ext>
            </a:extLst>
          </p:cNvPr>
          <p:cNvPicPr>
            <a:picLocks noChangeAspect="1"/>
          </p:cNvPicPr>
          <p:nvPr userDrawn="1"/>
        </p:nvPicPr>
        <p:blipFill>
          <a:blip r:embed="rId13"/>
          <a:stretch>
            <a:fillRect/>
          </a:stretch>
        </p:blipFill>
        <p:spPr>
          <a:xfrm>
            <a:off x="-68826" y="0"/>
            <a:ext cx="12260826" cy="7385446"/>
          </a:xfrm>
          <a:prstGeom prst="rect">
            <a:avLst/>
          </a:prstGeom>
        </p:spPr>
      </p:pic>
    </p:spTree>
    <p:extLst>
      <p:ext uri="{BB962C8B-B14F-4D97-AF65-F5344CB8AC3E}">
        <p14:creationId xmlns:p14="http://schemas.microsoft.com/office/powerpoint/2010/main" val="28505387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CC38D2-C946-BDF6-C997-A4141A4FB48A}"/>
              </a:ext>
            </a:extLst>
          </p:cNvPr>
          <p:cNvSpPr>
            <a:spLocks noGrp="1"/>
          </p:cNvSpPr>
          <p:nvPr>
            <p:ph type="title"/>
          </p:nvPr>
        </p:nvSpPr>
        <p:spPr>
          <a:xfrm>
            <a:off x="162046" y="520861"/>
            <a:ext cx="11423247" cy="3020991"/>
          </a:xfrm>
        </p:spPr>
        <p:txBody>
          <a:bodyPr>
            <a:normAutofit/>
          </a:bodyPr>
          <a:lstStyle/>
          <a:p>
            <a:pPr algn="ctr"/>
            <a:r>
              <a:rPr lang="en-IN" sz="3600" dirty="0"/>
              <a:t>Dynamic Urgency Framework: Maximizing                                             Conversion Without Compromising Trust</a:t>
            </a:r>
          </a:p>
        </p:txBody>
      </p:sp>
      <p:sp>
        <p:nvSpPr>
          <p:cNvPr id="3" name="Content Placeholder 2">
            <a:extLst>
              <a:ext uri="{FF2B5EF4-FFF2-40B4-BE49-F238E27FC236}">
                <a16:creationId xmlns:a16="http://schemas.microsoft.com/office/drawing/2014/main" id="{3DBC9031-B252-2257-39F2-5668C2BD1DFF}"/>
              </a:ext>
            </a:extLst>
          </p:cNvPr>
          <p:cNvSpPr>
            <a:spLocks noGrp="1"/>
          </p:cNvSpPr>
          <p:nvPr>
            <p:ph idx="1"/>
          </p:nvPr>
        </p:nvSpPr>
        <p:spPr>
          <a:xfrm>
            <a:off x="838200" y="2815542"/>
            <a:ext cx="10515600" cy="613458"/>
          </a:xfrm>
        </p:spPr>
        <p:txBody>
          <a:bodyPr>
            <a:normAutofit fontScale="85000" lnSpcReduction="10000"/>
          </a:bodyPr>
          <a:lstStyle/>
          <a:p>
            <a:pPr marL="0" indent="0">
              <a:buNone/>
            </a:pPr>
            <a:r>
              <a:rPr lang="en-IN" dirty="0"/>
              <a:t>An Advanced Behavioural &amp; Pricing Analysis across 5 Key Markets (Q4 2016)</a:t>
            </a:r>
          </a:p>
        </p:txBody>
      </p:sp>
    </p:spTree>
    <p:extLst>
      <p:ext uri="{BB962C8B-B14F-4D97-AF65-F5344CB8AC3E}">
        <p14:creationId xmlns:p14="http://schemas.microsoft.com/office/powerpoint/2010/main" val="18382121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3126612E-03DF-90FE-753E-1F81ED08AB1C}"/>
              </a:ext>
            </a:extLst>
          </p:cNvPr>
          <p:cNvSpPr txBox="1"/>
          <p:nvPr/>
        </p:nvSpPr>
        <p:spPr>
          <a:xfrm>
            <a:off x="237203" y="248264"/>
            <a:ext cx="10165326" cy="415755"/>
          </a:xfrm>
          <a:prstGeom prst="rect">
            <a:avLst/>
          </a:prstGeom>
          <a:noFill/>
        </p:spPr>
        <p:txBody>
          <a:bodyPr wrap="square" lIns="0" tIns="0" rIns="0" bIns="0" anchor="t">
            <a:spAutoFit/>
          </a:bodyPr>
          <a:lstStyle/>
          <a:p>
            <a:pPr algn="l">
              <a:lnSpc>
                <a:spcPts val="3420"/>
              </a:lnSpc>
            </a:pPr>
            <a:r>
              <a:rPr lang="en-IN" sz="2400" b="1" i="0" u="none" dirty="0">
                <a:solidFill>
                  <a:srgbClr val="0F172A"/>
                </a:solidFill>
                <a:latin typeface="+mj-lt"/>
              </a:rPr>
              <a:t>                                       </a:t>
            </a:r>
            <a:r>
              <a:rPr sz="2400" b="1" i="0" u="none" dirty="0">
                <a:solidFill>
                  <a:srgbClr val="0F172A"/>
                </a:solidFill>
                <a:latin typeface="+mj-lt"/>
              </a:rPr>
              <a:t>Executive</a:t>
            </a:r>
            <a:r>
              <a:rPr lang="en-IN" sz="2400" b="1" i="0" u="none" dirty="0">
                <a:solidFill>
                  <a:srgbClr val="0F172A"/>
                </a:solidFill>
                <a:latin typeface="+mj-lt"/>
              </a:rPr>
              <a:t> Summary</a:t>
            </a:r>
            <a:r>
              <a:rPr sz="2400" b="1" i="0" u="none" dirty="0">
                <a:solidFill>
                  <a:srgbClr val="0F172A"/>
                </a:solidFill>
                <a:latin typeface="+mj-lt"/>
              </a:rPr>
              <a:t>: Urgency &amp; Market Analytics</a:t>
            </a:r>
          </a:p>
        </p:txBody>
      </p:sp>
      <p:sp>
        <p:nvSpPr>
          <p:cNvPr id="6" name="Rectangle 5">
            <a:extLst>
              <a:ext uri="{FF2B5EF4-FFF2-40B4-BE49-F238E27FC236}">
                <a16:creationId xmlns:a16="http://schemas.microsoft.com/office/drawing/2014/main" id="{7E702C78-7A67-34B1-27D2-49D1472D76E0}"/>
              </a:ext>
            </a:extLst>
          </p:cNvPr>
          <p:cNvSpPr/>
          <p:nvPr/>
        </p:nvSpPr>
        <p:spPr>
          <a:xfrm>
            <a:off x="237203" y="754966"/>
            <a:ext cx="11512345" cy="865004"/>
          </a:xfrm>
          <a:prstGeom prst="rect">
            <a:avLst/>
          </a:prstGeom>
          <a:solidFill>
            <a:schemeClr val="bg1">
              <a:alpha val="23137"/>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100" dirty="0">
                <a:solidFill>
                  <a:schemeClr val="tx1"/>
                </a:solidFill>
              </a:rPr>
              <a:t>To maximize booking conversions without eroding customer trust, Agoda must move beyond Static Urgency (blanket countdown timers and generic "Prices rising!" badges). Static messaging causes consumer fatigue, skepticism, and cart abandonment when prices do not align with reality.</a:t>
            </a:r>
          </a:p>
          <a:p>
            <a:r>
              <a:rPr lang="en-US" sz="1100" dirty="0">
                <a:solidFill>
                  <a:schemeClr val="tx1"/>
                </a:solidFill>
              </a:rPr>
              <a:t>By conducting an exhaustive Exploratory Data Analysis (EDA) on 49,064 bookings across five diverse markets, we uncover distinct price-velocity curves and booking behavior horizons. Based on these empirical findings, we establish Three Umbrella Categories for our urgency messaging strategy. This framework empowers senior leadership to deploy targeted behavioral triggers precisely where they maximize conversion lift.</a:t>
            </a:r>
            <a:endParaRPr lang="en-IN" sz="1100" dirty="0">
              <a:solidFill>
                <a:schemeClr val="tx1"/>
              </a:solidFill>
            </a:endParaRPr>
          </a:p>
        </p:txBody>
      </p:sp>
    </p:spTree>
    <p:extLst>
      <p:ext uri="{BB962C8B-B14F-4D97-AF65-F5344CB8AC3E}">
        <p14:creationId xmlns:p14="http://schemas.microsoft.com/office/powerpoint/2010/main" val="39398908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83CA64-9319-956C-70CD-AD332A0D68AF}"/>
              </a:ext>
            </a:extLst>
          </p:cNvPr>
          <p:cNvSpPr>
            <a:spLocks noGrp="1"/>
          </p:cNvSpPr>
          <p:nvPr>
            <p:ph type="title"/>
          </p:nvPr>
        </p:nvSpPr>
        <p:spPr/>
        <p:txBody>
          <a:bodyPr/>
          <a:lstStyle/>
          <a:p>
            <a:endParaRPr lang="en-US"/>
          </a:p>
        </p:txBody>
      </p:sp>
      <p:sp>
        <p:nvSpPr>
          <p:cNvPr id="4" name="TextBox 3">
            <a:extLst>
              <a:ext uri="{FF2B5EF4-FFF2-40B4-BE49-F238E27FC236}">
                <a16:creationId xmlns:a16="http://schemas.microsoft.com/office/drawing/2014/main" id="{3F1B97CC-6920-C41C-F0F9-F03F4133DA42}"/>
              </a:ext>
            </a:extLst>
          </p:cNvPr>
          <p:cNvSpPr txBox="1"/>
          <p:nvPr/>
        </p:nvSpPr>
        <p:spPr>
          <a:xfrm>
            <a:off x="1265904" y="2458065"/>
            <a:ext cx="10336160" cy="258532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What's Inside This Analysis</a:t>
            </a:r>
          </a:p>
          <a:p>
            <a:pPr algn="l">
              <a:buFont typeface=""/>
              <a:buAutoNum type="arabicPeriod"/>
            </a:pPr>
            <a:r>
              <a:rPr lang="en-US" b="1" i="0">
                <a:latin typeface="-apple-system"/>
                <a:ea typeface="-apple-system"/>
                <a:cs typeface="-apple-system"/>
              </a:rPr>
              <a:t>Business Context</a:t>
            </a:r>
            <a:r>
              <a:rPr lang="en-US" b="0" i="0">
                <a:latin typeface="-apple-system"/>
                <a:ea typeface="-apple-system"/>
                <a:cs typeface="-apple-system"/>
              </a:rPr>
              <a:t> - The urgency messaging dilemma</a:t>
            </a:r>
          </a:p>
          <a:p>
            <a:pPr algn="l">
              <a:buFont typeface=""/>
              <a:buAutoNum type="arabicPeriod"/>
            </a:pPr>
            <a:r>
              <a:rPr lang="en-US" b="1" i="0">
                <a:latin typeface="-apple-system"/>
                <a:ea typeface="-apple-system"/>
                <a:cs typeface="-apple-system"/>
              </a:rPr>
              <a:t>Data Exploration</a:t>
            </a:r>
            <a:r>
              <a:rPr lang="en-US" b="0" i="0">
                <a:latin typeface="-apple-system"/>
                <a:ea typeface="-apple-system"/>
                <a:cs typeface="-apple-system"/>
              </a:rPr>
              <a:t> - Understanding our 49K booking dataset</a:t>
            </a:r>
          </a:p>
          <a:p>
            <a:pPr algn="l">
              <a:buFont typeface=""/>
              <a:buAutoNum type="arabicPeriod"/>
            </a:pPr>
            <a:r>
              <a:rPr lang="en-US" b="1" i="0">
                <a:latin typeface="-apple-system"/>
                <a:ea typeface="-apple-system"/>
                <a:cs typeface="-apple-system"/>
              </a:rPr>
              <a:t>Layer 1: Market Dynamics Framework</a:t>
            </a:r>
            <a:r>
              <a:rPr lang="en-US" b="0" i="0">
                <a:latin typeface="-apple-system"/>
                <a:ea typeface="-apple-system"/>
                <a:cs typeface="-apple-system"/>
              </a:rPr>
              <a:t> - Understanding the macro urgency environment</a:t>
            </a:r>
          </a:p>
          <a:p>
            <a:pPr algn="l">
              <a:buFont typeface=""/>
              <a:buAutoNum type="arabicPeriod"/>
            </a:pPr>
            <a:r>
              <a:rPr lang="en-US" b="1" i="0">
                <a:latin typeface="-apple-system"/>
                <a:ea typeface="-apple-system"/>
                <a:cs typeface="-apple-system"/>
              </a:rPr>
              <a:t>Layer 2: Customer Personas</a:t>
            </a:r>
            <a:r>
              <a:rPr lang="en-US" b="0" i="0">
                <a:latin typeface="-apple-system"/>
                <a:ea typeface="-apple-system"/>
                <a:cs typeface="-apple-system"/>
              </a:rPr>
              <a:t> - Behavioral clustering insights</a:t>
            </a:r>
          </a:p>
          <a:p>
            <a:pPr algn="l">
              <a:buFont typeface=""/>
              <a:buAutoNum type="arabicPeriod"/>
            </a:pPr>
            <a:r>
              <a:rPr lang="en-US" b="1" i="0">
                <a:latin typeface="-apple-system"/>
                <a:ea typeface="-apple-system"/>
                <a:cs typeface="-apple-system"/>
              </a:rPr>
              <a:t>The Synthesis</a:t>
            </a:r>
            <a:r>
              <a:rPr lang="en-US" b="0" i="0">
                <a:latin typeface="-apple-system"/>
                <a:ea typeface="-apple-system"/>
                <a:cs typeface="-apple-system"/>
              </a:rPr>
              <a:t> - How the layers work together</a:t>
            </a:r>
          </a:p>
          <a:p>
            <a:pPr algn="l">
              <a:buFont typeface=""/>
              <a:buAutoNum type="arabicPeriod"/>
            </a:pPr>
            <a:r>
              <a:rPr lang="en-US" b="1" i="0">
                <a:latin typeface="-apple-system"/>
                <a:ea typeface="-apple-system"/>
                <a:cs typeface="-apple-system"/>
              </a:rPr>
              <a:t>Implementation</a:t>
            </a:r>
            <a:r>
              <a:rPr lang="en-US" b="0" i="0">
                <a:latin typeface="-apple-system"/>
                <a:ea typeface="-apple-system"/>
                <a:cs typeface="-apple-system"/>
              </a:rPr>
              <a:t> - Practical deployment guide</a:t>
            </a:r>
          </a:p>
          <a:p>
            <a:pPr algn="l">
              <a:buFont typeface=""/>
              <a:buAutoNum type="arabicPeriod"/>
            </a:pPr>
            <a:r>
              <a:rPr lang="en-US" b="1" i="0">
                <a:latin typeface="-apple-system"/>
                <a:ea typeface="-apple-system"/>
                <a:cs typeface="-apple-system"/>
              </a:rPr>
              <a:t>ROI &amp; Next Steps</a:t>
            </a:r>
            <a:r>
              <a:rPr lang="en-US" b="0" i="0">
                <a:latin typeface="-apple-system"/>
                <a:ea typeface="-apple-system"/>
                <a:cs typeface="-apple-system"/>
              </a:rPr>
              <a:t> - Business case and timeline</a:t>
            </a:r>
          </a:p>
          <a:p>
            <a:pPr algn="ctr"/>
            <a:endParaRPr lang="en-US"/>
          </a:p>
        </p:txBody>
      </p:sp>
    </p:spTree>
    <p:extLst>
      <p:ext uri="{BB962C8B-B14F-4D97-AF65-F5344CB8AC3E}">
        <p14:creationId xmlns:p14="http://schemas.microsoft.com/office/powerpoint/2010/main" val="21682621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712C01-215D-6611-D0D9-288D83B20493}"/>
              </a:ext>
            </a:extLst>
          </p:cNvPr>
          <p:cNvSpPr>
            <a:spLocks noGrp="1"/>
          </p:cNvSpPr>
          <p:nvPr>
            <p:ph type="title"/>
          </p:nvPr>
        </p:nvSpPr>
        <p:spPr/>
        <p:txBody>
          <a:bodyPr/>
          <a:lstStyle/>
          <a:p>
            <a:r>
              <a:rPr lang="en-US" b="1">
                <a:highlight>
                  <a:srgbClr val="FFFFFF"/>
                </a:highlight>
              </a:rPr>
              <a:t>CHAPTER 1: The Business Context</a:t>
            </a:r>
            <a:endParaRPr lang="en-US"/>
          </a:p>
          <a:p>
            <a:r>
              <a:rPr lang="en-US" b="1">
                <a:highlight>
                  <a:srgbClr val="FFFFFF"/>
                </a:highlight>
              </a:rPr>
              <a:t>Why Urgency Messaging? Why Now?</a:t>
            </a:r>
            <a:endParaRPr lang="en-US"/>
          </a:p>
          <a:p>
            <a:endParaRPr lang="en-US" dirty="0"/>
          </a:p>
        </p:txBody>
      </p:sp>
      <p:sp>
        <p:nvSpPr>
          <p:cNvPr id="3" name="Content Placeholder 2">
            <a:extLst>
              <a:ext uri="{FF2B5EF4-FFF2-40B4-BE49-F238E27FC236}">
                <a16:creationId xmlns:a16="http://schemas.microsoft.com/office/drawing/2014/main" id="{C813194C-5D59-9567-5B96-64D407FF5789}"/>
              </a:ext>
            </a:extLst>
          </p:cNvPr>
          <p:cNvSpPr>
            <a:spLocks noGrp="1"/>
          </p:cNvSpPr>
          <p:nvPr>
            <p:ph idx="1"/>
          </p:nvPr>
        </p:nvSpPr>
        <p:spPr/>
        <p:txBody>
          <a:bodyPr vert="horz" lIns="91440" tIns="45720" rIns="91440" bIns="45720" rtlCol="0" anchor="t">
            <a:normAutofit fontScale="85000" lnSpcReduction="20000"/>
          </a:bodyPr>
          <a:lstStyle/>
          <a:p>
            <a:r>
              <a:rPr lang="en-US" b="1">
                <a:highlight>
                  <a:srgbClr val="FFFFFF"/>
                </a:highlight>
              </a:rPr>
              <a:t>The Opportunity</a:t>
            </a:r>
            <a:endParaRPr lang="en-US"/>
          </a:p>
          <a:p>
            <a:r>
              <a:rPr lang="en-US" sz="1200" b="1">
                <a:highlight>
                  <a:srgbClr val="FFFFFF"/>
                </a:highlight>
                <a:ea typeface="+mn-lt"/>
                <a:cs typeface="+mn-lt"/>
              </a:rPr>
              <a:t>Urgency messaging</a:t>
            </a:r>
            <a:r>
              <a:rPr lang="en-US" sz="1200">
                <a:highlight>
                  <a:srgbClr val="FFFFFF"/>
                </a:highlight>
                <a:ea typeface="+mn-lt"/>
                <a:cs typeface="+mn-lt"/>
              </a:rPr>
              <a:t> - warnings about price increases, scarcity alerts, social proof - is a proven conversion driver in e-commerce.</a:t>
            </a:r>
            <a:endParaRPr lang="en-US"/>
          </a:p>
          <a:p>
            <a:r>
              <a:rPr lang="en-US" sz="1200" b="1">
                <a:highlight>
                  <a:srgbClr val="FFFFFF"/>
                </a:highlight>
                <a:ea typeface="+mn-lt"/>
                <a:cs typeface="+mn-lt"/>
              </a:rPr>
              <a:t>Examples:</a:t>
            </a:r>
            <a:endParaRPr lang="en-US"/>
          </a:p>
          <a:p>
            <a:r>
              <a:rPr lang="en-US" sz="1200">
                <a:highlight>
                  <a:srgbClr val="FFFFFF"/>
                </a:highlight>
                <a:ea typeface="+mn-lt"/>
                <a:cs typeface="+mn-lt"/>
              </a:rPr>
              <a:t>"⚡ Price increased $45 in the last 3 hours!"</a:t>
            </a:r>
            <a:endParaRPr lang="en-US"/>
          </a:p>
          <a:p>
            <a:r>
              <a:rPr lang="en-US" sz="1200">
                <a:highlight>
                  <a:srgbClr val="FFFFFF"/>
                </a:highlight>
                <a:ea typeface="+mn-lt"/>
                <a:cs typeface="+mn-lt"/>
              </a:rPr>
              <a:t>"🔴 Only 2 rooms left at this price"</a:t>
            </a:r>
            <a:endParaRPr lang="en-US"/>
          </a:p>
          <a:p>
            <a:r>
              <a:rPr lang="en-US" sz="1200">
                <a:highlight>
                  <a:srgbClr val="FFFFFF"/>
                </a:highlight>
                <a:ea typeface="+mn-lt"/>
                <a:cs typeface="+mn-lt"/>
              </a:rPr>
              <a:t>"👥 23 people viewing this property right now"</a:t>
            </a:r>
            <a:endParaRPr lang="en-US"/>
          </a:p>
          <a:p>
            <a:r>
              <a:rPr lang="en-US" sz="1200" b="1">
                <a:highlight>
                  <a:srgbClr val="FFFFFF"/>
                </a:highlight>
                <a:ea typeface="+mn-lt"/>
                <a:cs typeface="+mn-lt"/>
              </a:rPr>
              <a:t>The Promise:</a:t>
            </a:r>
            <a:r>
              <a:rPr lang="en-US" sz="1200">
                <a:highlight>
                  <a:srgbClr val="FFFFFF"/>
                </a:highlight>
                <a:ea typeface="+mn-lt"/>
                <a:cs typeface="+mn-lt"/>
              </a:rPr>
              <a:t> Drive bookings by creating fear of missing out (FOMO)</a:t>
            </a:r>
            <a:endParaRPr lang="en-US"/>
          </a:p>
          <a:p>
            <a:r>
              <a:rPr lang="en-US" b="1">
                <a:highlight>
                  <a:srgbClr val="FFFFFF"/>
                </a:highlight>
              </a:rPr>
              <a:t>The Risk</a:t>
            </a:r>
            <a:endParaRPr lang="en-US" dirty="0"/>
          </a:p>
          <a:p>
            <a:r>
              <a:rPr lang="en-US" sz="1200" b="1">
                <a:highlight>
                  <a:srgbClr val="FFFFFF"/>
                </a:highlight>
                <a:ea typeface="+mn-lt"/>
                <a:cs typeface="+mn-lt"/>
              </a:rPr>
              <a:t>BUT</a:t>
            </a:r>
            <a:r>
              <a:rPr lang="en-US" sz="1200">
                <a:highlight>
                  <a:srgbClr val="FFFFFF"/>
                </a:highlight>
                <a:ea typeface="+mn-lt"/>
                <a:cs typeface="+mn-lt"/>
              </a:rPr>
              <a:t> urgency messaging can backfire:</a:t>
            </a:r>
            <a:endParaRPr lang="en-US"/>
          </a:p>
          <a:p>
            <a:r>
              <a:rPr lang="en-US" sz="1200">
                <a:highlight>
                  <a:srgbClr val="FFFFFF"/>
                </a:highlight>
                <a:ea typeface="+mn-lt"/>
                <a:cs typeface="+mn-lt"/>
              </a:rPr>
              <a:t>❌ </a:t>
            </a:r>
            <a:r>
              <a:rPr lang="en-US" sz="1200" b="1">
                <a:highlight>
                  <a:srgbClr val="FFFFFF"/>
                </a:highlight>
                <a:ea typeface="+mn-lt"/>
                <a:cs typeface="+mn-lt"/>
              </a:rPr>
              <a:t>For price-sensitive customers in DECLINING markets:</a:t>
            </a:r>
            <a:endParaRPr lang="en-US"/>
          </a:p>
          <a:p>
            <a:r>
              <a:rPr lang="en-US" sz="1200">
                <a:highlight>
                  <a:srgbClr val="FFFFFF"/>
                </a:highlight>
                <a:ea typeface="+mn-lt"/>
                <a:cs typeface="+mn-lt"/>
              </a:rPr>
              <a:t>Seeing "price increased" when they know prices are falling → erodes trust</a:t>
            </a:r>
            <a:endParaRPr lang="en-US"/>
          </a:p>
          <a:p>
            <a:r>
              <a:rPr lang="en-US" sz="1200">
                <a:highlight>
                  <a:srgbClr val="FFFFFF"/>
                </a:highlight>
                <a:ea typeface="+mn-lt"/>
                <a:cs typeface="+mn-lt"/>
              </a:rPr>
              <a:t>Better to wait rather than book now</a:t>
            </a:r>
            <a:endParaRPr lang="en-US"/>
          </a:p>
          <a:p>
            <a:r>
              <a:rPr lang="en-US" sz="1200">
                <a:highlight>
                  <a:srgbClr val="FFFFFF"/>
                </a:highlight>
                <a:ea typeface="+mn-lt"/>
                <a:cs typeface="+mn-lt"/>
              </a:rPr>
              <a:t>❌ </a:t>
            </a:r>
            <a:r>
              <a:rPr lang="en-US" sz="1200" b="1">
                <a:highlight>
                  <a:srgbClr val="FFFFFF"/>
                </a:highlight>
                <a:ea typeface="+mn-lt"/>
                <a:cs typeface="+mn-lt"/>
              </a:rPr>
              <a:t>For advance planners:</a:t>
            </a:r>
            <a:endParaRPr lang="en-US"/>
          </a:p>
          <a:p>
            <a:r>
              <a:rPr lang="en-US" sz="1200">
                <a:highlight>
                  <a:srgbClr val="FFFFFF"/>
                </a:highlight>
                <a:ea typeface="+mn-lt"/>
                <a:cs typeface="+mn-lt"/>
              </a:rPr>
              <a:t>Urgency creates anxiety, not action</a:t>
            </a:r>
            <a:endParaRPr lang="en-US"/>
          </a:p>
          <a:p>
            <a:r>
              <a:rPr lang="en-US" sz="1200">
                <a:highlight>
                  <a:srgbClr val="FFFFFF"/>
                </a:highlight>
                <a:ea typeface="+mn-lt"/>
                <a:cs typeface="+mn-lt"/>
              </a:rPr>
              <a:t>They booked early to AVOID urgency</a:t>
            </a:r>
            <a:endParaRPr lang="en-US"/>
          </a:p>
          <a:p>
            <a:r>
              <a:rPr lang="en-US" sz="1200">
                <a:highlight>
                  <a:srgbClr val="FFFFFF"/>
                </a:highlight>
                <a:ea typeface="+mn-lt"/>
                <a:cs typeface="+mn-lt"/>
              </a:rPr>
              <a:t>❌ </a:t>
            </a:r>
            <a:r>
              <a:rPr lang="en-US" sz="1200" b="1">
                <a:highlight>
                  <a:srgbClr val="FFFFFF"/>
                </a:highlight>
                <a:ea typeface="+mn-lt"/>
                <a:cs typeface="+mn-lt"/>
              </a:rPr>
              <a:t>Generic urgency fatigue:</a:t>
            </a:r>
            <a:endParaRPr lang="en-US"/>
          </a:p>
          <a:p>
            <a:r>
              <a:rPr lang="en-US" sz="1200">
                <a:highlight>
                  <a:srgbClr val="FFFFFF"/>
                </a:highlight>
                <a:ea typeface="+mn-lt"/>
                <a:cs typeface="+mn-lt"/>
              </a:rPr>
              <a:t>"Only 2 rooms left" on every property → loses credibility</a:t>
            </a:r>
            <a:endParaRPr lang="en-US"/>
          </a:p>
          <a:p>
            <a:endParaRPr lang="en-US" dirty="0"/>
          </a:p>
        </p:txBody>
      </p:sp>
    </p:spTree>
    <p:extLst>
      <p:ext uri="{BB962C8B-B14F-4D97-AF65-F5344CB8AC3E}">
        <p14:creationId xmlns:p14="http://schemas.microsoft.com/office/powerpoint/2010/main" val="801531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2D591B-9D6C-F1F7-D6F4-AFC19017BCA4}"/>
              </a:ext>
            </a:extLst>
          </p:cNvPr>
          <p:cNvSpPr>
            <a:spLocks noGrp="1"/>
          </p:cNvSpPr>
          <p:nvPr>
            <p:ph type="title"/>
          </p:nvPr>
        </p:nvSpPr>
        <p:spPr/>
        <p:txBody>
          <a:bodyPr/>
          <a:lstStyle/>
          <a:p>
            <a:r>
              <a:rPr lang="en-US" sz="1800" b="1" dirty="0">
                <a:ea typeface="+mj-lt"/>
                <a:cs typeface="+mj-lt"/>
              </a:rPr>
              <a:t>                                                                             </a:t>
            </a:r>
            <a:r>
              <a:rPr lang="en-US" sz="3600" b="1">
                <a:ea typeface="+mj-lt"/>
                <a:cs typeface="+mj-lt"/>
              </a:rPr>
              <a:t>   The Question???</a:t>
            </a:r>
          </a:p>
          <a:p>
            <a:endParaRPr lang="en-US" dirty="0"/>
          </a:p>
        </p:txBody>
      </p:sp>
      <p:sp>
        <p:nvSpPr>
          <p:cNvPr id="4" name="TextBox 3">
            <a:extLst>
              <a:ext uri="{FF2B5EF4-FFF2-40B4-BE49-F238E27FC236}">
                <a16:creationId xmlns:a16="http://schemas.microsoft.com/office/drawing/2014/main" id="{CE461B2D-2276-D3F5-1559-25BB2C1A2ADF}"/>
              </a:ext>
            </a:extLst>
          </p:cNvPr>
          <p:cNvSpPr txBox="1"/>
          <p:nvPr/>
        </p:nvSpPr>
        <p:spPr>
          <a:xfrm>
            <a:off x="1536291" y="1708355"/>
            <a:ext cx="9992031"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We need to know:</a:t>
            </a:r>
            <a:endParaRPr lang="en-US"/>
          </a:p>
          <a:p>
            <a:pPr algn="l">
              <a:buFont typeface=""/>
              <a:buAutoNum type="arabicPeriod"/>
            </a:pPr>
            <a:r>
              <a:rPr lang="en-US" b="1" i="0">
                <a:latin typeface="-apple-system"/>
                <a:ea typeface="-apple-system"/>
                <a:cs typeface="-apple-system"/>
              </a:rPr>
              <a:t>WHICH MARKETS</a:t>
            </a:r>
            <a:r>
              <a:rPr lang="en-US" b="0" i="0">
                <a:latin typeface="-apple-system"/>
                <a:ea typeface="-apple-system"/>
                <a:cs typeface="-apple-system"/>
              </a:rPr>
              <a:t> should use urgency messaging?</a:t>
            </a:r>
          </a:p>
          <a:p>
            <a:pPr algn="l">
              <a:buFont typeface=""/>
              <a:buAutoNum type="arabicPeriod"/>
            </a:pPr>
            <a:r>
              <a:rPr lang="en-US" b="1" i="0">
                <a:latin typeface="-apple-system"/>
                <a:ea typeface="-apple-system"/>
                <a:cs typeface="-apple-system"/>
              </a:rPr>
              <a:t>WHICH CUSTOMERS</a:t>
            </a:r>
            <a:r>
              <a:rPr lang="en-US" b="0" i="0">
                <a:latin typeface="-apple-system"/>
                <a:ea typeface="-apple-system"/>
                <a:cs typeface="-apple-system"/>
              </a:rPr>
              <a:t> will respond positively?</a:t>
            </a:r>
          </a:p>
          <a:p>
            <a:pPr algn="l">
              <a:buFont typeface=""/>
              <a:buAutoNum type="arabicPeriod"/>
            </a:pPr>
            <a:r>
              <a:rPr lang="en-US" b="1" i="0">
                <a:latin typeface="-apple-system"/>
                <a:ea typeface="-apple-system"/>
                <a:cs typeface="-apple-system"/>
              </a:rPr>
              <a:t>WHAT TYPE</a:t>
            </a:r>
            <a:r>
              <a:rPr lang="en-US" b="0" i="0">
                <a:latin typeface="-apple-system"/>
                <a:ea typeface="-apple-system"/>
                <a:cs typeface="-apple-system"/>
              </a:rPr>
              <a:t> of urgency message for each segment?</a:t>
            </a:r>
          </a:p>
          <a:p>
            <a:pPr algn="l">
              <a:buFont typeface=""/>
              <a:buAutoNum type="arabicPeriod"/>
            </a:pPr>
            <a:r>
              <a:rPr lang="en-US" b="1" i="0">
                <a:latin typeface="-apple-system"/>
                <a:ea typeface="-apple-system"/>
                <a:cs typeface="-apple-system"/>
              </a:rPr>
              <a:t>WHEN</a:t>
            </a:r>
            <a:r>
              <a:rPr lang="en-US" b="0" i="0">
                <a:latin typeface="-apple-system"/>
                <a:ea typeface="-apple-system"/>
                <a:cs typeface="-apple-system"/>
              </a:rPr>
              <a:t> to show it (timing in booking journey)?</a:t>
            </a:r>
          </a:p>
          <a:p>
            <a:pPr>
              <a:buAutoNum type="arabicPeriod"/>
            </a:pPr>
            <a:r>
              <a:rPr lang="en-US" dirty="0">
                <a:latin typeface="-apple-system"/>
                <a:ea typeface="-apple-system"/>
                <a:cs typeface="-apple-system"/>
              </a:rPr>
              <a:t>Where</a:t>
            </a:r>
            <a:r>
              <a:rPr lang="en-US">
                <a:latin typeface="-apple-system"/>
                <a:ea typeface="-apple-system"/>
                <a:cs typeface="-apple-system"/>
              </a:rPr>
              <a:t> to show in the funnel</a:t>
            </a:r>
            <a:endParaRPr lang="en-US" dirty="0">
              <a:latin typeface="-apple-system"/>
              <a:ea typeface="-apple-system"/>
              <a:cs typeface="-apple-system"/>
            </a:endParaRPr>
          </a:p>
          <a:p>
            <a:pPr algn="l"/>
            <a:r>
              <a:rPr lang="en-US" b="1" i="0">
                <a:latin typeface="-apple-system"/>
                <a:ea typeface="-apple-system"/>
                <a:cs typeface="-apple-system"/>
              </a:rPr>
              <a:t>This analysis answers all questions.</a:t>
            </a:r>
          </a:p>
          <a:p>
            <a:pPr algn="ctr"/>
            <a:endParaRPr lang="en-US"/>
          </a:p>
        </p:txBody>
      </p:sp>
    </p:spTree>
    <p:extLst>
      <p:ext uri="{BB962C8B-B14F-4D97-AF65-F5344CB8AC3E}">
        <p14:creationId xmlns:p14="http://schemas.microsoft.com/office/powerpoint/2010/main" val="28313834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A8D19D-5816-59F5-B1B2-84AAC72D1DF2}"/>
              </a:ext>
            </a:extLst>
          </p:cNvPr>
          <p:cNvSpPr>
            <a:spLocks noGrp="1"/>
          </p:cNvSpPr>
          <p:nvPr>
            <p:ph type="title"/>
          </p:nvPr>
        </p:nvSpPr>
        <p:spPr/>
        <p:txBody>
          <a:bodyPr/>
          <a:lstStyle/>
          <a:p>
            <a:r>
              <a:rPr lang="en-US" sz="2800" b="1" dirty="0">
                <a:ea typeface="+mj-lt"/>
                <a:cs typeface="+mj-lt"/>
              </a:rPr>
              <a:t>                                                 </a:t>
            </a:r>
            <a:r>
              <a:rPr lang="en-US" b="1">
                <a:ea typeface="+mj-lt"/>
                <a:cs typeface="+mj-lt"/>
              </a:rPr>
              <a:t>The Approach</a:t>
            </a:r>
            <a:endParaRPr lang="en-US">
              <a:ea typeface="+mj-lt"/>
              <a:cs typeface="+mj-lt"/>
            </a:endParaRPr>
          </a:p>
          <a:p>
            <a:endParaRPr lang="en-US" dirty="0"/>
          </a:p>
        </p:txBody>
      </p:sp>
      <p:sp>
        <p:nvSpPr>
          <p:cNvPr id="4" name="TextBox 3">
            <a:extLst>
              <a:ext uri="{FF2B5EF4-FFF2-40B4-BE49-F238E27FC236}">
                <a16:creationId xmlns:a16="http://schemas.microsoft.com/office/drawing/2014/main" id="{B5F16B23-1EC5-8557-CE72-D1608DDAF837}"/>
              </a:ext>
            </a:extLst>
          </p:cNvPr>
          <p:cNvSpPr txBox="1"/>
          <p:nvPr/>
        </p:nvSpPr>
        <p:spPr>
          <a:xfrm>
            <a:off x="842212" y="1704475"/>
            <a:ext cx="9986209"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ple-system"/>
                <a:ea typeface="-apple-system"/>
                <a:cs typeface="-apple-system"/>
              </a:rPr>
              <a:t>                                 </a:t>
            </a:r>
            <a:r>
              <a:rPr lang="en-US" b="1" i="0">
                <a:latin typeface="-apple-system"/>
                <a:ea typeface="-apple-system"/>
                <a:cs typeface="-apple-system"/>
              </a:rPr>
              <a:t>Data-Driven Discovery:</a:t>
            </a:r>
            <a:endParaRPr lang="en-US"/>
          </a:p>
          <a:p>
            <a:pPr algn="l">
              <a:buFont typeface=""/>
              <a:buChar char="•"/>
            </a:pPr>
            <a:r>
              <a:rPr lang="en-US" b="0" i="0">
                <a:latin typeface="-apple-system"/>
                <a:ea typeface="-apple-system"/>
                <a:cs typeface="-apple-system"/>
              </a:rPr>
              <a:t>Analyze 49,064 actual bookings across 5 cities</a:t>
            </a:r>
          </a:p>
          <a:p>
            <a:pPr algn="l">
              <a:buFont typeface=""/>
              <a:buChar char="•"/>
            </a:pPr>
            <a:r>
              <a:rPr lang="en-US" b="0" i="0">
                <a:latin typeface="-apple-system"/>
                <a:ea typeface="-apple-system"/>
                <a:cs typeface="-apple-system"/>
              </a:rPr>
              <a:t>Look for natural patterns in price behavior, booking timing, customer spend</a:t>
            </a:r>
          </a:p>
          <a:p>
            <a:pPr algn="l">
              <a:buFont typeface=""/>
              <a:buChar char="•"/>
            </a:pPr>
            <a:r>
              <a:rPr lang="en-US" b="0" i="0">
                <a:latin typeface="-apple-system"/>
                <a:ea typeface="-apple-system"/>
                <a:cs typeface="-apple-system"/>
              </a:rPr>
              <a:t>Build a segmentation framework that captures BOTH market context AND customer psychology</a:t>
            </a:r>
          </a:p>
          <a:p>
            <a:pPr algn="l">
              <a:buFont typeface=""/>
              <a:buChar char="•"/>
            </a:pPr>
            <a:r>
              <a:rPr lang="en-US" b="0" i="0">
                <a:latin typeface="-apple-system"/>
                <a:ea typeface="-apple-system"/>
                <a:cs typeface="-apple-system"/>
              </a:rPr>
              <a:t>Validate with statistical rigor</a:t>
            </a:r>
          </a:p>
          <a:p>
            <a:pPr algn="l">
              <a:buFont typeface=""/>
              <a:buChar char="•"/>
            </a:pPr>
            <a:r>
              <a:rPr lang="en-US" b="0" i="0">
                <a:latin typeface="-apple-system"/>
                <a:ea typeface="-apple-system"/>
                <a:cs typeface="-apple-system"/>
              </a:rPr>
              <a:t>Translate into executable messaging strategy with ROI projections</a:t>
            </a:r>
          </a:p>
          <a:p>
            <a:pPr algn="ctr"/>
            <a:endParaRPr lang="en-US"/>
          </a:p>
        </p:txBody>
      </p:sp>
    </p:spTree>
    <p:extLst>
      <p:ext uri="{BB962C8B-B14F-4D97-AF65-F5344CB8AC3E}">
        <p14:creationId xmlns:p14="http://schemas.microsoft.com/office/powerpoint/2010/main" val="42172200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6F7510-2D9E-48D6-FC54-1344DA0E2EEB}"/>
              </a:ext>
            </a:extLst>
          </p:cNvPr>
          <p:cNvSpPr>
            <a:spLocks noGrp="1"/>
          </p:cNvSpPr>
          <p:nvPr>
            <p:ph type="title"/>
          </p:nvPr>
        </p:nvSpPr>
        <p:spPr>
          <a:xfrm>
            <a:off x="397042" y="2103020"/>
            <a:ext cx="10515600" cy="1325563"/>
          </a:xfrm>
        </p:spPr>
        <p:txBody>
          <a:bodyPr>
            <a:normAutofit fontScale="90000"/>
          </a:bodyPr>
          <a:lstStyle/>
          <a:p>
            <a:br>
              <a:rPr lang="en-US" b="1" dirty="0">
                <a:highlight>
                  <a:srgbClr val="FFFFFF"/>
                </a:highlight>
              </a:rPr>
            </a:br>
            <a:br>
              <a:rPr lang="en-US" b="1" dirty="0">
                <a:highlight>
                  <a:srgbClr val="FFFFFF"/>
                </a:highlight>
              </a:rPr>
            </a:br>
            <a:r>
              <a:rPr lang="en-US" b="1" dirty="0">
                <a:highlight>
                  <a:srgbClr val="FFFFFF"/>
                </a:highlight>
              </a:rPr>
              <a:t>                          What We Discovered???</a:t>
            </a:r>
            <a:endParaRPr lang="en-US" dirty="0"/>
          </a:p>
          <a:p>
            <a:r>
              <a:rPr lang="en-US" b="1">
                <a:highlight>
                  <a:srgbClr val="FFFFFF"/>
                </a:highlight>
              </a:rPr>
              <a:t>                         The Two-Layer Framework</a:t>
            </a:r>
            <a:endParaRPr lang="en-US"/>
          </a:p>
          <a:p>
            <a:r>
              <a:rPr lang="en-US" sz="1600" b="1">
                <a:highlight>
                  <a:srgbClr val="FFFFFF"/>
                </a:highlight>
                <a:ea typeface="+mj-lt"/>
                <a:cs typeface="+mj-lt"/>
              </a:rPr>
              <a:t>After analyzing 49,000+ bookings across 5 cities, we found that effective urgency messaging requires TWO complementary layers:</a:t>
            </a:r>
            <a:br>
              <a:rPr lang="en-US" sz="1600" b="1" dirty="0">
                <a:highlight>
                  <a:srgbClr val="FFFFFF"/>
                </a:highlight>
                <a:ea typeface="+mj-lt"/>
                <a:cs typeface="+mj-lt"/>
              </a:rPr>
            </a:br>
            <a:br>
              <a:rPr lang="en-US" sz="1200" b="1" dirty="0">
                <a:highlight>
                  <a:srgbClr val="FFFFFF"/>
                </a:highlight>
              </a:rPr>
            </a:br>
            <a:endParaRPr lang="en-US" sz="1200" b="1" dirty="0">
              <a:highlight>
                <a:srgbClr val="FFFFFF"/>
              </a:highlight>
            </a:endParaRPr>
          </a:p>
          <a:p>
            <a:r>
              <a:rPr lang="en-US" b="1">
                <a:highlight>
                  <a:srgbClr val="FFFFFF"/>
                </a:highlight>
              </a:rPr>
              <a:t>Layer 1: Market Dynamics Framework</a:t>
            </a:r>
            <a:br>
              <a:rPr lang="en-US" b="1" dirty="0">
                <a:highlight>
                  <a:srgbClr val="FFFFFF"/>
                </a:highlight>
              </a:rPr>
            </a:br>
            <a:endParaRPr lang="en-US" sz="5300"/>
          </a:p>
          <a:p>
            <a:r>
              <a:rPr lang="en-US" sz="2200" b="1">
                <a:highlight>
                  <a:srgbClr val="FFFFFF"/>
                </a:highlight>
                <a:ea typeface="+mj-lt"/>
                <a:cs typeface="+mj-lt"/>
              </a:rPr>
              <a:t>WHAT:</a:t>
            </a:r>
            <a:r>
              <a:rPr lang="en-US" sz="2200">
                <a:highlight>
                  <a:srgbClr val="FFFFFF"/>
                </a:highlight>
                <a:ea typeface="+mj-lt"/>
                <a:cs typeface="+mj-lt"/>
              </a:rPr>
              <a:t> The macro environment - price trends, booking urgency patterns, supply dynamics</a:t>
            </a:r>
            <a:br>
              <a:rPr lang="en-US" sz="2200" dirty="0">
                <a:highlight>
                  <a:srgbClr val="FFFFFF"/>
                </a:highlight>
                <a:ea typeface="+mj-lt"/>
                <a:cs typeface="+mj-lt"/>
              </a:rPr>
            </a:br>
            <a:r>
              <a:rPr lang="en-US" sz="2200">
                <a:highlight>
                  <a:srgbClr val="FFFFFF"/>
                </a:highlight>
                <a:ea typeface="+mj-lt"/>
                <a:cs typeface="+mj-lt"/>
              </a:rPr>
              <a:t>WHY IT MATTERS: Sets the foundation for WHETHER and WHAT TYPE of urgency to use</a:t>
            </a:r>
            <a:br>
              <a:rPr lang="en-US" sz="2200" dirty="0">
                <a:highlight>
                  <a:srgbClr val="FFFFFF"/>
                </a:highlight>
                <a:ea typeface="+mj-lt"/>
                <a:cs typeface="+mj-lt"/>
              </a:rPr>
            </a:br>
            <a:r>
              <a:rPr lang="en-US" sz="2200">
                <a:highlight>
                  <a:srgbClr val="FFFFFF"/>
                </a:highlight>
                <a:ea typeface="+mj-lt"/>
                <a:cs typeface="+mj-lt"/>
              </a:rPr>
              <a:t>INSIGHT: 4 distinct market dynamics emerged across cities (not just city location)</a:t>
            </a:r>
            <a:endParaRPr lang="en-US" sz="2200"/>
          </a:p>
          <a:p>
            <a:br>
              <a:rPr lang="en-US" b="1" dirty="0">
                <a:highlight>
                  <a:srgbClr val="FFFFFF"/>
                </a:highlight>
              </a:rPr>
            </a:br>
            <a:br>
              <a:rPr lang="en-US" b="1" dirty="0">
                <a:highlight>
                  <a:srgbClr val="FFFFFF"/>
                </a:highlight>
              </a:rPr>
            </a:br>
            <a:r>
              <a:rPr lang="en-US" b="1">
                <a:highlight>
                  <a:srgbClr val="FFFFFF"/>
                </a:highlight>
              </a:rPr>
              <a:t>Layer 2: Customer Psychology (Personas)</a:t>
            </a:r>
            <a:endParaRPr lang="en-US"/>
          </a:p>
          <a:p>
            <a:r>
              <a:rPr lang="en-US" sz="1800" b="1">
                <a:highlight>
                  <a:srgbClr val="FFFFFF"/>
                </a:highlight>
                <a:ea typeface="+mj-lt"/>
                <a:cs typeface="+mj-lt"/>
              </a:rPr>
              <a:t>WHAT:</a:t>
            </a:r>
            <a:r>
              <a:rPr lang="en-US" sz="1800">
                <a:highlight>
                  <a:srgbClr val="FFFFFF"/>
                </a:highlight>
                <a:ea typeface="+mj-lt"/>
                <a:cs typeface="+mj-lt"/>
              </a:rPr>
              <a:t> Who the customer is &amp; their booking motivations</a:t>
            </a:r>
            <a:br>
              <a:rPr lang="en-US" sz="1800" dirty="0">
                <a:highlight>
                  <a:srgbClr val="FFFFFF"/>
                </a:highlight>
                <a:ea typeface="+mj-lt"/>
                <a:cs typeface="+mj-lt"/>
              </a:rPr>
            </a:br>
            <a:r>
              <a:rPr lang="en-US" sz="1800">
                <a:highlight>
                  <a:srgbClr val="FFFFFF"/>
                </a:highlight>
                <a:ea typeface="+mj-lt"/>
                <a:cs typeface="+mj-lt"/>
              </a:rPr>
              <a:t>WHY IT MATTERS: Determines message sensitivity and timing</a:t>
            </a:r>
            <a:br>
              <a:rPr lang="en-US" sz="1800" dirty="0">
                <a:highlight>
                  <a:srgbClr val="FFFFFF"/>
                </a:highlight>
                <a:ea typeface="+mj-lt"/>
                <a:cs typeface="+mj-lt"/>
              </a:rPr>
            </a:br>
            <a:r>
              <a:rPr lang="en-US" sz="1800">
                <a:highlight>
                  <a:srgbClr val="FFFFFF"/>
                </a:highlight>
                <a:ea typeface="+mj-lt"/>
                <a:cs typeface="+mj-lt"/>
              </a:rPr>
              <a:t>INSIGHT: 4 traveler personas with different urgency responses</a:t>
            </a:r>
            <a:endParaRPr lang="en-US" sz="1800"/>
          </a:p>
          <a:p>
            <a:endParaRPr lang="en-US" dirty="0"/>
          </a:p>
        </p:txBody>
      </p:sp>
    </p:spTree>
    <p:extLst>
      <p:ext uri="{BB962C8B-B14F-4D97-AF65-F5344CB8AC3E}">
        <p14:creationId xmlns:p14="http://schemas.microsoft.com/office/powerpoint/2010/main" val="15120259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27EC6-0029-1D32-3164-311DA1ADDB48}"/>
              </a:ext>
            </a:extLst>
          </p:cNvPr>
          <p:cNvSpPr>
            <a:spLocks noGrp="1"/>
          </p:cNvSpPr>
          <p:nvPr>
            <p:ph type="title"/>
          </p:nvPr>
        </p:nvSpPr>
        <p:spPr>
          <a:xfrm>
            <a:off x="1546727" y="2771441"/>
            <a:ext cx="10515600" cy="1325563"/>
          </a:xfrm>
        </p:spPr>
        <p:txBody>
          <a:bodyPr>
            <a:normAutofit fontScale="90000"/>
          </a:bodyPr>
          <a:lstStyle/>
          <a:p>
            <a:r>
              <a:rPr lang="en-US" b="1">
                <a:highlight>
                  <a:srgbClr val="FFFFFF"/>
                </a:highlight>
              </a:rPr>
              <a:t>✅ The Unified Recommendation</a:t>
            </a:r>
            <a:endParaRPr lang="en-US"/>
          </a:p>
          <a:p>
            <a:br>
              <a:rPr lang="en-US" sz="2000" b="1" dirty="0">
                <a:highlight>
                  <a:srgbClr val="FFFFFF"/>
                </a:highlight>
                <a:ea typeface="+mj-lt"/>
                <a:cs typeface="+mj-lt"/>
              </a:rPr>
            </a:br>
            <a:br>
              <a:rPr lang="en-US" sz="2000" b="1" dirty="0">
                <a:highlight>
                  <a:srgbClr val="FFFFFF"/>
                </a:highlight>
                <a:ea typeface="+mj-lt"/>
                <a:cs typeface="+mj-lt"/>
              </a:rPr>
            </a:br>
            <a:br>
              <a:rPr lang="en-US" sz="2000" b="1" dirty="0">
                <a:highlight>
                  <a:srgbClr val="FFFFFF"/>
                </a:highlight>
                <a:ea typeface="+mj-lt"/>
                <a:cs typeface="+mj-lt"/>
              </a:rPr>
            </a:br>
            <a:br>
              <a:rPr lang="en-US" sz="2000" b="1" dirty="0">
                <a:highlight>
                  <a:srgbClr val="FFFFFF"/>
                </a:highlight>
                <a:ea typeface="+mj-lt"/>
                <a:cs typeface="+mj-lt"/>
              </a:rPr>
            </a:br>
            <a:r>
              <a:rPr lang="en-US" sz="3600" b="1">
                <a:highlight>
                  <a:srgbClr val="FFFFFF"/>
                </a:highlight>
                <a:ea typeface="+mj-lt"/>
                <a:cs typeface="+mj-lt"/>
              </a:rPr>
              <a:t>Use BOTH layers in sequence:</a:t>
            </a:r>
            <a:endParaRPr lang="en-US" sz="3600" b="1"/>
          </a:p>
          <a:p>
            <a:r>
              <a:rPr lang="en-US" sz="2700" b="1">
                <a:highlight>
                  <a:srgbClr val="FFFFFF"/>
                </a:highlight>
                <a:ea typeface="+mj-lt"/>
                <a:cs typeface="+mj-lt"/>
              </a:rPr>
              <a:t>First, identify the MARKET TYPE (city + price trend + booking window)</a:t>
            </a:r>
            <a:endParaRPr lang="en-US" sz="2700" b="1"/>
          </a:p>
          <a:p>
            <a:r>
              <a:rPr lang="en-US" sz="2000" b="1">
                <a:highlight>
                  <a:srgbClr val="FFFFFF"/>
                </a:highlight>
                <a:ea typeface="+mj-lt"/>
                <a:cs typeface="+mj-lt"/>
              </a:rPr>
              <a:t>Determines IF and WHAT TYPE of urgency to show</a:t>
            </a:r>
            <a:endParaRPr lang="en-US" sz="2000" b="1"/>
          </a:p>
          <a:p>
            <a:r>
              <a:rPr lang="en-US" sz="2700" b="1">
                <a:highlight>
                  <a:srgbClr val="FFFFFF"/>
                </a:highlight>
                <a:ea typeface="+mj-lt"/>
                <a:cs typeface="+mj-lt"/>
              </a:rPr>
              <a:t>Then, identify the PERSONA (booking behavior + price point + trip type)</a:t>
            </a:r>
            <a:endParaRPr lang="en-US" sz="2700" b="1"/>
          </a:p>
          <a:p>
            <a:r>
              <a:rPr lang="en-US" sz="2000" b="1">
                <a:highlight>
                  <a:srgbClr val="FFFFFF"/>
                </a:highlight>
                <a:ea typeface="+mj-lt"/>
                <a:cs typeface="+mj-lt"/>
              </a:rPr>
              <a:t>Determines HOW AGGRESSIVE and WHEN to show urgency</a:t>
            </a:r>
            <a:endParaRPr lang="en-US" sz="2000" b="1"/>
          </a:p>
          <a:p>
            <a:r>
              <a:rPr lang="en-US" sz="2000" b="1">
                <a:highlight>
                  <a:srgbClr val="FFFFFF"/>
                </a:highlight>
                <a:ea typeface="+mj-lt"/>
                <a:cs typeface="+mj-lt"/>
              </a:rPr>
              <a:t>Example:</a:t>
            </a:r>
            <a:endParaRPr lang="en-US" sz="2000" b="1"/>
          </a:p>
          <a:p>
            <a:r>
              <a:rPr lang="en-US" sz="2000" b="1">
                <a:highlight>
                  <a:srgbClr val="FFFFFF"/>
                </a:highlight>
                <a:ea typeface="+mj-lt"/>
                <a:cs typeface="+mj-lt"/>
              </a:rPr>
              <a:t>Market = "Availability Urgency Market" (declining prices, last-minute bookings)</a:t>
            </a:r>
            <a:endParaRPr lang="en-US" sz="2000" b="1"/>
          </a:p>
          <a:p>
            <a:r>
              <a:rPr lang="en-US" sz="2000" b="1">
                <a:highlight>
                  <a:srgbClr val="FFFFFF"/>
                </a:highlight>
                <a:ea typeface="+mj-lt"/>
                <a:cs typeface="+mj-lt"/>
              </a:rPr>
              <a:t>Persona = "Spontaneous Explorer" (budget, flexible)</a:t>
            </a:r>
            <a:endParaRPr lang="en-US" sz="2000" b="1"/>
          </a:p>
          <a:p>
            <a:r>
              <a:rPr lang="en-US" sz="2000" b="1">
                <a:highlight>
                  <a:srgbClr val="FFFFFF"/>
                </a:highlight>
                <a:ea typeface="+mj-lt"/>
                <a:cs typeface="+mj-lt"/>
              </a:rPr>
              <a:t>→ Message: "Only 3 rooms left at $89 - lowest price in 30 days!"</a:t>
            </a:r>
            <a:endParaRPr lang="en-US" sz="2000" b="1"/>
          </a:p>
          <a:p>
            <a:endParaRPr lang="en-US" dirty="0"/>
          </a:p>
        </p:txBody>
      </p:sp>
    </p:spTree>
    <p:extLst>
      <p:ext uri="{BB962C8B-B14F-4D97-AF65-F5344CB8AC3E}">
        <p14:creationId xmlns:p14="http://schemas.microsoft.com/office/powerpoint/2010/main" val="1052169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1DE2CB-63F1-7E85-C4C1-1B7D5DF06180}"/>
              </a:ext>
            </a:extLst>
          </p:cNvPr>
          <p:cNvSpPr>
            <a:spLocks noGrp="1"/>
          </p:cNvSpPr>
          <p:nvPr>
            <p:ph type="title"/>
          </p:nvPr>
        </p:nvSpPr>
        <p:spPr>
          <a:xfrm>
            <a:off x="838200" y="1902493"/>
            <a:ext cx="10515600" cy="3063457"/>
          </a:xfrm>
        </p:spPr>
        <p:txBody>
          <a:bodyPr/>
          <a:lstStyle/>
          <a:p>
            <a:r>
              <a:rPr lang="en-US" sz="6000" b="1">
                <a:highlight>
                  <a:srgbClr val="FFFFFF"/>
                </a:highlight>
              </a:rPr>
              <a:t>What the Data Actually Shows</a:t>
            </a:r>
            <a:endParaRPr lang="en-US" sz="6000" dirty="0"/>
          </a:p>
          <a:p>
            <a:endParaRPr lang="en-US" sz="6000" dirty="0"/>
          </a:p>
        </p:txBody>
      </p:sp>
    </p:spTree>
    <p:extLst>
      <p:ext uri="{BB962C8B-B14F-4D97-AF65-F5344CB8AC3E}">
        <p14:creationId xmlns:p14="http://schemas.microsoft.com/office/powerpoint/2010/main" val="2403785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5DDA0-0B60-A552-FD25-29CC907F7E4E}"/>
              </a:ext>
            </a:extLst>
          </p:cNvPr>
          <p:cNvSpPr>
            <a:spLocks noGrp="1"/>
          </p:cNvSpPr>
          <p:nvPr>
            <p:ph type="title"/>
          </p:nvPr>
        </p:nvSpPr>
        <p:spPr/>
        <p:txBody>
          <a:bodyPr vert="horz" lIns="91440" tIns="45720" rIns="91440" bIns="45720" rtlCol="0" anchor="ctr">
            <a:noAutofit/>
          </a:bodyPr>
          <a:lstStyle/>
          <a:p>
            <a:r>
              <a:rPr lang="en-US" sz="2800" b="1">
                <a:highlight>
                  <a:srgbClr val="FFFFFF"/>
                </a:highlight>
              </a:rPr>
              <a:t>CHAPTER 2A: Dataset-Level Exploratory Analysis</a:t>
            </a:r>
            <a:endParaRPr lang="en-US" sz="2800"/>
          </a:p>
          <a:p>
            <a:r>
              <a:rPr lang="en-US" sz="2800" b="1">
                <a:highlight>
                  <a:srgbClr val="FFFFFF"/>
                </a:highlight>
              </a:rPr>
              <a:t>Understanding the Foundation - What's in Our Data?</a:t>
            </a:r>
            <a:endParaRPr lang="en-US" sz="2800"/>
          </a:p>
          <a:p>
            <a:endParaRPr lang="en-US" dirty="0"/>
          </a:p>
        </p:txBody>
      </p:sp>
      <p:sp>
        <p:nvSpPr>
          <p:cNvPr id="3" name="Content Placeholder 2">
            <a:extLst>
              <a:ext uri="{FF2B5EF4-FFF2-40B4-BE49-F238E27FC236}">
                <a16:creationId xmlns:a16="http://schemas.microsoft.com/office/drawing/2014/main" id="{A8843537-7B09-7AF9-0AA3-197EA19C90BD}"/>
              </a:ext>
            </a:extLst>
          </p:cNvPr>
          <p:cNvSpPr>
            <a:spLocks noGrp="1"/>
          </p:cNvSpPr>
          <p:nvPr>
            <p:ph idx="1"/>
          </p:nvPr>
        </p:nvSpPr>
        <p:spPr/>
        <p:txBody>
          <a:bodyPr vert="horz" lIns="91440" tIns="45720" rIns="91440" bIns="45720" rtlCol="0" anchor="t">
            <a:normAutofit/>
          </a:bodyPr>
          <a:lstStyle/>
          <a:p>
            <a:r>
              <a:rPr lang="en-US" b="1" dirty="0">
                <a:highlight>
                  <a:srgbClr val="FFFFFF"/>
                </a:highlight>
              </a:rPr>
              <a:t> </a:t>
            </a:r>
            <a:r>
              <a:rPr lang="en-US" b="1">
                <a:highlight>
                  <a:srgbClr val="FFFFFF"/>
                </a:highlight>
              </a:rPr>
              <a:t>Before We Segment...</a:t>
            </a:r>
            <a:endParaRPr lang="en-US"/>
          </a:p>
          <a:p>
            <a:r>
              <a:rPr lang="en-US" sz="1200" b="1">
                <a:highlight>
                  <a:srgbClr val="FFFFFF"/>
                </a:highlight>
                <a:ea typeface="+mn-lt"/>
                <a:cs typeface="+mn-lt"/>
              </a:rPr>
              <a:t>We need to understand the OVERALL booking patterns first.</a:t>
            </a:r>
            <a:endParaRPr lang="en-US"/>
          </a:p>
          <a:p>
            <a:r>
              <a:rPr lang="en-US" sz="1200" b="1">
                <a:highlight>
                  <a:srgbClr val="FFFFFF"/>
                </a:highlight>
                <a:ea typeface="+mn-lt"/>
                <a:cs typeface="+mn-lt"/>
              </a:rPr>
              <a:t>The Questions:</a:t>
            </a:r>
            <a:endParaRPr lang="en-US"/>
          </a:p>
          <a:p>
            <a:r>
              <a:rPr lang="en-US" sz="1200">
                <a:highlight>
                  <a:srgbClr val="FFFFFF"/>
                </a:highlight>
                <a:ea typeface="+mn-lt"/>
                <a:cs typeface="+mn-lt"/>
              </a:rPr>
              <a:t>What's the typical booking window? (Are most bookings last-minute or planned?)</a:t>
            </a:r>
            <a:endParaRPr lang="en-US"/>
          </a:p>
          <a:p>
            <a:r>
              <a:rPr lang="en-US" sz="1200">
                <a:highlight>
                  <a:srgbClr val="FFFFFF"/>
                </a:highlight>
                <a:ea typeface="+mn-lt"/>
                <a:cs typeface="+mn-lt"/>
              </a:rPr>
              <a:t>What's the price distribution? (Budget vs luxury split?)</a:t>
            </a:r>
            <a:endParaRPr lang="en-US"/>
          </a:p>
          <a:p>
            <a:r>
              <a:rPr lang="en-US" sz="1200">
                <a:highlight>
                  <a:srgbClr val="FFFFFF"/>
                </a:highlight>
                <a:ea typeface="+mn-lt"/>
                <a:cs typeface="+mn-lt"/>
              </a:rPr>
              <a:t>How long do people stay?</a:t>
            </a:r>
            <a:endParaRPr lang="en-US"/>
          </a:p>
          <a:p>
            <a:r>
              <a:rPr lang="en-US" sz="1200">
                <a:highlight>
                  <a:srgbClr val="FFFFFF"/>
                </a:highlight>
                <a:ea typeface="+mn-lt"/>
                <a:cs typeface="+mn-lt"/>
              </a:rPr>
              <a:t>What quality tiers are represented?</a:t>
            </a:r>
            <a:endParaRPr lang="en-US"/>
          </a:p>
          <a:p>
            <a:r>
              <a:rPr lang="en-US" sz="1200">
                <a:highlight>
                  <a:srgbClr val="FFFFFF"/>
                </a:highlight>
                <a:ea typeface="+mn-lt"/>
                <a:cs typeface="+mn-lt"/>
              </a:rPr>
              <a:t>What's the weekend vs weekday mix?</a:t>
            </a:r>
            <a:endParaRPr lang="en-US"/>
          </a:p>
          <a:p>
            <a:r>
              <a:rPr lang="en-US" sz="1200" b="1">
                <a:highlight>
                  <a:srgbClr val="FFFFFF"/>
                </a:highlight>
                <a:ea typeface="+mn-lt"/>
                <a:cs typeface="+mn-lt"/>
              </a:rPr>
              <a:t>Why this matters:</a:t>
            </a:r>
            <a:endParaRPr lang="en-US"/>
          </a:p>
          <a:p>
            <a:r>
              <a:rPr lang="en-US" sz="1200">
                <a:highlight>
                  <a:srgbClr val="FFFFFF"/>
                </a:highlight>
                <a:ea typeface="+mn-lt"/>
                <a:cs typeface="+mn-lt"/>
              </a:rPr>
              <a:t>Establishes baseline behavior to compare segments against</a:t>
            </a:r>
            <a:endParaRPr lang="en-US"/>
          </a:p>
          <a:p>
            <a:r>
              <a:rPr lang="en-US" sz="1200">
                <a:highlight>
                  <a:srgbClr val="FFFFFF"/>
                </a:highlight>
                <a:ea typeface="+mn-lt"/>
                <a:cs typeface="+mn-lt"/>
              </a:rPr>
              <a:t>Reveals whether urgency is even relevant (if everyone books 90 days out, urgency is dead)</a:t>
            </a:r>
            <a:endParaRPr lang="en-US"/>
          </a:p>
          <a:p>
            <a:r>
              <a:rPr lang="en-US" sz="1200">
                <a:highlight>
                  <a:srgbClr val="FFFFFF"/>
                </a:highlight>
                <a:ea typeface="+mn-lt"/>
                <a:cs typeface="+mn-lt"/>
              </a:rPr>
              <a:t>Shows us what "normal" looks like before we look for patterns</a:t>
            </a:r>
            <a:endParaRPr lang="en-US"/>
          </a:p>
          <a:p>
            <a:endParaRPr lang="en-US" dirty="0"/>
          </a:p>
        </p:txBody>
      </p:sp>
    </p:spTree>
    <p:extLst>
      <p:ext uri="{BB962C8B-B14F-4D97-AF65-F5344CB8AC3E}">
        <p14:creationId xmlns:p14="http://schemas.microsoft.com/office/powerpoint/2010/main" val="1520821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62F25C-B1D5-C644-B621-74B8BC1B0DB1}"/>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B88461B1-DDBA-0F34-413F-EE009BAAD17D}"/>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348767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E66093-41B6-A039-5E8B-ECD7DD522864}"/>
              </a:ext>
            </a:extLst>
          </p:cNvPr>
          <p:cNvSpPr>
            <a:spLocks noGrp="1"/>
          </p:cNvSpPr>
          <p:nvPr>
            <p:ph type="title"/>
          </p:nvPr>
        </p:nvSpPr>
        <p:spPr>
          <a:xfrm>
            <a:off x="638881" y="-295"/>
            <a:ext cx="10909640" cy="500935"/>
          </a:xfrm>
        </p:spPr>
        <p:txBody>
          <a:bodyPr vert="horz" lIns="91440" tIns="45720" rIns="91440" bIns="45720" rtlCol="0" anchor="ctr">
            <a:normAutofit/>
          </a:bodyPr>
          <a:lstStyle/>
          <a:p>
            <a:pPr algn="ctr"/>
            <a:r>
              <a:rPr lang="en-US" sz="2400" b="1">
                <a:highlight>
                  <a:srgbClr val="FFFFFF"/>
                </a:highlight>
              </a:rPr>
              <a:t>Price</a:t>
            </a:r>
            <a:r>
              <a:rPr lang="en-US" sz="2400" b="1" kern="1200">
                <a:highlight>
                  <a:srgbClr val="FFFFFF"/>
                </a:highlight>
                <a:latin typeface="+mj-lt"/>
                <a:ea typeface="+mj-ea"/>
                <a:cs typeface="+mj-cs"/>
              </a:rPr>
              <a:t> by Booking </a:t>
            </a:r>
            <a:r>
              <a:rPr lang="en-US" sz="2400" b="1">
                <a:highlight>
                  <a:srgbClr val="FFFFFF"/>
                </a:highlight>
              </a:rPr>
              <a:t>Window</a:t>
            </a:r>
            <a:endParaRPr lang="en-US" sz="2400" kern="1200">
              <a:latin typeface="+mj-lt"/>
              <a:ea typeface="+mj-ea"/>
              <a:cs typeface="+mj-cs"/>
            </a:endParaRPr>
          </a:p>
        </p:txBody>
      </p:sp>
      <p:graphicFrame>
        <p:nvGraphicFramePr>
          <p:cNvPr id="5" name="Table 4">
            <a:extLst>
              <a:ext uri="{FF2B5EF4-FFF2-40B4-BE49-F238E27FC236}">
                <a16:creationId xmlns:a16="http://schemas.microsoft.com/office/drawing/2014/main" id="{1ECFF119-8BDF-0130-F7E6-4E19437040AB}"/>
              </a:ext>
            </a:extLst>
          </p:cNvPr>
          <p:cNvGraphicFramePr>
            <a:graphicFrameLocks noGrp="1"/>
          </p:cNvGraphicFramePr>
          <p:nvPr/>
        </p:nvGraphicFramePr>
        <p:xfrm>
          <a:off x="233516" y="503902"/>
          <a:ext cx="6793981" cy="3398186"/>
        </p:xfrm>
        <a:graphic>
          <a:graphicData uri="http://schemas.openxmlformats.org/drawingml/2006/table">
            <a:tbl>
              <a:tblPr firstRow="1" bandRow="1">
                <a:solidFill>
                  <a:schemeClr val="bg1"/>
                </a:solidFill>
                <a:tableStyleId>{5C22544A-7EE6-4342-B048-85BDC9FD1C3A}</a:tableStyleId>
              </a:tblPr>
              <a:tblGrid>
                <a:gridCol w="1114152">
                  <a:extLst>
                    <a:ext uri="{9D8B030D-6E8A-4147-A177-3AD203B41FA5}">
                      <a16:colId xmlns:a16="http://schemas.microsoft.com/office/drawing/2014/main" val="283652793"/>
                    </a:ext>
                  </a:extLst>
                </a:gridCol>
                <a:gridCol w="1055980">
                  <a:extLst>
                    <a:ext uri="{9D8B030D-6E8A-4147-A177-3AD203B41FA5}">
                      <a16:colId xmlns:a16="http://schemas.microsoft.com/office/drawing/2014/main" val="1732034954"/>
                    </a:ext>
                  </a:extLst>
                </a:gridCol>
                <a:gridCol w="1046122">
                  <a:extLst>
                    <a:ext uri="{9D8B030D-6E8A-4147-A177-3AD203B41FA5}">
                      <a16:colId xmlns:a16="http://schemas.microsoft.com/office/drawing/2014/main" val="2517666638"/>
                    </a:ext>
                  </a:extLst>
                </a:gridCol>
                <a:gridCol w="1114152">
                  <a:extLst>
                    <a:ext uri="{9D8B030D-6E8A-4147-A177-3AD203B41FA5}">
                      <a16:colId xmlns:a16="http://schemas.microsoft.com/office/drawing/2014/main" val="1126764087"/>
                    </a:ext>
                  </a:extLst>
                </a:gridCol>
                <a:gridCol w="617273">
                  <a:extLst>
                    <a:ext uri="{9D8B030D-6E8A-4147-A177-3AD203B41FA5}">
                      <a16:colId xmlns:a16="http://schemas.microsoft.com/office/drawing/2014/main" val="644029608"/>
                    </a:ext>
                  </a:extLst>
                </a:gridCol>
                <a:gridCol w="909744">
                  <a:extLst>
                    <a:ext uri="{9D8B030D-6E8A-4147-A177-3AD203B41FA5}">
                      <a16:colId xmlns:a16="http://schemas.microsoft.com/office/drawing/2014/main" val="1660806471"/>
                    </a:ext>
                  </a:extLst>
                </a:gridCol>
                <a:gridCol w="936558">
                  <a:extLst>
                    <a:ext uri="{9D8B030D-6E8A-4147-A177-3AD203B41FA5}">
                      <a16:colId xmlns:a16="http://schemas.microsoft.com/office/drawing/2014/main" val="1743256674"/>
                    </a:ext>
                  </a:extLst>
                </a:gridCol>
              </a:tblGrid>
              <a:tr h="457021">
                <a:tc>
                  <a:txBody>
                    <a:bodyPr/>
                    <a:lstStyle/>
                    <a:p>
                      <a:pPr>
                        <a:buNone/>
                      </a:pPr>
                      <a:r>
                        <a:rPr lang="en-US" sz="1500" b="0" cap="none" spc="0">
                          <a:solidFill>
                            <a:schemeClr val="bg1"/>
                          </a:solidFill>
                        </a:rPr>
                        <a:t>Lead Time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Bookings</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Avg Price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Median Price</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Min</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Max</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tc>
                  <a:txBody>
                    <a:bodyPr/>
                    <a:lstStyle/>
                    <a:p>
                      <a:pPr>
                        <a:buNone/>
                      </a:pPr>
                      <a:r>
                        <a:rPr lang="en-US" sz="1500" b="0" cap="none" spc="0">
                          <a:solidFill>
                            <a:schemeClr val="bg1"/>
                          </a:solidFill>
                        </a:rPr>
                        <a:t>Std Dev</a:t>
                      </a:r>
                    </a:p>
                  </a:txBody>
                  <a:tcPr marL="129260" marR="99430" marT="99430" marB="99430" anchor="ctr">
                    <a:lnL w="19050" cap="flat" cmpd="sng" algn="ctr">
                      <a:solidFill>
                        <a:schemeClr val="tx1"/>
                      </a:solidFill>
                      <a:prstDash val="solid"/>
                    </a:lnL>
                    <a:lnR w="19050" cap="flat" cmpd="sng" algn="ctr">
                      <a:solidFill>
                        <a:schemeClr val="tx1"/>
                      </a:solidFill>
                      <a:prstDash val="solid"/>
                    </a:lnR>
                    <a:lnT w="19050" cap="flat" cmpd="sng" algn="ctr">
                      <a:solidFill>
                        <a:schemeClr val="tx1"/>
                      </a:solidFill>
                      <a:prstDash val="solid"/>
                    </a:lnT>
                    <a:lnB w="38100" cmpd="sng">
                      <a:noFill/>
                    </a:lnB>
                    <a:solidFill>
                      <a:schemeClr val="tx1"/>
                    </a:solidFill>
                  </a:tcPr>
                </a:tc>
                <a:extLst>
                  <a:ext uri="{0D108BD9-81ED-4DB2-BD59-A6C34878D82A}">
                    <a16:rowId xmlns:a16="http://schemas.microsoft.com/office/drawing/2014/main" val="1481050482"/>
                  </a:ext>
                </a:extLst>
              </a:tr>
              <a:tr h="457021">
                <a:tc>
                  <a:txBody>
                    <a:bodyPr/>
                    <a:lstStyle/>
                    <a:p>
                      <a:pPr>
                        <a:buNone/>
                      </a:pPr>
                      <a:r>
                        <a:rPr lang="en-US" sz="1500" cap="none" spc="0">
                          <a:solidFill>
                            <a:schemeClr val="tx1"/>
                          </a:solidFill>
                        </a:rPr>
                        <a:t>Same Day</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5,603</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$119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$87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$2,081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tc>
                  <a:txBody>
                    <a:bodyPr/>
                    <a:lstStyle/>
                    <a:p>
                      <a:pPr>
                        <a:buNone/>
                      </a:pPr>
                      <a:r>
                        <a:rPr lang="en-US" sz="1500" cap="none" spc="0">
                          <a:solidFill>
                            <a:schemeClr val="tx1"/>
                          </a:solidFill>
                        </a:rPr>
                        <a:t>$112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38100" cmpd="sng">
                      <a:noFill/>
                    </a:lnT>
                    <a:lnB w="19050" cap="flat" cmpd="sng" algn="ctr">
                      <a:solidFill>
                        <a:schemeClr val="tx1"/>
                      </a:solidFill>
                      <a:prstDash val="solid"/>
                    </a:lnB>
                    <a:noFill/>
                  </a:tcPr>
                </a:tc>
                <a:extLst>
                  <a:ext uri="{0D108BD9-81ED-4DB2-BD59-A6C34878D82A}">
                    <a16:rowId xmlns:a16="http://schemas.microsoft.com/office/drawing/2014/main" val="2982629763"/>
                  </a:ext>
                </a:extLst>
              </a:tr>
              <a:tr h="457021">
                <a:tc>
                  <a:txBody>
                    <a:bodyPr/>
                    <a:lstStyle/>
                    <a:p>
                      <a:pPr>
                        <a:buNone/>
                      </a:pPr>
                      <a:r>
                        <a:rPr lang="en-US" sz="1500" cap="none" spc="0">
                          <a:solidFill>
                            <a:schemeClr val="tx1"/>
                          </a:solidFill>
                        </a:rPr>
                        <a:t>1-3 days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11,058</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$99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$2,388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$117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1993032157"/>
                  </a:ext>
                </a:extLst>
              </a:tr>
              <a:tr h="457021">
                <a:tc>
                  <a:txBody>
                    <a:bodyPr/>
                    <a:lstStyle/>
                    <a:p>
                      <a:pPr>
                        <a:buNone/>
                      </a:pPr>
                      <a:r>
                        <a:rPr lang="en-US" sz="1500" cap="none" spc="0">
                          <a:solidFill>
                            <a:schemeClr val="tx1"/>
                          </a:solidFill>
                        </a:rPr>
                        <a:t>4-7 days</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6,818</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$144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$112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$1,977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$125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3670189815"/>
                  </a:ext>
                </a:extLst>
              </a:tr>
              <a:tr h="457021">
                <a:tc>
                  <a:txBody>
                    <a:bodyPr/>
                    <a:lstStyle/>
                    <a:p>
                      <a:pPr>
                        <a:buNone/>
                      </a:pPr>
                      <a:r>
                        <a:rPr lang="en-US" sz="1500" cap="none" spc="0">
                          <a:solidFill>
                            <a:schemeClr val="tx1"/>
                          </a:solidFill>
                        </a:rPr>
                        <a:t>1-2 weeks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7,281</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$153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$120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$5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$1,909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007089466"/>
                  </a:ext>
                </a:extLst>
              </a:tr>
              <a:tr h="457021">
                <a:tc>
                  <a:txBody>
                    <a:bodyPr/>
                    <a:lstStyle/>
                    <a:p>
                      <a:pPr>
                        <a:buNone/>
                      </a:pPr>
                      <a:r>
                        <a:rPr lang="en-US" sz="1500" cap="none" spc="0">
                          <a:solidFill>
                            <a:schemeClr val="tx1"/>
                          </a:solidFill>
                        </a:rPr>
                        <a:t>2-4 weeks</a:t>
                      </a:r>
                    </a:p>
                  </a:txBody>
                  <a:tcPr marL="129260" marR="99430" marT="99430" marB="99430" anchor="ctr">
                    <a:lnL w="19050" cap="flat" cmpd="sng" algn="ctr">
                      <a:solidFill>
                        <a:schemeClr val="tx1"/>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9,810</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$164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$128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$6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$3,157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tc>
                  <a:txBody>
                    <a:bodyPr/>
                    <a:lstStyle/>
                    <a:p>
                      <a:pPr>
                        <a:buNone/>
                      </a:pPr>
                      <a:r>
                        <a:rPr lang="en-US" sz="1500" cap="none" spc="0">
                          <a:solidFill>
                            <a:schemeClr val="tx1"/>
                          </a:solidFill>
                        </a:rPr>
                        <a:t>$154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2700" cmpd="sng">
                      <a:noFill/>
                      <a:prstDash val="solid"/>
                    </a:lnT>
                    <a:lnB w="19050" cap="flat" cmpd="sng" algn="ctr">
                      <a:solidFill>
                        <a:schemeClr val="tx1"/>
                      </a:solidFill>
                      <a:prstDash val="solid"/>
                    </a:lnB>
                    <a:noFill/>
                  </a:tcPr>
                </a:tc>
                <a:extLst>
                  <a:ext uri="{0D108BD9-81ED-4DB2-BD59-A6C34878D82A}">
                    <a16:rowId xmlns:a16="http://schemas.microsoft.com/office/drawing/2014/main" val="782350755"/>
                  </a:ext>
                </a:extLst>
              </a:tr>
              <a:tr h="457021">
                <a:tc>
                  <a:txBody>
                    <a:bodyPr/>
                    <a:lstStyle/>
                    <a:p>
                      <a:pPr>
                        <a:buNone/>
                      </a:pPr>
                      <a:r>
                        <a:rPr lang="en-US" sz="1500" cap="none" spc="0">
                          <a:solidFill>
                            <a:schemeClr val="tx1"/>
                          </a:solidFill>
                        </a:rPr>
                        <a:t>30+ days</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8,491</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$170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$138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$6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$2,534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tc>
                  <a:txBody>
                    <a:bodyPr/>
                    <a:lstStyle/>
                    <a:p>
                      <a:pPr>
                        <a:buNone/>
                      </a:pPr>
                      <a:r>
                        <a:rPr lang="en-US" sz="1500" cap="none" spc="0">
                          <a:solidFill>
                            <a:schemeClr val="tx1"/>
                          </a:solidFill>
                        </a:rPr>
                        <a:t>$151 </a:t>
                      </a:r>
                    </a:p>
                  </a:txBody>
                  <a:tcPr marL="129260" marR="99430" marT="99430" marB="99430" anchor="ctr">
                    <a:lnL w="6350" cap="flat" cmpd="sng" algn="ctr">
                      <a:solidFill>
                        <a:schemeClr val="tx1">
                          <a:lumMod val="50000"/>
                          <a:lumOff val="50000"/>
                        </a:schemeClr>
                      </a:solidFill>
                      <a:prstDash val="solid"/>
                    </a:lnL>
                    <a:lnR w="6350" cap="flat" cmpd="sng" algn="ctr">
                      <a:solidFill>
                        <a:schemeClr val="tx1">
                          <a:lumMod val="50000"/>
                          <a:lumOff val="50000"/>
                        </a:schemeClr>
                      </a:solidFill>
                      <a:prstDash val="solid"/>
                    </a:lnR>
                    <a:lnT w="19050" cap="flat" cmpd="sng" algn="ctr">
                      <a:solidFill>
                        <a:schemeClr val="tx1"/>
                      </a:solidFill>
                      <a:prstDash val="solid"/>
                    </a:lnT>
                    <a:lnB w="12700" cmpd="sng">
                      <a:noFill/>
                      <a:prstDash val="solid"/>
                    </a:lnB>
                    <a:solidFill>
                      <a:schemeClr val="bg1">
                        <a:lumMod val="85000"/>
                      </a:schemeClr>
                    </a:solidFill>
                  </a:tcPr>
                </a:tc>
                <a:extLst>
                  <a:ext uri="{0D108BD9-81ED-4DB2-BD59-A6C34878D82A}">
                    <a16:rowId xmlns:a16="http://schemas.microsoft.com/office/drawing/2014/main" val="441828820"/>
                  </a:ext>
                </a:extLst>
              </a:tr>
            </a:tbl>
          </a:graphicData>
        </a:graphic>
      </p:graphicFrame>
      <p:pic>
        <p:nvPicPr>
          <p:cNvPr id="6" name="Picture 5">
            <a:extLst>
              <a:ext uri="{FF2B5EF4-FFF2-40B4-BE49-F238E27FC236}">
                <a16:creationId xmlns:a16="http://schemas.microsoft.com/office/drawing/2014/main" id="{5EA11B6F-3CAF-5140-2CAB-D52DF815C332}"/>
              </a:ext>
            </a:extLst>
          </p:cNvPr>
          <p:cNvPicPr>
            <a:picLocks noChangeAspect="1"/>
          </p:cNvPicPr>
          <p:nvPr/>
        </p:nvPicPr>
        <p:blipFill>
          <a:blip r:embed="rId2"/>
          <a:stretch>
            <a:fillRect/>
          </a:stretch>
        </p:blipFill>
        <p:spPr>
          <a:xfrm>
            <a:off x="7014085" y="507436"/>
            <a:ext cx="4788312" cy="3335901"/>
          </a:xfrm>
          <a:prstGeom prst="rect">
            <a:avLst/>
          </a:prstGeom>
        </p:spPr>
      </p:pic>
      <p:pic>
        <p:nvPicPr>
          <p:cNvPr id="7" name="Picture 6">
            <a:extLst>
              <a:ext uri="{FF2B5EF4-FFF2-40B4-BE49-F238E27FC236}">
                <a16:creationId xmlns:a16="http://schemas.microsoft.com/office/drawing/2014/main" id="{10481A32-B038-CB6F-45CC-5DE650DD2E01}"/>
              </a:ext>
            </a:extLst>
          </p:cNvPr>
          <p:cNvPicPr>
            <a:picLocks noChangeAspect="1"/>
          </p:cNvPicPr>
          <p:nvPr/>
        </p:nvPicPr>
        <p:blipFill>
          <a:blip r:embed="rId3"/>
          <a:stretch>
            <a:fillRect/>
          </a:stretch>
        </p:blipFill>
        <p:spPr>
          <a:xfrm>
            <a:off x="7158345" y="3886969"/>
            <a:ext cx="4622698" cy="2734289"/>
          </a:xfrm>
          <a:prstGeom prst="rect">
            <a:avLst/>
          </a:prstGeom>
        </p:spPr>
      </p:pic>
      <p:sp>
        <p:nvSpPr>
          <p:cNvPr id="8" name="TextBox 7">
            <a:extLst>
              <a:ext uri="{FF2B5EF4-FFF2-40B4-BE49-F238E27FC236}">
                <a16:creationId xmlns:a16="http://schemas.microsoft.com/office/drawing/2014/main" id="{E4FBCA5A-2BF1-E6A0-CB52-2D84699F9D3F}"/>
              </a:ext>
            </a:extLst>
          </p:cNvPr>
          <p:cNvSpPr txBox="1"/>
          <p:nvPr/>
        </p:nvSpPr>
        <p:spPr>
          <a:xfrm>
            <a:off x="233516" y="4289323"/>
            <a:ext cx="6194322" cy="256993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100" b="1"/>
              <a:t>CRITICAL FINDING: PRICES DROP AS CHECK-IN APPROACHES!</a:t>
            </a:r>
          </a:p>
          <a:p>
            <a:pPr algn="l"/>
            <a:r>
              <a:rPr lang="en-US" sz="1100"/>
              <a:t>❌ </a:t>
            </a:r>
            <a:r>
              <a:rPr lang="en-US" sz="1100" b="1"/>
              <a:t>The common urgency message "Price may increase" is FALSE!</a:t>
            </a:r>
          </a:p>
          <a:p>
            <a:pPr algn="l">
              <a:buFont typeface=""/>
              <a:buChar char="•"/>
            </a:pPr>
            <a:r>
              <a:rPr lang="en-US" sz="1100"/>
              <a:t>Same-day bookings are </a:t>
            </a:r>
            <a:r>
              <a:rPr lang="en-US" sz="1100" b="1"/>
              <a:t>30% CHEAPER</a:t>
            </a:r>
            <a:r>
              <a:rPr lang="en-US" sz="1100"/>
              <a:t> than 30+ day bookings ($119 vs $170)</a:t>
            </a:r>
          </a:p>
          <a:p>
            <a:pPr algn="l"/>
            <a:r>
              <a:rPr lang="en-US" sz="1100"/>
              <a:t>⚠️ </a:t>
            </a:r>
            <a:r>
              <a:rPr lang="en-US" sz="1100" b="1"/>
              <a:t>Why This Happens:</a:t>
            </a:r>
          </a:p>
          <a:p>
            <a:pPr algn="l">
              <a:buFont typeface=""/>
              <a:buChar char="•"/>
            </a:pPr>
            <a:r>
              <a:rPr lang="en-US" sz="1100"/>
              <a:t>Hotels </a:t>
            </a:r>
            <a:r>
              <a:rPr lang="en-US" sz="1100" b="1"/>
              <a:t>discount unsold inventory</a:t>
            </a:r>
            <a:r>
              <a:rPr lang="en-US" sz="1100"/>
              <a:t> as check-in approaches (better to sell at $87 than leave room empty)</a:t>
            </a:r>
          </a:p>
          <a:p>
            <a:pPr algn="l">
              <a:buFont typeface=""/>
              <a:buChar char="•"/>
            </a:pPr>
            <a:r>
              <a:rPr lang="en-US" sz="1100"/>
              <a:t>Last-minute bookers know this and </a:t>
            </a:r>
            <a:r>
              <a:rPr lang="en-US" sz="1100" b="1"/>
              <a:t>hunt for deals</a:t>
            </a:r>
          </a:p>
          <a:p>
            <a:pPr algn="l"/>
            <a:r>
              <a:rPr lang="en-US" sz="1100" b="1"/>
              <a:t>💼 Business Implication:</a:t>
            </a:r>
          </a:p>
          <a:p>
            <a:pPr algn="l"/>
            <a:r>
              <a:rPr lang="en-US" sz="1100"/>
              <a:t>❌ </a:t>
            </a:r>
            <a:r>
              <a:rPr lang="en-US" sz="1100" b="1"/>
              <a:t>We CANNOT use "Price will increase" messaging</a:t>
            </a:r>
            <a:r>
              <a:rPr lang="en-US" sz="1100"/>
              <a:t> — it's factually wrong and will damage trust</a:t>
            </a:r>
          </a:p>
          <a:p>
            <a:pPr algn="l"/>
            <a:r>
              <a:rPr lang="en-US" sz="1100"/>
              <a:t>✅ </a:t>
            </a:r>
            <a:r>
              <a:rPr lang="en-US" sz="1100" b="1"/>
              <a:t>Instead, we should use:</a:t>
            </a:r>
          </a:p>
          <a:p>
            <a:pPr algn="l">
              <a:buFont typeface=""/>
              <a:buChar char="•"/>
            </a:pPr>
            <a:r>
              <a:rPr lang="en-US" sz="1100" b="1"/>
              <a:t>Scarcity messaging:</a:t>
            </a:r>
            <a:r>
              <a:rPr lang="en-US" sz="1100"/>
              <a:t> "Only 2 rooms left!" (if true)</a:t>
            </a:r>
          </a:p>
          <a:p>
            <a:pPr algn="l">
              <a:buFont typeface=""/>
              <a:buChar char="•"/>
            </a:pPr>
            <a:r>
              <a:rPr lang="en-US" sz="1100" b="1"/>
              <a:t>Social proof:</a:t>
            </a:r>
            <a:r>
              <a:rPr lang="en-US" sz="1100"/>
              <a:t> "15 people viewing this hotel right now"</a:t>
            </a:r>
          </a:p>
          <a:p>
            <a:pPr algn="l">
              <a:buFont typeface=""/>
              <a:buChar char="•"/>
            </a:pPr>
            <a:r>
              <a:rPr lang="en-US" sz="1100" b="1" dirty="0"/>
              <a:t>Flip the script:</a:t>
            </a:r>
            <a:r>
              <a:rPr lang="en-US" sz="1100" dirty="0"/>
              <a:t> For hotels where prices ARE rising, highlight that: "Price increased 8% in last 24 </a:t>
            </a:r>
            <a:r>
              <a:rPr lang="en-US" sz="1100" dirty="0" err="1"/>
              <a:t>hrs</a:t>
            </a:r>
            <a:r>
              <a:rPr lang="en-US" sz="1100" dirty="0"/>
              <a:t>"</a:t>
            </a:r>
          </a:p>
          <a:p>
            <a:pPr algn="ctr"/>
            <a:endParaRPr lang="en-US"/>
          </a:p>
        </p:txBody>
      </p:sp>
    </p:spTree>
    <p:extLst>
      <p:ext uri="{BB962C8B-B14F-4D97-AF65-F5344CB8AC3E}">
        <p14:creationId xmlns:p14="http://schemas.microsoft.com/office/powerpoint/2010/main" val="34027743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6FF6BE-1151-1090-CADC-AAD39BE2075A}"/>
              </a:ext>
            </a:extLst>
          </p:cNvPr>
          <p:cNvSpPr>
            <a:spLocks noGrp="1"/>
          </p:cNvSpPr>
          <p:nvPr>
            <p:ph type="title"/>
          </p:nvPr>
        </p:nvSpPr>
        <p:spPr>
          <a:xfrm>
            <a:off x="638881" y="417576"/>
            <a:ext cx="10909640" cy="372615"/>
          </a:xfrm>
        </p:spPr>
        <p:txBody>
          <a:bodyPr vert="horz" lIns="91440" tIns="45720" rIns="91440" bIns="45720" rtlCol="0" anchor="ctr">
            <a:normAutofit/>
          </a:bodyPr>
          <a:lstStyle/>
          <a:p>
            <a:pPr algn="ctr"/>
            <a:r>
              <a:rPr lang="en-US" sz="2000" b="1"/>
              <a:t>City Distribution</a:t>
            </a:r>
            <a:r>
              <a:rPr lang="en-US" sz="2000" b="1" kern="1200">
                <a:latin typeface="+mj-lt"/>
                <a:ea typeface="+mj-ea"/>
                <a:cs typeface="+mj-cs"/>
              </a:rPr>
              <a:t> Analysis</a:t>
            </a:r>
            <a:endParaRPr lang="en-US" sz="2000" kern="1200">
              <a:latin typeface="+mj-lt"/>
            </a:endParaRPr>
          </a:p>
          <a:p>
            <a:pPr algn="ctr"/>
            <a:endParaRPr lang="en-US" sz="4100" kern="1200">
              <a:solidFill>
                <a:schemeClr val="tx1"/>
              </a:solidFill>
              <a:latin typeface="+mj-lt"/>
              <a:ea typeface="+mj-ea"/>
              <a:cs typeface="+mj-cs"/>
            </a:endParaRPr>
          </a:p>
        </p:txBody>
      </p:sp>
      <p:graphicFrame>
        <p:nvGraphicFramePr>
          <p:cNvPr id="4" name="Table 3">
            <a:extLst>
              <a:ext uri="{FF2B5EF4-FFF2-40B4-BE49-F238E27FC236}">
                <a16:creationId xmlns:a16="http://schemas.microsoft.com/office/drawing/2014/main" id="{77FF65E8-C10E-4E4B-A51E-8F8A95072E39}"/>
              </a:ext>
            </a:extLst>
          </p:cNvPr>
          <p:cNvGraphicFramePr>
            <a:graphicFrameLocks noGrp="1"/>
          </p:cNvGraphicFramePr>
          <p:nvPr/>
        </p:nvGraphicFramePr>
        <p:xfrm>
          <a:off x="639588" y="924223"/>
          <a:ext cx="10958907" cy="3483824"/>
        </p:xfrm>
        <a:graphic>
          <a:graphicData uri="http://schemas.openxmlformats.org/drawingml/2006/table">
            <a:tbl>
              <a:tblPr firstRow="1" bandRow="1">
                <a:noFill/>
                <a:tableStyleId>{5C22544A-7EE6-4342-B048-85BDC9FD1C3A}</a:tableStyleId>
              </a:tblPr>
              <a:tblGrid>
                <a:gridCol w="1571544">
                  <a:extLst>
                    <a:ext uri="{9D8B030D-6E8A-4147-A177-3AD203B41FA5}">
                      <a16:colId xmlns:a16="http://schemas.microsoft.com/office/drawing/2014/main" val="3107663818"/>
                    </a:ext>
                  </a:extLst>
                </a:gridCol>
                <a:gridCol w="1865061">
                  <a:extLst>
                    <a:ext uri="{9D8B030D-6E8A-4147-A177-3AD203B41FA5}">
                      <a16:colId xmlns:a16="http://schemas.microsoft.com/office/drawing/2014/main" val="3902889832"/>
                    </a:ext>
                  </a:extLst>
                </a:gridCol>
                <a:gridCol w="1688385">
                  <a:extLst>
                    <a:ext uri="{9D8B030D-6E8A-4147-A177-3AD203B41FA5}">
                      <a16:colId xmlns:a16="http://schemas.microsoft.com/office/drawing/2014/main" val="3308386812"/>
                    </a:ext>
                  </a:extLst>
                </a:gridCol>
                <a:gridCol w="1617187">
                  <a:extLst>
                    <a:ext uri="{9D8B030D-6E8A-4147-A177-3AD203B41FA5}">
                      <a16:colId xmlns:a16="http://schemas.microsoft.com/office/drawing/2014/main" val="1293881098"/>
                    </a:ext>
                  </a:extLst>
                </a:gridCol>
                <a:gridCol w="1865061">
                  <a:extLst>
                    <a:ext uri="{9D8B030D-6E8A-4147-A177-3AD203B41FA5}">
                      <a16:colId xmlns:a16="http://schemas.microsoft.com/office/drawing/2014/main" val="3673408498"/>
                    </a:ext>
                  </a:extLst>
                </a:gridCol>
                <a:gridCol w="2351669">
                  <a:extLst>
                    <a:ext uri="{9D8B030D-6E8A-4147-A177-3AD203B41FA5}">
                      <a16:colId xmlns:a16="http://schemas.microsoft.com/office/drawing/2014/main" val="1220415366"/>
                    </a:ext>
                  </a:extLst>
                </a:gridCol>
              </a:tblGrid>
              <a:tr h="509687">
                <a:tc>
                  <a:txBody>
                    <a:bodyPr/>
                    <a:lstStyle/>
                    <a:p>
                      <a:pPr>
                        <a:buNone/>
                      </a:pPr>
                      <a:r>
                        <a:rPr lang="en-US" sz="1500" b="1">
                          <a:solidFill>
                            <a:srgbClr val="FFFFFF"/>
                          </a:solidFill>
                          <a:effectLst/>
                        </a:rPr>
                        <a:t>City</a:t>
                      </a:r>
                    </a:p>
                  </a:txBody>
                  <a:tcPr marL="221115" marR="132669" marT="132669" marB="132669" anchor="ctr">
                    <a:lnL w="38100" cap="flat" cmpd="sng" algn="ctr">
                      <a:no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Bookings</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 Total</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Hotels</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lgn="r">
                        <a:buNone/>
                      </a:pPr>
                      <a:r>
                        <a:rPr lang="en-US" sz="1500" b="1">
                          <a:solidFill>
                            <a:srgbClr val="FFFFFF"/>
                          </a:solidFill>
                          <a:effectLst/>
                        </a:rPr>
                        <a:t>Avg Price</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noFill/>
                      <a:prstDash val="solid"/>
                    </a:lnT>
                    <a:lnB w="38100" cap="flat" cmpd="sng" algn="ctr">
                      <a:solidFill>
                        <a:srgbClr val="FFFFFF"/>
                      </a:solidFill>
                      <a:prstDash val="solid"/>
                    </a:lnB>
                    <a:solidFill>
                      <a:schemeClr val="tx1"/>
                    </a:solidFill>
                  </a:tcPr>
                </a:tc>
                <a:tc>
                  <a:txBody>
                    <a:bodyPr/>
                    <a:lstStyle/>
                    <a:p>
                      <a:pPr>
                        <a:buNone/>
                      </a:pPr>
                      <a:r>
                        <a:rPr lang="en-US" sz="1500" b="1">
                          <a:solidFill>
                            <a:srgbClr val="FFFFFF"/>
                          </a:solidFill>
                          <a:effectLst/>
                        </a:rPr>
                        <a:t>Market Position</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noFill/>
                      <a:prstDash val="solid"/>
                    </a:lnT>
                    <a:lnB w="38100" cap="flat" cmpd="sng" algn="ctr">
                      <a:solidFill>
                        <a:srgbClr val="FFFFFF"/>
                      </a:solidFill>
                      <a:prstDash val="solid"/>
                    </a:lnB>
                    <a:solidFill>
                      <a:schemeClr val="tx1"/>
                    </a:solidFill>
                  </a:tcPr>
                </a:tc>
                <a:extLst>
                  <a:ext uri="{0D108BD9-81ED-4DB2-BD59-A6C34878D82A}">
                    <a16:rowId xmlns:a16="http://schemas.microsoft.com/office/drawing/2014/main" val="3950467076"/>
                  </a:ext>
                </a:extLst>
              </a:tr>
              <a:tr h="509687">
                <a:tc>
                  <a:txBody>
                    <a:bodyPr/>
                    <a:lstStyle/>
                    <a:p>
                      <a:pPr>
                        <a:buNone/>
                      </a:pPr>
                      <a:r>
                        <a:rPr lang="en-US" sz="1500">
                          <a:solidFill>
                            <a:schemeClr val="tx1">
                              <a:lumMod val="85000"/>
                              <a:lumOff val="15000"/>
                            </a:schemeClr>
                          </a:solidFill>
                          <a:effectLst/>
                        </a:rPr>
                        <a:t>City A</a:t>
                      </a: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b="1">
                          <a:solidFill>
                            <a:schemeClr val="tx1">
                              <a:lumMod val="85000"/>
                              <a:lumOff val="15000"/>
                            </a:schemeClr>
                          </a:solidFill>
                          <a:effectLst/>
                        </a:rPr>
                        <a:t>22,366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45.6%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213</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$100.51</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High-Volume Budget</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725278221"/>
                  </a:ext>
                </a:extLst>
              </a:tr>
              <a:tr h="670640">
                <a:tc>
                  <a:txBody>
                    <a:bodyPr/>
                    <a:lstStyle/>
                    <a:p>
                      <a:pPr>
                        <a:buNone/>
                      </a:pPr>
                      <a:r>
                        <a:rPr lang="en-US" sz="1500">
                          <a:solidFill>
                            <a:schemeClr val="tx1">
                              <a:lumMod val="85000"/>
                              <a:lumOff val="15000"/>
                            </a:schemeClr>
                          </a:solidFill>
                          <a:effectLst/>
                        </a:rPr>
                        <a:t>City D</a:t>
                      </a:r>
                      <a:endParaRPr lang="en-US" sz="1500" dirty="0" err="1">
                        <a:solidFill>
                          <a:schemeClr val="tx1">
                            <a:lumMod val="85000"/>
                            <a:lumOff val="15000"/>
                          </a:schemeClr>
                        </a:solidFill>
                        <a:effectLst/>
                      </a:endParaRPr>
                    </a:p>
                  </a:txBody>
                  <a:tcPr marL="221115" marR="132669" marT="132669" marB="132669"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10,152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20.7%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70</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$218.85</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500" b="1">
                          <a:solidFill>
                            <a:schemeClr val="tx1">
                              <a:lumMod val="85000"/>
                              <a:lumOff val="15000"/>
                            </a:schemeClr>
                          </a:solidFill>
                          <a:effectLst/>
                        </a:rPr>
                        <a:t>Premium Concentrated</a:t>
                      </a:r>
                    </a:p>
                  </a:txBody>
                  <a:tcPr marL="221115" marR="132669" marT="132669" marB="132669"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965641265"/>
                  </a:ext>
                </a:extLst>
              </a:tr>
              <a:tr h="509687">
                <a:tc>
                  <a:txBody>
                    <a:bodyPr/>
                    <a:lstStyle/>
                    <a:p>
                      <a:pPr>
                        <a:buNone/>
                      </a:pPr>
                      <a:r>
                        <a:rPr lang="en-US" sz="1500">
                          <a:solidFill>
                            <a:schemeClr val="tx1">
                              <a:lumMod val="85000"/>
                              <a:lumOff val="15000"/>
                            </a:schemeClr>
                          </a:solidFill>
                          <a:effectLst/>
                        </a:rPr>
                        <a:t>City C</a:t>
                      </a:r>
                      <a:endParaRPr lang="en-US" sz="1500" dirty="0" err="1">
                        <a:solidFill>
                          <a:schemeClr val="tx1">
                            <a:lumMod val="85000"/>
                            <a:lumOff val="15000"/>
                          </a:schemeClr>
                        </a:solidFill>
                        <a:effectLst/>
                      </a:endParaRP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6,797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13.9%</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146</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$224.84</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Premium Diverse</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38100" cap="flat" cmpd="sng" algn="ctr">
                      <a:solidFill>
                        <a:srgbClr val="FFFFFF"/>
                      </a:solidFill>
                      <a:prstDash val="solid"/>
                    </a:lnB>
                    <a:solidFill>
                      <a:srgbClr val="878E8B">
                        <a:alpha val="14902"/>
                      </a:srgbClr>
                    </a:solidFill>
                  </a:tcPr>
                </a:tc>
                <a:extLst>
                  <a:ext uri="{0D108BD9-81ED-4DB2-BD59-A6C34878D82A}">
                    <a16:rowId xmlns:a16="http://schemas.microsoft.com/office/drawing/2014/main" val="3413399530"/>
                  </a:ext>
                </a:extLst>
              </a:tr>
              <a:tr h="509687">
                <a:tc>
                  <a:txBody>
                    <a:bodyPr/>
                    <a:lstStyle/>
                    <a:p>
                      <a:pPr>
                        <a:buNone/>
                      </a:pPr>
                      <a:r>
                        <a:rPr lang="en-US" sz="1500">
                          <a:solidFill>
                            <a:schemeClr val="tx1">
                              <a:lumMod val="85000"/>
                              <a:lumOff val="15000"/>
                            </a:schemeClr>
                          </a:solidFill>
                          <a:effectLst/>
                        </a:rPr>
                        <a:t>City B</a:t>
                      </a:r>
                      <a:endParaRPr lang="en-US" sz="1500" dirty="0" err="1">
                        <a:solidFill>
                          <a:schemeClr val="tx1">
                            <a:lumMod val="85000"/>
                            <a:lumOff val="15000"/>
                          </a:schemeClr>
                        </a:solidFill>
                        <a:effectLst/>
                      </a:endParaRPr>
                    </a:p>
                  </a:txBody>
                  <a:tcPr marL="221115" marR="132669" marT="132669" marB="132669" anchor="ctr">
                    <a:lnL w="12700" cmpd="sng">
                      <a:no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4,932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10.1%</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344</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lgn="r">
                        <a:buNone/>
                      </a:pPr>
                      <a:r>
                        <a:rPr lang="en-US" sz="1500">
                          <a:solidFill>
                            <a:schemeClr val="tx1">
                              <a:lumMod val="85000"/>
                              <a:lumOff val="15000"/>
                            </a:schemeClr>
                          </a:solidFill>
                          <a:effectLst/>
                        </a:rPr>
                        <a:t>$118.32</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tc>
                  <a:txBody>
                    <a:bodyPr/>
                    <a:lstStyle/>
                    <a:p>
                      <a:pPr>
                        <a:buNone/>
                      </a:pPr>
                      <a:r>
                        <a:rPr lang="en-US" sz="1500" b="1">
                          <a:solidFill>
                            <a:schemeClr val="tx1">
                              <a:lumMod val="85000"/>
                              <a:lumOff val="15000"/>
                            </a:schemeClr>
                          </a:solidFill>
                          <a:effectLst/>
                        </a:rPr>
                        <a:t>Mid-Market Fragmented</a:t>
                      </a:r>
                    </a:p>
                  </a:txBody>
                  <a:tcPr marL="221115" marR="132669" marT="132669" marB="132669" anchor="ctr">
                    <a:lnL w="38100" cap="flat" cmpd="sng" algn="ctr">
                      <a:solidFill>
                        <a:srgbClr val="FFFFFF"/>
                      </a:solidFill>
                      <a:prstDash val="solid"/>
                    </a:lnL>
                    <a:lnR w="12700" cmpd="sng">
                      <a:noFill/>
                      <a:prstDash val="solid"/>
                    </a:lnR>
                    <a:lnT w="38100" cap="flat" cmpd="sng" algn="ctr">
                      <a:solidFill>
                        <a:srgbClr val="FFFFFF"/>
                      </a:solidFill>
                      <a:prstDash val="solid"/>
                    </a:lnT>
                    <a:lnB w="38100" cap="flat" cmpd="sng" algn="ctr">
                      <a:solidFill>
                        <a:srgbClr val="FFFFFF"/>
                      </a:solidFill>
                      <a:prstDash val="solid"/>
                    </a:lnB>
                    <a:solidFill>
                      <a:srgbClr val="878E8B">
                        <a:alpha val="30196"/>
                      </a:srgbClr>
                    </a:solidFill>
                  </a:tcPr>
                </a:tc>
                <a:extLst>
                  <a:ext uri="{0D108BD9-81ED-4DB2-BD59-A6C34878D82A}">
                    <a16:rowId xmlns:a16="http://schemas.microsoft.com/office/drawing/2014/main" val="2382212180"/>
                  </a:ext>
                </a:extLst>
              </a:tr>
              <a:tr h="509687">
                <a:tc>
                  <a:txBody>
                    <a:bodyPr/>
                    <a:lstStyle/>
                    <a:p>
                      <a:pPr>
                        <a:buNone/>
                      </a:pPr>
                      <a:r>
                        <a:rPr lang="en-US" sz="1500">
                          <a:solidFill>
                            <a:schemeClr val="tx1">
                              <a:lumMod val="85000"/>
                              <a:lumOff val="15000"/>
                            </a:schemeClr>
                          </a:solidFill>
                          <a:effectLst/>
                        </a:rPr>
                        <a:t>City E</a:t>
                      </a:r>
                      <a:endParaRPr lang="en-US" sz="1500" dirty="0" err="1">
                        <a:solidFill>
                          <a:schemeClr val="tx1">
                            <a:lumMod val="85000"/>
                            <a:lumOff val="15000"/>
                          </a:schemeClr>
                        </a:solidFill>
                        <a:effectLst/>
                      </a:endParaRPr>
                    </a:p>
                  </a:txBody>
                  <a:tcPr marL="221115" marR="132669" marT="132669" marB="132669" anchor="ctr">
                    <a:lnL w="38100" cap="flat" cmpd="sng" algn="ctr">
                      <a:no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4,817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9.8%</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lgn="r">
                        <a:buNone/>
                      </a:pPr>
                      <a:r>
                        <a:rPr lang="en-US" sz="1500">
                          <a:solidFill>
                            <a:schemeClr val="tx1">
                              <a:lumMod val="85000"/>
                              <a:lumOff val="15000"/>
                            </a:schemeClr>
                          </a:solidFill>
                          <a:effectLst/>
                        </a:rPr>
                        <a:t>$142.07</a:t>
                      </a:r>
                    </a:p>
                  </a:txBody>
                  <a:tcPr marL="221115" marR="132669" marT="132669" marB="132669" anchor="ctr">
                    <a:lnL w="38100" cap="flat" cmpd="sng" algn="ctr">
                      <a:solidFill>
                        <a:srgbClr val="FFFFFF"/>
                      </a:solidFill>
                      <a:prstDash val="solid"/>
                    </a:lnL>
                    <a:lnR w="38100" cap="flat" cmpd="sng" algn="ctr">
                      <a:solidFill>
                        <a:srgbClr val="FFFFFF"/>
                      </a:solidFill>
                      <a:prstDash val="solid"/>
                    </a:lnR>
                    <a:lnT w="38100" cap="flat" cmpd="sng" algn="ctr">
                      <a:solidFill>
                        <a:srgbClr val="FFFFFF"/>
                      </a:solidFill>
                      <a:prstDash val="solid"/>
                    </a:lnT>
                    <a:lnB w="12700" cmpd="sng">
                      <a:noFill/>
                      <a:prstDash val="solid"/>
                    </a:lnB>
                    <a:solidFill>
                      <a:srgbClr val="878E8B">
                        <a:alpha val="14902"/>
                      </a:srgbClr>
                    </a:solidFill>
                  </a:tcPr>
                </a:tc>
                <a:tc>
                  <a:txBody>
                    <a:bodyPr/>
                    <a:lstStyle/>
                    <a:p>
                      <a:pPr>
                        <a:buNone/>
                      </a:pPr>
                      <a:r>
                        <a:rPr lang="en-US" sz="1500" b="1">
                          <a:solidFill>
                            <a:schemeClr val="tx1">
                              <a:lumMod val="85000"/>
                              <a:lumOff val="15000"/>
                            </a:schemeClr>
                          </a:solidFill>
                          <a:effectLst/>
                        </a:rPr>
                        <a:t>Mid-Market Growing</a:t>
                      </a:r>
                    </a:p>
                  </a:txBody>
                  <a:tcPr marL="221115" marR="132669" marT="132669" marB="132669" anchor="ctr">
                    <a:lnL w="38100" cap="flat" cmpd="sng" algn="ctr">
                      <a:solidFill>
                        <a:srgbClr val="FFFFFF"/>
                      </a:solidFill>
                      <a:prstDash val="solid"/>
                    </a:lnL>
                    <a:lnR w="38100" cap="flat" cmpd="sng" algn="ctr">
                      <a:noFill/>
                      <a:prstDash val="solid"/>
                    </a:lnR>
                    <a:lnT w="38100" cap="flat" cmpd="sng" algn="ctr">
                      <a:solidFill>
                        <a:srgbClr val="FFFFFF"/>
                      </a:solidFill>
                      <a:prstDash val="solid"/>
                    </a:lnT>
                    <a:lnB w="12700" cmpd="sng">
                      <a:noFill/>
                      <a:prstDash val="solid"/>
                    </a:lnB>
                    <a:solidFill>
                      <a:srgbClr val="878E8B">
                        <a:alpha val="14902"/>
                      </a:srgbClr>
                    </a:solidFill>
                  </a:tcPr>
                </a:tc>
                <a:extLst>
                  <a:ext uri="{0D108BD9-81ED-4DB2-BD59-A6C34878D82A}">
                    <a16:rowId xmlns:a16="http://schemas.microsoft.com/office/drawing/2014/main" val="3043616283"/>
                  </a:ext>
                </a:extLst>
              </a:tr>
            </a:tbl>
          </a:graphicData>
        </a:graphic>
      </p:graphicFrame>
      <p:sp>
        <p:nvSpPr>
          <p:cNvPr id="6" name="TextBox 5">
            <a:extLst>
              <a:ext uri="{FF2B5EF4-FFF2-40B4-BE49-F238E27FC236}">
                <a16:creationId xmlns:a16="http://schemas.microsoft.com/office/drawing/2014/main" id="{C7C4C543-9D28-1CEE-BD21-0B46275825C1}"/>
              </a:ext>
            </a:extLst>
          </p:cNvPr>
          <p:cNvSpPr txBox="1"/>
          <p:nvPr/>
        </p:nvSpPr>
        <p:spPr>
          <a:xfrm>
            <a:off x="639097" y="4719484"/>
            <a:ext cx="10594257" cy="136960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1200" b="1">
                <a:solidFill>
                  <a:srgbClr val="161616"/>
                </a:solidFill>
                <a:highlight>
                  <a:srgbClr val="FFFFFF"/>
                </a:highlight>
                <a:ea typeface="+mn-lt"/>
                <a:cs typeface="+mn-lt"/>
              </a:rPr>
              <a:t>City A</a:t>
            </a:r>
            <a:r>
              <a:rPr lang="en-US" sz="1200" b="1" i="0" dirty="0">
                <a:solidFill>
                  <a:srgbClr val="161616"/>
                </a:solidFill>
                <a:highlight>
                  <a:srgbClr val="FFFFFF"/>
                </a:highlight>
                <a:ea typeface="+mn-lt"/>
                <a:cs typeface="+mn-lt"/>
              </a:rPr>
              <a:t> </a:t>
            </a:r>
            <a:r>
              <a:rPr lang="en-US" sz="1200" dirty="0">
                <a:solidFill>
                  <a:srgbClr val="161616"/>
                </a:solidFill>
                <a:highlight>
                  <a:srgbClr val="FFFFFF"/>
                </a:highlight>
                <a:ea typeface="+mn-lt"/>
                <a:cs typeface="+mn-lt"/>
              </a:rPr>
              <a:t>dominates with nearly half </a:t>
            </a:r>
            <a:r>
              <a:rPr lang="en-US" sz="1200" i="0" dirty="0">
                <a:solidFill>
                  <a:srgbClr val="161616"/>
                </a:solidFill>
                <a:highlight>
                  <a:srgbClr val="FFFFFF"/>
                </a:highlight>
                <a:ea typeface="+mn-lt"/>
                <a:cs typeface="+mn-lt"/>
              </a:rPr>
              <a:t>of all bookings </a:t>
            </a:r>
            <a:r>
              <a:rPr lang="en-US" sz="1200" dirty="0">
                <a:solidFill>
                  <a:srgbClr val="161616"/>
                </a:solidFill>
                <a:highlight>
                  <a:srgbClr val="FFFFFF"/>
                </a:highlight>
                <a:ea typeface="+mn-lt"/>
                <a:cs typeface="+mn-lt"/>
              </a:rPr>
              <a:t>despite lower prices — suggests high tourist traffic or business hub</a:t>
            </a:r>
            <a:endParaRPr lang="en-US" sz="1200"/>
          </a:p>
          <a:p>
            <a:pPr>
              <a:buFont typeface="Arial"/>
              <a:buChar char="•"/>
            </a:pPr>
            <a:r>
              <a:rPr lang="en-US" sz="1200" b="1">
                <a:solidFill>
                  <a:srgbClr val="161616"/>
                </a:solidFill>
                <a:highlight>
                  <a:srgbClr val="FFFFFF"/>
                </a:highlight>
                <a:ea typeface="+mn-lt"/>
                <a:cs typeface="+mn-lt"/>
              </a:rPr>
              <a:t>Cities C &amp; </a:t>
            </a:r>
            <a:r>
              <a:rPr lang="en-US" sz="1200" b="1" i="0">
                <a:solidFill>
                  <a:srgbClr val="161616"/>
                </a:solidFill>
                <a:highlight>
                  <a:srgbClr val="FFFFFF"/>
                </a:highlight>
                <a:ea typeface="+mn-lt"/>
                <a:cs typeface="+mn-lt"/>
              </a:rPr>
              <a:t>D </a:t>
            </a:r>
            <a:r>
              <a:rPr lang="en-US" sz="1200">
                <a:solidFill>
                  <a:srgbClr val="161616"/>
                </a:solidFill>
                <a:highlight>
                  <a:srgbClr val="FFFFFF"/>
                </a:highlight>
                <a:ea typeface="+mn-lt"/>
                <a:cs typeface="+mn-lt"/>
              </a:rPr>
              <a:t>command 2x </a:t>
            </a:r>
            <a:r>
              <a:rPr lang="en-US" sz="1200" i="0">
                <a:solidFill>
                  <a:srgbClr val="161616"/>
                </a:solidFill>
                <a:highlight>
                  <a:srgbClr val="FFFFFF"/>
                </a:highlight>
                <a:ea typeface="+mn-lt"/>
                <a:cs typeface="+mn-lt"/>
              </a:rPr>
              <a:t>premium </a:t>
            </a:r>
            <a:r>
              <a:rPr lang="en-US" sz="1200">
                <a:solidFill>
                  <a:srgbClr val="161616"/>
                </a:solidFill>
                <a:highlight>
                  <a:srgbClr val="FFFFFF"/>
                </a:highlight>
                <a:ea typeface="+mn-lt"/>
                <a:cs typeface="+mn-lt"/>
              </a:rPr>
              <a:t>pricing but with lower volume — likely luxury/resort destinations</a:t>
            </a:r>
            <a:endParaRPr lang="en-US" sz="1200"/>
          </a:p>
          <a:p>
            <a:pPr>
              <a:buFont typeface="Arial"/>
              <a:buChar char="•"/>
            </a:pPr>
            <a:r>
              <a:rPr lang="en-US" sz="1200" b="1">
                <a:solidFill>
                  <a:srgbClr val="161616"/>
                </a:solidFill>
                <a:highlight>
                  <a:srgbClr val="FFFFFF"/>
                </a:highlight>
                <a:ea typeface="+mn-lt"/>
                <a:cs typeface="+mn-lt"/>
              </a:rPr>
              <a:t>City B</a:t>
            </a:r>
            <a:r>
              <a:rPr lang="en-US" sz="1200" i="0" dirty="0">
                <a:solidFill>
                  <a:srgbClr val="161616"/>
                </a:solidFill>
                <a:highlight>
                  <a:srgbClr val="FFFFFF"/>
                </a:highlight>
                <a:ea typeface="+mn-lt"/>
                <a:cs typeface="+mn-lt"/>
              </a:rPr>
              <a:t> </a:t>
            </a:r>
            <a:r>
              <a:rPr lang="en-US" sz="1200" dirty="0">
                <a:solidFill>
                  <a:srgbClr val="161616"/>
                </a:solidFill>
                <a:highlight>
                  <a:srgbClr val="FFFFFF"/>
                </a:highlight>
                <a:ea typeface="+mn-lt"/>
                <a:cs typeface="+mn-lt"/>
              </a:rPr>
              <a:t>has highest </a:t>
            </a:r>
            <a:r>
              <a:rPr lang="en-US" sz="1200" i="0" dirty="0">
                <a:solidFill>
                  <a:srgbClr val="161616"/>
                </a:solidFill>
                <a:highlight>
                  <a:srgbClr val="FFFFFF"/>
                </a:highlight>
                <a:ea typeface="+mn-lt"/>
                <a:cs typeface="+mn-lt"/>
              </a:rPr>
              <a:t>hotel </a:t>
            </a:r>
            <a:r>
              <a:rPr lang="en-US" sz="1200" dirty="0">
                <a:solidFill>
                  <a:srgbClr val="161616"/>
                </a:solidFill>
                <a:highlight>
                  <a:srgbClr val="FFFFFF"/>
                </a:highlight>
                <a:ea typeface="+mn-lt"/>
                <a:cs typeface="+mn-lt"/>
              </a:rPr>
              <a:t>count </a:t>
            </a:r>
            <a:r>
              <a:rPr lang="en-US" sz="1200" i="0" dirty="0">
                <a:solidFill>
                  <a:srgbClr val="161616"/>
                </a:solidFill>
                <a:highlight>
                  <a:srgbClr val="FFFFFF"/>
                </a:highlight>
                <a:ea typeface="+mn-lt"/>
                <a:cs typeface="+mn-lt"/>
              </a:rPr>
              <a:t>(344)</a:t>
            </a:r>
            <a:r>
              <a:rPr lang="en-US" sz="1200" dirty="0">
                <a:solidFill>
                  <a:srgbClr val="161616"/>
                </a:solidFill>
                <a:highlight>
                  <a:srgbClr val="FFFFFF"/>
                </a:highlight>
                <a:ea typeface="+mn-lt"/>
                <a:cs typeface="+mn-lt"/>
              </a:rPr>
              <a:t> </a:t>
            </a:r>
            <a:r>
              <a:rPr lang="en-US" sz="1200" i="0" dirty="0">
                <a:solidFill>
                  <a:srgbClr val="161616"/>
                </a:solidFill>
                <a:highlight>
                  <a:srgbClr val="FFFFFF"/>
                </a:highlight>
                <a:ea typeface="+mn-lt"/>
                <a:cs typeface="+mn-lt"/>
              </a:rPr>
              <a:t>but </a:t>
            </a:r>
            <a:r>
              <a:rPr lang="en-US" sz="1200" dirty="0">
                <a:solidFill>
                  <a:srgbClr val="161616"/>
                </a:solidFill>
                <a:highlight>
                  <a:srgbClr val="FFFFFF"/>
                </a:highlight>
                <a:ea typeface="+mn-lt"/>
                <a:cs typeface="+mn-lt"/>
              </a:rPr>
              <a:t>lowest </a:t>
            </a:r>
            <a:r>
              <a:rPr lang="en-US" sz="1200" i="0" dirty="0">
                <a:solidFill>
                  <a:srgbClr val="161616"/>
                </a:solidFill>
                <a:highlight>
                  <a:srgbClr val="FFFFFF"/>
                </a:highlight>
                <a:ea typeface="+mn-lt"/>
                <a:cs typeface="+mn-lt"/>
              </a:rPr>
              <a:t>booking share</a:t>
            </a:r>
            <a:r>
              <a:rPr lang="en-US" sz="1200" dirty="0">
                <a:solidFill>
                  <a:srgbClr val="161616"/>
                </a:solidFill>
                <a:highlight>
                  <a:srgbClr val="FFFFFF"/>
                </a:highlight>
                <a:ea typeface="+mn-lt"/>
                <a:cs typeface="+mn-lt"/>
              </a:rPr>
              <a:t> — fragmented market with high </a:t>
            </a:r>
            <a:r>
              <a:rPr lang="en-US" sz="1200" i="0" dirty="0">
                <a:solidFill>
                  <a:srgbClr val="161616"/>
                </a:solidFill>
                <a:highlight>
                  <a:srgbClr val="FFFFFF"/>
                </a:highlight>
                <a:ea typeface="+mn-lt"/>
                <a:cs typeface="+mn-lt"/>
              </a:rPr>
              <a:t>competition</a:t>
            </a:r>
            <a:endParaRPr lang="en-US" sz="1200" dirty="0">
              <a:solidFill>
                <a:srgbClr val="161616"/>
              </a:solidFill>
              <a:highlight>
                <a:srgbClr val="FFFFFF"/>
              </a:highlight>
              <a:ea typeface="+mn-lt"/>
              <a:cs typeface="+mn-lt"/>
            </a:endParaRPr>
          </a:p>
          <a:p>
            <a:pPr algn="l"/>
            <a:endParaRPr lang="en-US" sz="1100" b="0" i="0" dirty="0">
              <a:solidFill>
                <a:srgbClr val="000000"/>
              </a:solidFill>
              <a:latin typeface="Segoe UI"/>
              <a:ea typeface="Segoe UI"/>
              <a:cs typeface="Segoe UI"/>
            </a:endParaRPr>
          </a:p>
          <a:p>
            <a:pPr algn="l"/>
            <a:endParaRPr lang="en-US" b="0" i="0">
              <a:solidFill>
                <a:srgbClr val="000000"/>
              </a:solidFill>
              <a:latin typeface="Segoe UI"/>
              <a:ea typeface="Segoe UI"/>
              <a:cs typeface="Segoe UI"/>
            </a:endParaRPr>
          </a:p>
          <a:p>
            <a:pPr algn="ctr"/>
            <a:endParaRPr lang="en-US"/>
          </a:p>
        </p:txBody>
      </p:sp>
    </p:spTree>
    <p:extLst>
      <p:ext uri="{BB962C8B-B14F-4D97-AF65-F5344CB8AC3E}">
        <p14:creationId xmlns:p14="http://schemas.microsoft.com/office/powerpoint/2010/main" val="20421910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732D8F-474A-1FBF-6454-9D2C67F090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11AF91-0FD5-87B0-8A0A-237DA8B7E3CC}"/>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24359B08-DAD2-0B99-673F-2DC1DD78253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40976254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763B0-8427-E0AE-0CF0-2E3CFC1E28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2F330D-3460-F1C3-08C2-7767AE52738D}"/>
              </a:ext>
            </a:extLst>
          </p:cNvPr>
          <p:cNvSpPr>
            <a:spLocks noGrp="1"/>
          </p:cNvSpPr>
          <p:nvPr>
            <p:ph type="title"/>
          </p:nvPr>
        </p:nvSpPr>
        <p:spPr/>
        <p:txBody>
          <a:bodyPr/>
          <a:lstStyle/>
          <a:p>
            <a:r>
              <a:rPr lang="en-US"/>
              <a:t>                                EDA</a:t>
            </a:r>
          </a:p>
        </p:txBody>
      </p:sp>
      <p:sp>
        <p:nvSpPr>
          <p:cNvPr id="3" name="Content Placeholder 2">
            <a:extLst>
              <a:ext uri="{FF2B5EF4-FFF2-40B4-BE49-F238E27FC236}">
                <a16:creationId xmlns:a16="http://schemas.microsoft.com/office/drawing/2014/main" id="{6ECA97D9-3F1B-8E23-94F5-ABAFF0787780}"/>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7559806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F97FD8-DFFC-E50A-7B4E-BE2AAC1AA1AF}"/>
              </a:ext>
            </a:extLst>
          </p:cNvPr>
          <p:cNvSpPr>
            <a:spLocks noGrp="1"/>
          </p:cNvSpPr>
          <p:nvPr>
            <p:ph type="title"/>
          </p:nvPr>
        </p:nvSpPr>
        <p:spPr/>
        <p:txBody>
          <a:bodyPr vert="horz" lIns="91440" tIns="45720" rIns="91440" bIns="45720" rtlCol="0" anchor="ctr">
            <a:noAutofit/>
          </a:bodyPr>
          <a:lstStyle/>
          <a:p>
            <a:r>
              <a:rPr lang="en-US" sz="2800" b="1">
                <a:highlight>
                  <a:srgbClr val="FFFFFF"/>
                </a:highlight>
              </a:rPr>
              <a:t>CHAPTER 2: Layer 1 - Market Dynamics Framework</a:t>
            </a:r>
            <a:endParaRPr lang="en-US" sz="2800"/>
          </a:p>
          <a:p>
            <a:r>
              <a:rPr lang="en-US" sz="2800" b="1">
                <a:highlight>
                  <a:srgbClr val="FFFFFF"/>
                </a:highlight>
              </a:rPr>
              <a:t>Understanding the Macro Environment for Urgency</a:t>
            </a:r>
            <a:endParaRPr lang="en-US" sz="2800"/>
          </a:p>
          <a:p>
            <a:endParaRPr lang="en-US" dirty="0"/>
          </a:p>
        </p:txBody>
      </p:sp>
      <p:sp>
        <p:nvSpPr>
          <p:cNvPr id="4" name="TextBox 3">
            <a:extLst>
              <a:ext uri="{FF2B5EF4-FFF2-40B4-BE49-F238E27FC236}">
                <a16:creationId xmlns:a16="http://schemas.microsoft.com/office/drawing/2014/main" id="{490B4DE8-557B-6919-5955-4F198E0EEA2C}"/>
              </a:ext>
            </a:extLst>
          </p:cNvPr>
          <p:cNvSpPr txBox="1"/>
          <p:nvPr/>
        </p:nvSpPr>
        <p:spPr>
          <a:xfrm>
            <a:off x="360948" y="1704473"/>
            <a:ext cx="10520946" cy="23083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The Question:</a:t>
            </a:r>
            <a:r>
              <a:rPr lang="en-US" b="0" i="0">
                <a:latin typeface="-apple-system"/>
                <a:ea typeface="-apple-system"/>
                <a:cs typeface="-apple-system"/>
              </a:rPr>
              <a:t> Before we can tailor urgency messaging to individuals, we need to answer:</a:t>
            </a:r>
          </a:p>
          <a:p>
            <a:pPr algn="l"/>
            <a:r>
              <a:rPr lang="en-US" b="1" i="0">
                <a:latin typeface="-apple-system"/>
                <a:ea typeface="-apple-system"/>
                <a:cs typeface="-apple-system"/>
              </a:rPr>
              <a:t>"In THIS market, does urgency messaging even make sense?"</a:t>
            </a:r>
          </a:p>
          <a:p>
            <a:pPr algn="l"/>
            <a:r>
              <a:rPr lang="en-US" b="0" i="0">
                <a:latin typeface="-apple-system"/>
                <a:ea typeface="-apple-system"/>
                <a:cs typeface="-apple-system"/>
              </a:rPr>
              <a:t>Because urgency messaging can BACKFIRE if the market environment doesn't support it:</a:t>
            </a:r>
          </a:p>
          <a:p>
            <a:pPr algn="l">
              <a:buFont typeface=""/>
              <a:buChar char="•"/>
            </a:pPr>
            <a:r>
              <a:rPr lang="en-US" b="1" i="0">
                <a:latin typeface="-apple-system"/>
                <a:ea typeface="-apple-system"/>
                <a:cs typeface="-apple-system"/>
              </a:rPr>
              <a:t>Declining price markets</a:t>
            </a:r>
            <a:r>
              <a:rPr lang="en-US" b="0" i="0">
                <a:latin typeface="-apple-system"/>
                <a:ea typeface="-apple-system"/>
                <a:cs typeface="-apple-system"/>
              </a:rPr>
              <a:t> → "Price increased!" messaging destroys trust</a:t>
            </a:r>
          </a:p>
          <a:p>
            <a:pPr algn="l">
              <a:buFont typeface=""/>
              <a:buChar char="•"/>
            </a:pPr>
            <a:r>
              <a:rPr lang="en-US" b="1" i="0">
                <a:latin typeface="-apple-system"/>
                <a:ea typeface="-apple-system"/>
                <a:cs typeface="-apple-system"/>
              </a:rPr>
              <a:t>Advance booking markets</a:t>
            </a:r>
            <a:r>
              <a:rPr lang="en-US" b="0" i="0">
                <a:latin typeface="-apple-system"/>
                <a:ea typeface="-apple-system"/>
                <a:cs typeface="-apple-system"/>
              </a:rPr>
              <a:t> → Urgency creates anxiety for people who booked early to AVOID urgency</a:t>
            </a:r>
          </a:p>
          <a:p>
            <a:pPr algn="l">
              <a:buFont typeface=""/>
              <a:buChar char="•"/>
            </a:pPr>
            <a:r>
              <a:rPr lang="en-US" b="1" i="0">
                <a:latin typeface="-apple-system"/>
                <a:ea typeface="-apple-system"/>
                <a:cs typeface="-apple-system"/>
              </a:rPr>
              <a:t>Stable supply markets</a:t>
            </a:r>
            <a:r>
              <a:rPr lang="en-US" b="0" i="0">
                <a:latin typeface="-apple-system"/>
                <a:ea typeface="-apple-system"/>
                <a:cs typeface="-apple-system"/>
              </a:rPr>
              <a:t> → "Only 2 rooms left" lacks credibility</a:t>
            </a:r>
          </a:p>
          <a:p>
            <a:pPr algn="l"/>
            <a:r>
              <a:rPr lang="en-US" b="1" i="0">
                <a:latin typeface="-apple-system"/>
                <a:ea typeface="-apple-system"/>
                <a:cs typeface="-apple-system"/>
              </a:rPr>
              <a:t>We need to understand the MACRO ENVIRONMENT first.</a:t>
            </a:r>
          </a:p>
          <a:p>
            <a:pPr algn="ctr"/>
            <a:endParaRPr lang="en-US"/>
          </a:p>
        </p:txBody>
      </p:sp>
    </p:spTree>
    <p:extLst>
      <p:ext uri="{BB962C8B-B14F-4D97-AF65-F5344CB8AC3E}">
        <p14:creationId xmlns:p14="http://schemas.microsoft.com/office/powerpoint/2010/main" val="5726301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DC785BB-D264-0C37-A6E0-68F25E11B59B}"/>
              </a:ext>
            </a:extLst>
          </p:cNvPr>
          <p:cNvSpPr txBox="1"/>
          <p:nvPr/>
        </p:nvSpPr>
        <p:spPr>
          <a:xfrm>
            <a:off x="601580" y="1009316"/>
            <a:ext cx="10734841" cy="286232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latin typeface="-apple-system"/>
                <a:ea typeface="-apple-system"/>
                <a:cs typeface="-apple-system"/>
              </a:rPr>
              <a:t>                                                     </a:t>
            </a:r>
            <a:r>
              <a:rPr lang="en-US" b="1" i="0">
                <a:latin typeface="-apple-system"/>
                <a:ea typeface="-apple-system"/>
                <a:cs typeface="-apple-system"/>
              </a:rPr>
              <a:t>WHAT We Analyze</a:t>
            </a:r>
          </a:p>
          <a:p>
            <a:pPr algn="l"/>
            <a:r>
              <a:rPr lang="en-US" b="1" i="0">
                <a:latin typeface="-apple-system"/>
                <a:ea typeface="-apple-system"/>
                <a:cs typeface="-apple-system"/>
              </a:rPr>
              <a:t>We profile each city comprehensively across multiple dimensions:</a:t>
            </a:r>
          </a:p>
          <a:p>
            <a:pPr algn="l">
              <a:buFont typeface=""/>
              <a:buAutoNum type="arabicPeriod"/>
            </a:pPr>
            <a:r>
              <a:rPr lang="en-US" b="1" i="0">
                <a:latin typeface="-apple-system"/>
                <a:ea typeface="-apple-system"/>
                <a:cs typeface="-apple-system"/>
              </a:rPr>
              <a:t>Price Behavior</a:t>
            </a:r>
            <a:r>
              <a:rPr lang="en-US" b="0" i="0">
                <a:latin typeface="-apple-system"/>
                <a:ea typeface="-apple-system"/>
                <a:cs typeface="-apple-system"/>
              </a:rPr>
              <a:t> - Median ADR, volatility, trend direction (rising/falling/stable)</a:t>
            </a:r>
          </a:p>
          <a:p>
            <a:pPr algn="l">
              <a:buFont typeface=""/>
              <a:buAutoNum type="arabicPeriod"/>
            </a:pPr>
            <a:r>
              <a:rPr lang="en-US" b="1" i="0">
                <a:latin typeface="-apple-system"/>
                <a:ea typeface="-apple-system"/>
                <a:cs typeface="-apple-system"/>
              </a:rPr>
              <a:t>Booking Urgency</a:t>
            </a:r>
            <a:r>
              <a:rPr lang="en-US" b="0" i="0">
                <a:latin typeface="-apple-system"/>
                <a:ea typeface="-apple-system"/>
                <a:cs typeface="-apple-system"/>
              </a:rPr>
              <a:t> - Lead time distribution, last-minute booking rates</a:t>
            </a:r>
          </a:p>
          <a:p>
            <a:pPr algn="l">
              <a:buFont typeface=""/>
              <a:buAutoNum type="arabicPeriod"/>
            </a:pPr>
            <a:r>
              <a:rPr lang="en-US" b="1" i="0">
                <a:latin typeface="-apple-system"/>
                <a:ea typeface="-apple-system"/>
                <a:cs typeface="-apple-system"/>
              </a:rPr>
              <a:t>Supply Dynamics</a:t>
            </a:r>
            <a:r>
              <a:rPr lang="en-US" b="0" i="0">
                <a:latin typeface="-apple-system"/>
                <a:ea typeface="-apple-system"/>
                <a:cs typeface="-apple-system"/>
              </a:rPr>
              <a:t> - How tight is inventory? How fast do properties fill?</a:t>
            </a:r>
          </a:p>
          <a:p>
            <a:pPr algn="l">
              <a:buFont typeface=""/>
              <a:buAutoNum type="arabicPeriod"/>
            </a:pPr>
            <a:r>
              <a:rPr lang="en-US" b="1" i="0">
                <a:latin typeface="-apple-system"/>
                <a:ea typeface="-apple-system"/>
                <a:cs typeface="-apple-system"/>
              </a:rPr>
              <a:t>Market Characteristics</a:t>
            </a:r>
            <a:r>
              <a:rPr lang="en-US" b="0" i="0">
                <a:latin typeface="-apple-system"/>
                <a:ea typeface="-apple-system"/>
                <a:cs typeface="-apple-system"/>
              </a:rPr>
              <a:t> - Star ratings, stay length, weekend patterns, property mix</a:t>
            </a:r>
          </a:p>
          <a:p>
            <a:pPr algn="l"/>
            <a:r>
              <a:rPr lang="en-US" b="1" i="0">
                <a:latin typeface="-apple-system"/>
                <a:ea typeface="-apple-system"/>
                <a:cs typeface="-apple-system"/>
              </a:rPr>
              <a:t>IMPORTANT DISTINCTION:</a:t>
            </a:r>
          </a:p>
          <a:p>
            <a:pPr algn="l">
              <a:buFont typeface=""/>
              <a:buChar char="•"/>
            </a:pPr>
            <a:r>
              <a:rPr lang="en-US" b="0" i="0">
                <a:latin typeface="-apple-system"/>
                <a:ea typeface="-apple-system"/>
                <a:cs typeface="-apple-system"/>
              </a:rPr>
              <a:t>✅ </a:t>
            </a:r>
            <a:r>
              <a:rPr lang="en-US" b="1" i="0">
                <a:latin typeface="-apple-system"/>
                <a:ea typeface="-apple-system"/>
                <a:cs typeface="-apple-system"/>
              </a:rPr>
              <a:t>We PROFILE all dimensions</a:t>
            </a:r>
            <a:r>
              <a:rPr lang="en-US" b="0" i="0">
                <a:latin typeface="-apple-system"/>
                <a:ea typeface="-apple-system"/>
                <a:cs typeface="-apple-system"/>
              </a:rPr>
              <a:t> (star ratings, accommodation types, stay patterns) to understand the full market</a:t>
            </a:r>
          </a:p>
          <a:p>
            <a:pPr algn="l">
              <a:buFont typeface=""/>
              <a:buChar char="•"/>
            </a:pPr>
            <a:r>
              <a:rPr lang="en-US" b="0" i="0">
                <a:latin typeface="-apple-system"/>
                <a:ea typeface="-apple-system"/>
                <a:cs typeface="-apple-system"/>
              </a:rPr>
              <a:t>🎯 </a:t>
            </a:r>
            <a:r>
              <a:rPr lang="en-US" b="1" i="0">
                <a:latin typeface="-apple-system"/>
                <a:ea typeface="-apple-system"/>
                <a:cs typeface="-apple-system"/>
              </a:rPr>
              <a:t>We CATEGORIZE on core dynamics</a:t>
            </a:r>
            <a:r>
              <a:rPr lang="en-US" b="0" i="0">
                <a:latin typeface="-apple-system"/>
                <a:ea typeface="-apple-system"/>
                <a:cs typeface="-apple-system"/>
              </a:rPr>
              <a:t> (price trends + booking timing) that determine urgency viability</a:t>
            </a:r>
          </a:p>
          <a:p>
            <a:pPr algn="ctr"/>
            <a:endParaRPr lang="en-US"/>
          </a:p>
        </p:txBody>
      </p:sp>
      <p:sp>
        <p:nvSpPr>
          <p:cNvPr id="5" name="TextBox 4">
            <a:extLst>
              <a:ext uri="{FF2B5EF4-FFF2-40B4-BE49-F238E27FC236}">
                <a16:creationId xmlns:a16="http://schemas.microsoft.com/office/drawing/2014/main" id="{16798A62-9A1A-78E7-0CF1-2ADD8E6BE06F}"/>
              </a:ext>
            </a:extLst>
          </p:cNvPr>
          <p:cNvSpPr txBox="1"/>
          <p:nvPr/>
        </p:nvSpPr>
        <p:spPr>
          <a:xfrm>
            <a:off x="601580" y="4551948"/>
            <a:ext cx="11282946" cy="203132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Think of it this way:</a:t>
            </a:r>
          </a:p>
          <a:p>
            <a:pPr algn="l">
              <a:buFont typeface=""/>
              <a:buChar char="•"/>
            </a:pPr>
            <a:r>
              <a:rPr lang="en-US" b="0" i="0">
                <a:latin typeface="-apple-system"/>
                <a:ea typeface="-apple-system"/>
                <a:cs typeface="-apple-system"/>
              </a:rPr>
              <a:t>Layer 1 = The </a:t>
            </a:r>
            <a:r>
              <a:rPr lang="en-US" b="1" i="0">
                <a:latin typeface="-apple-system"/>
                <a:ea typeface="-apple-system"/>
                <a:cs typeface="-apple-system"/>
              </a:rPr>
              <a:t>weather</a:t>
            </a:r>
            <a:r>
              <a:rPr lang="en-US" b="0" i="0">
                <a:latin typeface="-apple-system"/>
                <a:ea typeface="-apple-system"/>
                <a:cs typeface="-apple-system"/>
              </a:rPr>
              <a:t> (market dynamics - price trends, timing urgency, supply constraints)</a:t>
            </a:r>
          </a:p>
          <a:p>
            <a:pPr algn="l">
              <a:buFont typeface=""/>
              <a:buChar char="•"/>
            </a:pPr>
            <a:r>
              <a:rPr lang="en-US" b="0" i="0">
                <a:latin typeface="-apple-system"/>
                <a:ea typeface="-apple-system"/>
                <a:cs typeface="-apple-system"/>
              </a:rPr>
              <a:t>Layer 2 = What </a:t>
            </a:r>
            <a:r>
              <a:rPr lang="en-US" b="1" i="0">
                <a:latin typeface="-apple-system"/>
                <a:ea typeface="-apple-system"/>
                <a:cs typeface="-apple-system"/>
              </a:rPr>
              <a:t>you wear</a:t>
            </a:r>
            <a:r>
              <a:rPr lang="en-US" b="0" i="0">
                <a:latin typeface="-apple-system"/>
                <a:ea typeface="-apple-system"/>
                <a:cs typeface="-apple-system"/>
              </a:rPr>
              <a:t> in that weather (customer psychology)</a:t>
            </a:r>
          </a:p>
          <a:p>
            <a:pPr algn="l"/>
            <a:r>
              <a:rPr lang="en-US" b="1" i="0">
                <a:latin typeface="-apple-system"/>
                <a:ea typeface="-apple-system"/>
                <a:cs typeface="-apple-system"/>
              </a:rPr>
              <a:t>Layer 1 isn't about individual properties or customer types - it's about the MACRO FORCES that make urgency valid or invalid.</a:t>
            </a:r>
          </a:p>
          <a:p>
            <a:endParaRPr lang="en-US"/>
          </a:p>
          <a:p>
            <a:pPr algn="ctr"/>
            <a:endParaRPr lang="en-US"/>
          </a:p>
        </p:txBody>
      </p:sp>
    </p:spTree>
    <p:extLst>
      <p:ext uri="{BB962C8B-B14F-4D97-AF65-F5344CB8AC3E}">
        <p14:creationId xmlns:p14="http://schemas.microsoft.com/office/powerpoint/2010/main" val="5050301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40C5528-7436-75FA-94EB-88B45C5A81A9}"/>
              </a:ext>
            </a:extLst>
          </p:cNvPr>
          <p:cNvSpPr txBox="1"/>
          <p:nvPr/>
        </p:nvSpPr>
        <p:spPr>
          <a:xfrm>
            <a:off x="762001" y="245806"/>
            <a:ext cx="10962967" cy="507831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b="1" i="0">
                <a:latin typeface="-apple-system"/>
                <a:ea typeface="-apple-system"/>
                <a:cs typeface="-apple-system"/>
              </a:rPr>
              <a:t>The 4 Market Dynamics Types</a:t>
            </a:r>
          </a:p>
          <a:p>
            <a:pPr algn="l"/>
            <a:r>
              <a:rPr lang="en-US" b="1" i="0">
                <a:latin typeface="-apple-system"/>
                <a:ea typeface="-apple-system"/>
                <a:cs typeface="-apple-system"/>
              </a:rPr>
              <a:t>🟢 Type 1: PRICE ESCALATION MARKETS</a:t>
            </a:r>
          </a:p>
          <a:p>
            <a:pPr algn="l"/>
            <a:r>
              <a:rPr lang="en-US" b="1" i="0">
                <a:latin typeface="-apple-system"/>
                <a:ea typeface="-apple-system"/>
                <a:cs typeface="-apple-system"/>
              </a:rPr>
              <a:t>Core dynamic:</a:t>
            </a:r>
            <a:r>
              <a:rPr lang="en-US" b="0" i="0">
                <a:latin typeface="-apple-system"/>
                <a:ea typeface="-apple-system"/>
                <a:cs typeface="-apple-system"/>
              </a:rPr>
              <a:t> Rising prices + short booking windows = Time pressure works</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HIGH</a:t>
            </a:r>
            <a:r>
              <a:rPr lang="en-US" b="0" i="0">
                <a:latin typeface="-apple-system"/>
                <a:ea typeface="-apple-system"/>
                <a:cs typeface="-apple-system"/>
              </a:rPr>
              <a:t> - Price urgency is credible and motivating</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"Price increased $45 in last 24 hours"</a:t>
            </a:r>
          </a:p>
          <a:p>
            <a:pPr algn="l"/>
            <a:r>
              <a:rPr lang="en-US" b="1" i="0">
                <a:latin typeface="-apple-system"/>
                <a:ea typeface="-apple-system"/>
                <a:cs typeface="-apple-system"/>
              </a:rPr>
              <a:t>🟡 Type 2: AVAILABILITY URGENCY MARKETS</a:t>
            </a:r>
          </a:p>
          <a:p>
            <a:pPr algn="l"/>
            <a:r>
              <a:rPr lang="en-US" b="1" i="0">
                <a:latin typeface="-apple-system"/>
                <a:ea typeface="-apple-system"/>
                <a:cs typeface="-apple-system"/>
              </a:rPr>
              <a:t>Core dynamic:</a:t>
            </a:r>
            <a:r>
              <a:rPr lang="en-US" b="0" i="0">
                <a:latin typeface="-apple-system"/>
                <a:ea typeface="-apple-system"/>
                <a:cs typeface="-apple-system"/>
              </a:rPr>
              <a:t> Declining prices BUT tight supply = Scarcity trumps price</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MEDIUM</a:t>
            </a:r>
            <a:r>
              <a:rPr lang="en-US" b="0" i="0">
                <a:latin typeface="-apple-system"/>
                <a:ea typeface="-apple-system"/>
                <a:cs typeface="-apple-system"/>
              </a:rPr>
              <a:t> - Availability urgency works (NOT price urgency)</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"Only 3 rooms left for your dates"</a:t>
            </a:r>
          </a:p>
          <a:p>
            <a:pPr algn="l"/>
            <a:r>
              <a:rPr lang="en-US" b="1" i="0">
                <a:latin typeface="-apple-system"/>
                <a:ea typeface="-apple-system"/>
                <a:cs typeface="-apple-system"/>
              </a:rPr>
              <a:t>🟠 Type 3: STABLE PLANNING MARKETS</a:t>
            </a:r>
          </a:p>
          <a:p>
            <a:pPr algn="l"/>
            <a:r>
              <a:rPr lang="en-US" b="1" i="0">
                <a:latin typeface="-apple-system"/>
                <a:ea typeface="-apple-system"/>
                <a:cs typeface="-apple-system"/>
              </a:rPr>
              <a:t>Core dynamic:</a:t>
            </a:r>
            <a:r>
              <a:rPr lang="en-US" b="0" i="0">
                <a:latin typeface="-apple-system"/>
                <a:ea typeface="-apple-system"/>
                <a:cs typeface="-apple-system"/>
              </a:rPr>
              <a:t> Stable prices + moderate booking windows = Low urgency environment</a:t>
            </a:r>
            <a:br>
              <a:rPr lang="en-US" b="0" i="0" dirty="0">
                <a:latin typeface="-apple-system"/>
                <a:ea typeface="-apple-system"/>
                <a:cs typeface="-apple-system"/>
              </a:rPr>
            </a:br>
            <a:r>
              <a:rPr lang="en-US" b="1" i="0">
                <a:latin typeface="-apple-system"/>
                <a:ea typeface="-apple-system"/>
                <a:cs typeface="-apple-system"/>
              </a:rPr>
              <a:t>Urgency validity:</a:t>
            </a:r>
            <a:r>
              <a:rPr lang="en-US" b="0" i="0">
                <a:latin typeface="-apple-system"/>
                <a:ea typeface="-apple-system"/>
                <a:cs typeface="-apple-system"/>
              </a:rPr>
              <a:t> ⚠️ </a:t>
            </a:r>
            <a:r>
              <a:rPr lang="en-US" b="1" i="0">
                <a:latin typeface="-apple-system"/>
                <a:ea typeface="-apple-system"/>
                <a:cs typeface="-apple-system"/>
              </a:rPr>
              <a:t>LOW</a:t>
            </a:r>
            <a:r>
              <a:rPr lang="en-US" b="0" i="0">
                <a:latin typeface="-apple-system"/>
                <a:ea typeface="-apple-system"/>
                <a:cs typeface="-apple-system"/>
              </a:rPr>
              <a:t> - Soft urgency only (social proof)</a:t>
            </a:r>
            <a:br>
              <a:rPr lang="en-US" b="0" i="0" dirty="0">
                <a:latin typeface="-apple-system"/>
                <a:ea typeface="-apple-system"/>
                <a:cs typeface="-apple-system"/>
              </a:rPr>
            </a:br>
            <a:r>
              <a:rPr lang="en-US" b="1" i="0">
                <a:latin typeface="-apple-system"/>
                <a:ea typeface="-apple-system"/>
                <a:cs typeface="-apple-system"/>
              </a:rPr>
              <a:t>Example message:</a:t>
            </a:r>
            <a:r>
              <a:rPr lang="en-US" b="0" i="0">
                <a:latin typeface="-apple-system"/>
                <a:ea typeface="-apple-system"/>
                <a:cs typeface="-apple-system"/>
              </a:rPr>
              <a:t> "23 people booked this property today"</a:t>
            </a:r>
          </a:p>
          <a:p>
            <a:pPr algn="l"/>
            <a:r>
              <a:rPr lang="en-US" b="1" i="0">
                <a:latin typeface="-apple-system"/>
                <a:ea typeface="-apple-system"/>
                <a:cs typeface="-apple-system"/>
              </a:rPr>
              <a:t>⚪ Type 4: ADVANCE BOOKING MARKETS</a:t>
            </a:r>
          </a:p>
          <a:p>
            <a:pPr algn="l"/>
            <a:r>
              <a:rPr lang="en-US" b="1" i="0" dirty="0">
                <a:latin typeface="-apple-system"/>
                <a:ea typeface="-apple-system"/>
                <a:cs typeface="-apple-system"/>
              </a:rPr>
              <a:t>Core dynamic:</a:t>
            </a:r>
            <a:r>
              <a:rPr lang="en-US" b="0" i="0" dirty="0">
                <a:latin typeface="-apple-system"/>
                <a:ea typeface="-apple-system"/>
                <a:cs typeface="-apple-system"/>
              </a:rPr>
              <a:t> Long booking windows = Customers planned ahead to AVOID urgency</a:t>
            </a:r>
            <a:br>
              <a:rPr lang="en-US" b="0" i="0" dirty="0">
                <a:latin typeface="-apple-system"/>
                <a:ea typeface="-apple-system"/>
                <a:cs typeface="-apple-system"/>
              </a:rPr>
            </a:br>
            <a:r>
              <a:rPr lang="en-US" b="1" i="0" dirty="0">
                <a:latin typeface="-apple-system"/>
                <a:ea typeface="-apple-system"/>
                <a:cs typeface="-apple-system"/>
              </a:rPr>
              <a:t>Urgency validity:</a:t>
            </a:r>
            <a:r>
              <a:rPr lang="en-US" b="0" i="0" dirty="0">
                <a:latin typeface="-apple-system"/>
                <a:ea typeface="-apple-system"/>
                <a:cs typeface="-apple-system"/>
              </a:rPr>
              <a:t> ❌ </a:t>
            </a:r>
            <a:r>
              <a:rPr lang="en-US" b="1" i="0" dirty="0">
                <a:latin typeface="-apple-system"/>
                <a:ea typeface="-apple-system"/>
                <a:cs typeface="-apple-system"/>
              </a:rPr>
              <a:t>NONE</a:t>
            </a:r>
            <a:r>
              <a:rPr lang="en-US" b="0" i="0" dirty="0">
                <a:latin typeface="-apple-system"/>
                <a:ea typeface="-apple-system"/>
                <a:cs typeface="-apple-system"/>
              </a:rPr>
              <a:t> - Reassurance messaging instead</a:t>
            </a:r>
            <a:br>
              <a:rPr lang="en-US" b="0" i="0" dirty="0">
                <a:latin typeface="-apple-system"/>
                <a:ea typeface="-apple-system"/>
                <a:cs typeface="-apple-system"/>
              </a:rPr>
            </a:br>
            <a:r>
              <a:rPr lang="en-US" b="1" i="0" dirty="0">
                <a:latin typeface="-apple-system"/>
                <a:ea typeface="-apple-system"/>
                <a:cs typeface="-apple-system"/>
              </a:rPr>
              <a:t>Example message:</a:t>
            </a:r>
            <a:r>
              <a:rPr lang="en-US" b="0" i="0" dirty="0">
                <a:latin typeface="-apple-system"/>
                <a:ea typeface="-apple-system"/>
                <a:cs typeface="-apple-system"/>
              </a:rPr>
              <a:t> "Best price guarantee + free cancellation until 48h before"</a:t>
            </a:r>
          </a:p>
          <a:p>
            <a:pPr algn="ctr"/>
            <a:endParaRPr lang="en-US"/>
          </a:p>
        </p:txBody>
      </p:sp>
      <p:sp>
        <p:nvSpPr>
          <p:cNvPr id="5" name="TextBox 4">
            <a:extLst>
              <a:ext uri="{FF2B5EF4-FFF2-40B4-BE49-F238E27FC236}">
                <a16:creationId xmlns:a16="http://schemas.microsoft.com/office/drawing/2014/main" id="{2B5EAE82-7BD7-B821-2647-D78A88554210}"/>
              </a:ext>
            </a:extLst>
          </p:cNvPr>
          <p:cNvSpPr txBox="1"/>
          <p:nvPr/>
        </p:nvSpPr>
        <p:spPr>
          <a:xfrm>
            <a:off x="3048000" y="5555226"/>
            <a:ext cx="5788742" cy="80021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800" b="1" i="0" u="none" strike="noStrike" baseline="0">
                <a:solidFill>
                  <a:srgbClr val="000000"/>
                </a:solidFill>
                <a:latin typeface="-apple-system"/>
              </a:rPr>
              <a:t>Let's validate this with data...</a:t>
            </a:r>
            <a:r>
              <a:rPr sz="2800" b="1" i="0">
                <a:solidFill>
                  <a:srgbClr val="000000"/>
                </a:solidFill>
                <a:latin typeface="-apple-system"/>
                <a:ea typeface="-apple-system"/>
                <a:cs typeface="-apple-system"/>
              </a:rPr>
              <a:t>​</a:t>
            </a:r>
            <a:endParaRPr lang="en-US" sz="2800" b="1"/>
          </a:p>
          <a:p>
            <a:pPr algn="ctr"/>
            <a:endParaRPr lang="en-US"/>
          </a:p>
        </p:txBody>
      </p:sp>
    </p:spTree>
    <p:extLst>
      <p:ext uri="{BB962C8B-B14F-4D97-AF65-F5344CB8AC3E}">
        <p14:creationId xmlns:p14="http://schemas.microsoft.com/office/powerpoint/2010/main" val="17485875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3DCB3-3D65-E827-22EF-0EEBCBFAF6E4}"/>
              </a:ext>
            </a:extLst>
          </p:cNvPr>
          <p:cNvSpPr>
            <a:spLocks noGrp="1"/>
          </p:cNvSpPr>
          <p:nvPr>
            <p:ph type="title"/>
          </p:nvPr>
        </p:nvSpPr>
        <p:spPr/>
        <p:txBody>
          <a:bodyPr>
            <a:normAutofit/>
          </a:bodyPr>
          <a:lstStyle/>
          <a:p>
            <a:r>
              <a:rPr lang="en-US">
                <a:ea typeface="+mj-lt"/>
                <a:cs typeface="+mj-lt"/>
              </a:rPr>
              <a:t>COMPREHENSIVE MARKET PROFILE</a:t>
            </a:r>
          </a:p>
        </p:txBody>
      </p:sp>
      <p:graphicFrame>
        <p:nvGraphicFramePr>
          <p:cNvPr id="6" name="Table 5">
            <a:extLst>
              <a:ext uri="{FF2B5EF4-FFF2-40B4-BE49-F238E27FC236}">
                <a16:creationId xmlns:a16="http://schemas.microsoft.com/office/drawing/2014/main" id="{1A2C3B8C-D241-54D5-4907-F9AE5675278A}"/>
              </a:ext>
            </a:extLst>
          </p:cNvPr>
          <p:cNvGraphicFramePr>
            <a:graphicFrameLocks noGrp="1"/>
          </p:cNvGraphicFramePr>
          <p:nvPr>
            <p:extLst>
              <p:ext uri="{D42A27DB-BD31-4B8C-83A1-F6EECF244321}">
                <p14:modId xmlns:p14="http://schemas.microsoft.com/office/powerpoint/2010/main" val="3538189005"/>
              </p:ext>
            </p:extLst>
          </p:nvPr>
        </p:nvGraphicFramePr>
        <p:xfrm>
          <a:off x="335798" y="1695773"/>
          <a:ext cx="11288069" cy="4114800"/>
        </p:xfrm>
        <a:graphic>
          <a:graphicData uri="http://schemas.openxmlformats.org/drawingml/2006/table">
            <a:tbl>
              <a:tblPr bandRow="1">
                <a:tableStyleId>{073A0DAA-6AF3-43AB-8588-CEC1D06C72B9}</a:tableStyleId>
              </a:tblPr>
              <a:tblGrid>
                <a:gridCol w="868313">
                  <a:extLst>
                    <a:ext uri="{9D8B030D-6E8A-4147-A177-3AD203B41FA5}">
                      <a16:colId xmlns:a16="http://schemas.microsoft.com/office/drawing/2014/main" val="2488932667"/>
                    </a:ext>
                  </a:extLst>
                </a:gridCol>
                <a:gridCol w="868313">
                  <a:extLst>
                    <a:ext uri="{9D8B030D-6E8A-4147-A177-3AD203B41FA5}">
                      <a16:colId xmlns:a16="http://schemas.microsoft.com/office/drawing/2014/main" val="3435102721"/>
                    </a:ext>
                  </a:extLst>
                </a:gridCol>
                <a:gridCol w="868313">
                  <a:extLst>
                    <a:ext uri="{9D8B030D-6E8A-4147-A177-3AD203B41FA5}">
                      <a16:colId xmlns:a16="http://schemas.microsoft.com/office/drawing/2014/main" val="2396994580"/>
                    </a:ext>
                  </a:extLst>
                </a:gridCol>
                <a:gridCol w="868313">
                  <a:extLst>
                    <a:ext uri="{9D8B030D-6E8A-4147-A177-3AD203B41FA5}">
                      <a16:colId xmlns:a16="http://schemas.microsoft.com/office/drawing/2014/main" val="3602541016"/>
                    </a:ext>
                  </a:extLst>
                </a:gridCol>
                <a:gridCol w="868313">
                  <a:extLst>
                    <a:ext uri="{9D8B030D-6E8A-4147-A177-3AD203B41FA5}">
                      <a16:colId xmlns:a16="http://schemas.microsoft.com/office/drawing/2014/main" val="994701325"/>
                    </a:ext>
                  </a:extLst>
                </a:gridCol>
                <a:gridCol w="868313">
                  <a:extLst>
                    <a:ext uri="{9D8B030D-6E8A-4147-A177-3AD203B41FA5}">
                      <a16:colId xmlns:a16="http://schemas.microsoft.com/office/drawing/2014/main" val="3733293825"/>
                    </a:ext>
                  </a:extLst>
                </a:gridCol>
                <a:gridCol w="868313">
                  <a:extLst>
                    <a:ext uri="{9D8B030D-6E8A-4147-A177-3AD203B41FA5}">
                      <a16:colId xmlns:a16="http://schemas.microsoft.com/office/drawing/2014/main" val="2862415788"/>
                    </a:ext>
                  </a:extLst>
                </a:gridCol>
                <a:gridCol w="868313">
                  <a:extLst>
                    <a:ext uri="{9D8B030D-6E8A-4147-A177-3AD203B41FA5}">
                      <a16:colId xmlns:a16="http://schemas.microsoft.com/office/drawing/2014/main" val="4142101514"/>
                    </a:ext>
                  </a:extLst>
                </a:gridCol>
                <a:gridCol w="868313">
                  <a:extLst>
                    <a:ext uri="{9D8B030D-6E8A-4147-A177-3AD203B41FA5}">
                      <a16:colId xmlns:a16="http://schemas.microsoft.com/office/drawing/2014/main" val="3753840572"/>
                    </a:ext>
                  </a:extLst>
                </a:gridCol>
                <a:gridCol w="868313">
                  <a:extLst>
                    <a:ext uri="{9D8B030D-6E8A-4147-A177-3AD203B41FA5}">
                      <a16:colId xmlns:a16="http://schemas.microsoft.com/office/drawing/2014/main" val="4266342812"/>
                    </a:ext>
                  </a:extLst>
                </a:gridCol>
                <a:gridCol w="868313">
                  <a:extLst>
                    <a:ext uri="{9D8B030D-6E8A-4147-A177-3AD203B41FA5}">
                      <a16:colId xmlns:a16="http://schemas.microsoft.com/office/drawing/2014/main" val="1985421950"/>
                    </a:ext>
                  </a:extLst>
                </a:gridCol>
                <a:gridCol w="868313">
                  <a:extLst>
                    <a:ext uri="{9D8B030D-6E8A-4147-A177-3AD203B41FA5}">
                      <a16:colId xmlns:a16="http://schemas.microsoft.com/office/drawing/2014/main" val="3452598131"/>
                    </a:ext>
                  </a:extLst>
                </a:gridCol>
                <a:gridCol w="868313">
                  <a:extLst>
                    <a:ext uri="{9D8B030D-6E8A-4147-A177-3AD203B41FA5}">
                      <a16:colId xmlns:a16="http://schemas.microsoft.com/office/drawing/2014/main" val="1258097174"/>
                    </a:ext>
                  </a:extLst>
                </a:gridCol>
              </a:tblGrid>
              <a:tr h="0">
                <a:tc>
                  <a:txBody>
                    <a:bodyPr/>
                    <a:lstStyle/>
                    <a:p>
                      <a:pPr>
                        <a:buNone/>
                      </a:pPr>
                      <a:r>
                        <a:rPr lang="en-US"/>
                        <a:t>City</a:t>
                      </a:r>
                    </a:p>
                  </a:txBody>
                  <a:tcPr anchor="ctr"/>
                </a:tc>
                <a:tc>
                  <a:txBody>
                    <a:bodyPr/>
                    <a:lstStyle/>
                    <a:p>
                      <a:pPr>
                        <a:buNone/>
                      </a:pPr>
                      <a:r>
                        <a:rPr lang="en-US"/>
                        <a:t>Bookings</a:t>
                      </a:r>
                    </a:p>
                  </a:txBody>
                  <a:tcPr anchor="ctr"/>
                </a:tc>
                <a:tc>
                  <a:txBody>
                    <a:bodyPr/>
                    <a:lstStyle/>
                    <a:p>
                      <a:pPr>
                        <a:buNone/>
                      </a:pPr>
                      <a:r>
                        <a:rPr lang="en-US"/>
                        <a:t>Avg Price</a:t>
                      </a:r>
                    </a:p>
                  </a:txBody>
                  <a:tcPr anchor="ctr"/>
                </a:tc>
                <a:tc>
                  <a:txBody>
                    <a:bodyPr/>
                    <a:lstStyle/>
                    <a:p>
                      <a:pPr>
                        <a:buNone/>
                      </a:pPr>
                      <a:r>
                        <a:rPr lang="en-US"/>
                        <a:t>Median Price</a:t>
                      </a:r>
                    </a:p>
                  </a:txBody>
                  <a:tcPr anchor="ctr"/>
                </a:tc>
                <a:tc>
                  <a:txBody>
                    <a:bodyPr/>
                    <a:lstStyle/>
                    <a:p>
                      <a:pPr>
                        <a:buNone/>
                      </a:pPr>
                      <a:r>
                        <a:rPr lang="en-US"/>
                        <a:t>Price Volatility</a:t>
                      </a:r>
                    </a:p>
                  </a:txBody>
                  <a:tcPr anchor="ctr"/>
                </a:tc>
                <a:tc>
                  <a:txBody>
                    <a:bodyPr/>
                    <a:lstStyle/>
                    <a:p>
                      <a:pPr>
                        <a:buNone/>
                      </a:pPr>
                      <a:r>
                        <a:rPr lang="en-US"/>
                        <a:t>Price Trend</a:t>
                      </a:r>
                    </a:p>
                  </a:txBody>
                  <a:tcPr anchor="ctr"/>
                </a:tc>
                <a:tc>
                  <a:txBody>
                    <a:bodyPr/>
                    <a:lstStyle/>
                    <a:p>
                      <a:pPr>
                        <a:buNone/>
                      </a:pPr>
                      <a:r>
                        <a:rPr lang="en-US"/>
                        <a:t>Avg Lead Time</a:t>
                      </a:r>
                    </a:p>
                  </a:txBody>
                  <a:tcPr anchor="ctr"/>
                </a:tc>
                <a:tc>
                  <a:txBody>
                    <a:bodyPr/>
                    <a:lstStyle/>
                    <a:p>
                      <a:pPr>
                        <a:buNone/>
                      </a:pPr>
                      <a:r>
                        <a:rPr lang="en-US"/>
                        <a:t>Median Lead</a:t>
                      </a:r>
                    </a:p>
                  </a:txBody>
                  <a:tcPr anchor="ctr"/>
                </a:tc>
                <a:tc>
                  <a:txBody>
                    <a:bodyPr/>
                    <a:lstStyle/>
                    <a:p>
                      <a:pPr>
                        <a:buNone/>
                      </a:pPr>
                      <a:r>
                        <a:rPr lang="en-US"/>
                        <a:t>Last-Minute %</a:t>
                      </a:r>
                    </a:p>
                  </a:txBody>
                  <a:tcPr anchor="ctr"/>
                </a:tc>
                <a:tc>
                  <a:txBody>
                    <a:bodyPr/>
                    <a:lstStyle/>
                    <a:p>
                      <a:pPr>
                        <a:buNone/>
                      </a:pPr>
                      <a:r>
                        <a:rPr lang="en-US"/>
                        <a:t>Very Urgent %</a:t>
                      </a:r>
                    </a:p>
                  </a:txBody>
                  <a:tcPr anchor="ctr"/>
                </a:tc>
                <a:tc>
                  <a:txBody>
                    <a:bodyPr/>
                    <a:lstStyle/>
                    <a:p>
                      <a:pPr>
                        <a:buNone/>
                      </a:pPr>
                      <a:r>
                        <a:rPr lang="en-US"/>
                        <a:t>Avg Stay</a:t>
                      </a:r>
                    </a:p>
                  </a:txBody>
                  <a:tcPr anchor="ctr"/>
                </a:tc>
                <a:tc>
                  <a:txBody>
                    <a:bodyPr/>
                    <a:lstStyle/>
                    <a:p>
                      <a:pPr>
                        <a:buNone/>
                      </a:pPr>
                      <a:r>
                        <a:rPr lang="en-US"/>
                        <a:t>Avg Stars</a:t>
                      </a:r>
                    </a:p>
                  </a:txBody>
                  <a:tcPr anchor="ctr"/>
                </a:tc>
                <a:tc>
                  <a:txBody>
                    <a:bodyPr/>
                    <a:lstStyle/>
                    <a:p>
                      <a:pPr>
                        <a:buNone/>
                      </a:pPr>
                      <a:r>
                        <a:rPr lang="en-US"/>
                        <a:t>Weekend %</a:t>
                      </a:r>
                    </a:p>
                  </a:txBody>
                  <a:tcPr anchor="ctr"/>
                </a:tc>
                <a:extLst>
                  <a:ext uri="{0D108BD9-81ED-4DB2-BD59-A6C34878D82A}">
                    <a16:rowId xmlns:a16="http://schemas.microsoft.com/office/drawing/2014/main" val="192012469"/>
                  </a:ext>
                </a:extLst>
              </a:tr>
              <a:tr h="0">
                <a:tc>
                  <a:txBody>
                    <a:bodyPr/>
                    <a:lstStyle/>
                    <a:p>
                      <a:pPr>
                        <a:buNone/>
                      </a:pPr>
                      <a:r>
                        <a:rPr lang="en-US"/>
                        <a:t>City A</a:t>
                      </a:r>
                    </a:p>
                  </a:txBody>
                  <a:tcPr anchor="ctr"/>
                </a:tc>
                <a:tc>
                  <a:txBody>
                    <a:bodyPr/>
                    <a:lstStyle/>
                    <a:p>
                      <a:pPr>
                        <a:buNone/>
                      </a:pPr>
                      <a:r>
                        <a:rPr lang="en-US"/>
                        <a:t>22,363</a:t>
                      </a:r>
                    </a:p>
                  </a:txBody>
                  <a:tcPr anchor="ctr"/>
                </a:tc>
                <a:tc>
                  <a:txBody>
                    <a:bodyPr/>
                    <a:lstStyle/>
                    <a:p>
                      <a:pPr>
                        <a:buNone/>
                      </a:pPr>
                      <a:r>
                        <a:rPr lang="en-US"/>
                        <a:t>$100 </a:t>
                      </a:r>
                    </a:p>
                  </a:txBody>
                  <a:tcPr anchor="ctr"/>
                </a:tc>
                <a:tc>
                  <a:txBody>
                    <a:bodyPr/>
                    <a:lstStyle/>
                    <a:p>
                      <a:pPr>
                        <a:buNone/>
                      </a:pPr>
                      <a:r>
                        <a:rPr lang="en-US"/>
                        <a:t>$84 </a:t>
                      </a:r>
                    </a:p>
                  </a:txBody>
                  <a:tcPr anchor="ctr"/>
                </a:tc>
                <a:tc>
                  <a:txBody>
                    <a:bodyPr/>
                    <a:lstStyle/>
                    <a:p>
                      <a:pPr>
                        <a:buNone/>
                      </a:pPr>
                      <a:r>
                        <a:rPr lang="en-US"/>
                        <a:t>$66 </a:t>
                      </a:r>
                    </a:p>
                  </a:txBody>
                  <a:tcPr anchor="ctr"/>
                </a:tc>
                <a:tc>
                  <a:txBody>
                    <a:bodyPr/>
                    <a:lstStyle/>
                    <a:p>
                      <a:pPr>
                        <a:buNone/>
                      </a:pPr>
                      <a:r>
                        <a:rPr lang="en-US"/>
                        <a:t>-4.10%</a:t>
                      </a:r>
                    </a:p>
                  </a:txBody>
                  <a:tcPr anchor="ctr"/>
                </a:tc>
                <a:tc>
                  <a:txBody>
                    <a:bodyPr/>
                    <a:lstStyle/>
                    <a:p>
                      <a:pPr>
                        <a:buNone/>
                      </a:pPr>
                      <a:r>
                        <a:rPr lang="en-US"/>
                        <a:t>13.3d</a:t>
                      </a:r>
                    </a:p>
                  </a:txBody>
                  <a:tcPr anchor="ctr"/>
                </a:tc>
                <a:tc>
                  <a:txBody>
                    <a:bodyPr/>
                    <a:lstStyle/>
                    <a:p>
                      <a:pPr>
                        <a:buNone/>
                      </a:pPr>
                      <a:r>
                        <a:rPr lang="en-US"/>
                        <a:t>7d</a:t>
                      </a:r>
                    </a:p>
                  </a:txBody>
                  <a:tcPr anchor="ctr"/>
                </a:tc>
                <a:tc>
                  <a:txBody>
                    <a:bodyPr/>
                    <a:lstStyle/>
                    <a:p>
                      <a:pPr>
                        <a:buNone/>
                      </a:pPr>
                      <a:r>
                        <a:rPr lang="en-US"/>
                        <a:t>51.50%</a:t>
                      </a:r>
                    </a:p>
                  </a:txBody>
                  <a:tcPr anchor="ctr"/>
                </a:tc>
                <a:tc>
                  <a:txBody>
                    <a:bodyPr/>
                    <a:lstStyle/>
                    <a:p>
                      <a:pPr>
                        <a:buNone/>
                      </a:pPr>
                      <a:r>
                        <a:rPr lang="en-US"/>
                        <a:t>32.20%</a:t>
                      </a:r>
                    </a:p>
                  </a:txBody>
                  <a:tcPr anchor="ctr"/>
                </a:tc>
                <a:tc>
                  <a:txBody>
                    <a:bodyPr/>
                    <a:lstStyle/>
                    <a:p>
                      <a:pPr>
                        <a:buNone/>
                      </a:pPr>
                      <a:r>
                        <a:rPr lang="en-US"/>
                        <a:t>1.6n</a:t>
                      </a:r>
                    </a:p>
                  </a:txBody>
                  <a:tcPr anchor="ctr"/>
                </a:tc>
                <a:tc>
                  <a:txBody>
                    <a:bodyPr/>
                    <a:lstStyle/>
                    <a:p>
                      <a:pPr>
                        <a:buNone/>
                      </a:pPr>
                      <a:r>
                        <a:rPr lang="en-US"/>
                        <a:t>3.6⭐</a:t>
                      </a:r>
                    </a:p>
                  </a:txBody>
                  <a:tcPr anchor="ctr"/>
                </a:tc>
                <a:tc>
                  <a:txBody>
                    <a:bodyPr/>
                    <a:lstStyle/>
                    <a:p>
                      <a:pPr>
                        <a:buNone/>
                      </a:pPr>
                      <a:r>
                        <a:rPr lang="en-US"/>
                        <a:t>31%</a:t>
                      </a:r>
                    </a:p>
                  </a:txBody>
                  <a:tcPr anchor="ctr"/>
                </a:tc>
                <a:extLst>
                  <a:ext uri="{0D108BD9-81ED-4DB2-BD59-A6C34878D82A}">
                    <a16:rowId xmlns:a16="http://schemas.microsoft.com/office/drawing/2014/main" val="481919856"/>
                  </a:ext>
                </a:extLst>
              </a:tr>
              <a:tr h="0">
                <a:tc>
                  <a:txBody>
                    <a:bodyPr/>
                    <a:lstStyle/>
                    <a:p>
                      <a:pPr>
                        <a:buNone/>
                      </a:pPr>
                      <a:r>
                        <a:rPr lang="en-US"/>
                        <a:t>City B</a:t>
                      </a:r>
                    </a:p>
                  </a:txBody>
                  <a:tcPr anchor="ctr"/>
                </a:tc>
                <a:tc>
                  <a:txBody>
                    <a:bodyPr/>
                    <a:lstStyle/>
                    <a:p>
                      <a:pPr>
                        <a:buNone/>
                      </a:pPr>
                      <a:r>
                        <a:rPr lang="en-US"/>
                        <a:t>4,902</a:t>
                      </a:r>
                    </a:p>
                  </a:txBody>
                  <a:tcPr anchor="ctr"/>
                </a:tc>
                <a:tc>
                  <a:txBody>
                    <a:bodyPr/>
                    <a:lstStyle/>
                    <a:p>
                      <a:pPr>
                        <a:buNone/>
                      </a:pPr>
                      <a:r>
                        <a:rPr lang="en-US"/>
                        <a:t>$112 </a:t>
                      </a:r>
                    </a:p>
                  </a:txBody>
                  <a:tcPr anchor="ctr"/>
                </a:tc>
                <a:tc>
                  <a:txBody>
                    <a:bodyPr/>
                    <a:lstStyle/>
                    <a:p>
                      <a:pPr>
                        <a:buNone/>
                      </a:pPr>
                      <a:r>
                        <a:rPr lang="en-US"/>
                        <a:t>$79 </a:t>
                      </a:r>
                    </a:p>
                  </a:txBody>
                  <a:tcPr anchor="ctr"/>
                </a:tc>
                <a:tc>
                  <a:txBody>
                    <a:bodyPr/>
                    <a:lstStyle/>
                    <a:p>
                      <a:pPr>
                        <a:buNone/>
                      </a:pPr>
                      <a:r>
                        <a:rPr lang="en-US"/>
                        <a:t>$100 </a:t>
                      </a:r>
                    </a:p>
                  </a:txBody>
                  <a:tcPr anchor="ctr"/>
                </a:tc>
                <a:tc>
                  <a:txBody>
                    <a:bodyPr/>
                    <a:lstStyle/>
                    <a:p>
                      <a:pPr>
                        <a:buNone/>
                      </a:pPr>
                      <a:r>
                        <a:rPr lang="en-US"/>
                        <a:t>-2.80%</a:t>
                      </a:r>
                    </a:p>
                  </a:txBody>
                  <a:tcPr anchor="ctr"/>
                </a:tc>
                <a:tc>
                  <a:txBody>
                    <a:bodyPr/>
                    <a:lstStyle/>
                    <a:p>
                      <a:pPr>
                        <a:buNone/>
                      </a:pPr>
                      <a:r>
                        <a:rPr lang="en-US"/>
                        <a:t>13.8d</a:t>
                      </a:r>
                    </a:p>
                  </a:txBody>
                  <a:tcPr anchor="ctr"/>
                </a:tc>
                <a:tc>
                  <a:txBody>
                    <a:bodyPr/>
                    <a:lstStyle/>
                    <a:p>
                      <a:pPr>
                        <a:buNone/>
                      </a:pPr>
                      <a:r>
                        <a:rPr lang="en-US"/>
                        <a:t>6d</a:t>
                      </a:r>
                    </a:p>
                  </a:txBody>
                  <a:tcPr anchor="ctr"/>
                </a:tc>
                <a:tc>
                  <a:txBody>
                    <a:bodyPr/>
                    <a:lstStyle/>
                    <a:p>
                      <a:pPr>
                        <a:buNone/>
                      </a:pPr>
                      <a:r>
                        <a:rPr lang="en-US"/>
                        <a:t>52.80%</a:t>
                      </a:r>
                    </a:p>
                  </a:txBody>
                  <a:tcPr anchor="ctr"/>
                </a:tc>
                <a:tc>
                  <a:txBody>
                    <a:bodyPr/>
                    <a:lstStyle/>
                    <a:p>
                      <a:pPr>
                        <a:buNone/>
                      </a:pPr>
                      <a:r>
                        <a:rPr lang="en-US"/>
                        <a:t>37.20%</a:t>
                      </a:r>
                    </a:p>
                  </a:txBody>
                  <a:tcPr anchor="ctr"/>
                </a:tc>
                <a:tc>
                  <a:txBody>
                    <a:bodyPr/>
                    <a:lstStyle/>
                    <a:p>
                      <a:pPr>
                        <a:buNone/>
                      </a:pPr>
                      <a:r>
                        <a:rPr lang="en-US"/>
                        <a:t>1.8n</a:t>
                      </a:r>
                    </a:p>
                  </a:txBody>
                  <a:tcPr anchor="ctr"/>
                </a:tc>
                <a:tc>
                  <a:txBody>
                    <a:bodyPr/>
                    <a:lstStyle/>
                    <a:p>
                      <a:pPr>
                        <a:buNone/>
                      </a:pPr>
                      <a:r>
                        <a:rPr lang="en-US"/>
                        <a:t>3.3⭐</a:t>
                      </a:r>
                    </a:p>
                  </a:txBody>
                  <a:tcPr anchor="ctr"/>
                </a:tc>
                <a:tc>
                  <a:txBody>
                    <a:bodyPr/>
                    <a:lstStyle/>
                    <a:p>
                      <a:pPr>
                        <a:buNone/>
                      </a:pPr>
                      <a:r>
                        <a:rPr lang="en-US"/>
                        <a:t>31%</a:t>
                      </a:r>
                    </a:p>
                  </a:txBody>
                  <a:tcPr anchor="ctr"/>
                </a:tc>
                <a:extLst>
                  <a:ext uri="{0D108BD9-81ED-4DB2-BD59-A6C34878D82A}">
                    <a16:rowId xmlns:a16="http://schemas.microsoft.com/office/drawing/2014/main" val="4067834690"/>
                  </a:ext>
                </a:extLst>
              </a:tr>
              <a:tr h="0">
                <a:tc>
                  <a:txBody>
                    <a:bodyPr/>
                    <a:lstStyle/>
                    <a:p>
                      <a:pPr>
                        <a:buNone/>
                      </a:pPr>
                      <a:r>
                        <a:rPr lang="en-US"/>
                        <a:t>City C</a:t>
                      </a:r>
                    </a:p>
                  </a:txBody>
                  <a:tcPr anchor="ctr"/>
                </a:tc>
                <a:tc>
                  <a:txBody>
                    <a:bodyPr/>
                    <a:lstStyle/>
                    <a:p>
                      <a:pPr>
                        <a:buNone/>
                      </a:pPr>
                      <a:r>
                        <a:rPr lang="en-US"/>
                        <a:t>6,751</a:t>
                      </a:r>
                    </a:p>
                  </a:txBody>
                  <a:tcPr anchor="ctr"/>
                </a:tc>
                <a:tc>
                  <a:txBody>
                    <a:bodyPr/>
                    <a:lstStyle/>
                    <a:p>
                      <a:pPr>
                        <a:buNone/>
                      </a:pPr>
                      <a:r>
                        <a:rPr lang="en-US"/>
                        <a:t>$215 </a:t>
                      </a:r>
                    </a:p>
                  </a:txBody>
                  <a:tcPr anchor="ctr"/>
                </a:tc>
                <a:tc>
                  <a:txBody>
                    <a:bodyPr/>
                    <a:lstStyle/>
                    <a:p>
                      <a:pPr>
                        <a:buNone/>
                      </a:pPr>
                      <a:r>
                        <a:rPr lang="en-US"/>
                        <a:t>$190 </a:t>
                      </a:r>
                    </a:p>
                  </a:txBody>
                  <a:tcPr anchor="ctr"/>
                </a:tc>
                <a:tc>
                  <a:txBody>
                    <a:bodyPr/>
                    <a:lstStyle/>
                    <a:p>
                      <a:pPr>
                        <a:buNone/>
                      </a:pPr>
                      <a:r>
                        <a:rPr lang="en-US"/>
                        <a:t>$154 </a:t>
                      </a:r>
                    </a:p>
                  </a:txBody>
                  <a:tcPr anchor="ctr"/>
                </a:tc>
                <a:tc>
                  <a:txBody>
                    <a:bodyPr/>
                    <a:lstStyle/>
                    <a:p>
                      <a:pPr>
                        <a:buNone/>
                      </a:pPr>
                      <a:r>
                        <a:rPr lang="en-US"/>
                        <a:t>-4.10%</a:t>
                      </a:r>
                    </a:p>
                  </a:txBody>
                  <a:tcPr anchor="ctr"/>
                </a:tc>
                <a:tc>
                  <a:txBody>
                    <a:bodyPr/>
                    <a:lstStyle/>
                    <a:p>
                      <a:pPr>
                        <a:buNone/>
                      </a:pPr>
                      <a:r>
                        <a:rPr lang="en-US"/>
                        <a:t>20.6d</a:t>
                      </a:r>
                    </a:p>
                  </a:txBody>
                  <a:tcPr anchor="ctr"/>
                </a:tc>
                <a:tc>
                  <a:txBody>
                    <a:bodyPr/>
                    <a:lstStyle/>
                    <a:p>
                      <a:pPr>
                        <a:buNone/>
                      </a:pPr>
                      <a:r>
                        <a:rPr lang="en-US"/>
                        <a:t>16d</a:t>
                      </a:r>
                    </a:p>
                  </a:txBody>
                  <a:tcPr anchor="ctr"/>
                </a:tc>
                <a:tc>
                  <a:txBody>
                    <a:bodyPr/>
                    <a:lstStyle/>
                    <a:p>
                      <a:pPr>
                        <a:buNone/>
                      </a:pPr>
                      <a:r>
                        <a:rPr lang="en-US"/>
                        <a:t>30.10%</a:t>
                      </a:r>
                    </a:p>
                  </a:txBody>
                  <a:tcPr anchor="ctr"/>
                </a:tc>
                <a:tc>
                  <a:txBody>
                    <a:bodyPr/>
                    <a:lstStyle/>
                    <a:p>
                      <a:pPr>
                        <a:buNone/>
                      </a:pPr>
                      <a:r>
                        <a:rPr lang="en-US"/>
                        <a:t>14.10%</a:t>
                      </a:r>
                    </a:p>
                  </a:txBody>
                  <a:tcPr anchor="ctr"/>
                </a:tc>
                <a:tc>
                  <a:txBody>
                    <a:bodyPr/>
                    <a:lstStyle/>
                    <a:p>
                      <a:pPr>
                        <a:buNone/>
                      </a:pPr>
                      <a:r>
                        <a:rPr lang="en-US"/>
                        <a:t>1.8n</a:t>
                      </a:r>
                    </a:p>
                  </a:txBody>
                  <a:tcPr anchor="ctr"/>
                </a:tc>
                <a:tc>
                  <a:txBody>
                    <a:bodyPr/>
                    <a:lstStyle/>
                    <a:p>
                      <a:pPr>
                        <a:buNone/>
                      </a:pPr>
                      <a:r>
                        <a:rPr lang="en-US"/>
                        <a:t>2.7⭐</a:t>
                      </a:r>
                    </a:p>
                  </a:txBody>
                  <a:tcPr anchor="ctr"/>
                </a:tc>
                <a:tc>
                  <a:txBody>
                    <a:bodyPr/>
                    <a:lstStyle/>
                    <a:p>
                      <a:pPr>
                        <a:buNone/>
                      </a:pPr>
                      <a:r>
                        <a:rPr lang="en-US"/>
                        <a:t>33%</a:t>
                      </a:r>
                    </a:p>
                  </a:txBody>
                  <a:tcPr anchor="ctr"/>
                </a:tc>
                <a:extLst>
                  <a:ext uri="{0D108BD9-81ED-4DB2-BD59-A6C34878D82A}">
                    <a16:rowId xmlns:a16="http://schemas.microsoft.com/office/drawing/2014/main" val="3908892199"/>
                  </a:ext>
                </a:extLst>
              </a:tr>
              <a:tr h="0">
                <a:tc>
                  <a:txBody>
                    <a:bodyPr/>
                    <a:lstStyle/>
                    <a:p>
                      <a:pPr>
                        <a:buNone/>
                      </a:pPr>
                      <a:r>
                        <a:rPr lang="en-US"/>
                        <a:t>City D</a:t>
                      </a:r>
                    </a:p>
                  </a:txBody>
                  <a:tcPr anchor="ctr"/>
                </a:tc>
                <a:tc>
                  <a:txBody>
                    <a:bodyPr/>
                    <a:lstStyle/>
                    <a:p>
                      <a:pPr>
                        <a:buNone/>
                      </a:pPr>
                      <a:r>
                        <a:rPr lang="en-US"/>
                        <a:t>10,102</a:t>
                      </a:r>
                    </a:p>
                  </a:txBody>
                  <a:tcPr anchor="ctr"/>
                </a:tc>
                <a:tc>
                  <a:txBody>
                    <a:bodyPr/>
                    <a:lstStyle/>
                    <a:p>
                      <a:pPr>
                        <a:buNone/>
                      </a:pPr>
                      <a:r>
                        <a:rPr lang="en-US"/>
                        <a:t>$214 </a:t>
                      </a:r>
                    </a:p>
                  </a:txBody>
                  <a:tcPr anchor="ctr"/>
                </a:tc>
                <a:tc>
                  <a:txBody>
                    <a:bodyPr/>
                    <a:lstStyle/>
                    <a:p>
                      <a:pPr>
                        <a:buNone/>
                      </a:pPr>
                      <a:r>
                        <a:rPr lang="en-US"/>
                        <a:t>$192 </a:t>
                      </a:r>
                    </a:p>
                  </a:txBody>
                  <a:tcPr anchor="ctr"/>
                </a:tc>
                <a:tc>
                  <a:txBody>
                    <a:bodyPr/>
                    <a:lstStyle/>
                    <a:p>
                      <a:pPr>
                        <a:buNone/>
                      </a:pPr>
                      <a:r>
                        <a:rPr lang="en-US"/>
                        <a:t>$119 </a:t>
                      </a:r>
                    </a:p>
                  </a:txBody>
                  <a:tcPr anchor="ctr"/>
                </a:tc>
                <a:tc>
                  <a:txBody>
                    <a:bodyPr/>
                    <a:lstStyle/>
                    <a:p>
                      <a:pPr>
                        <a:buNone/>
                      </a:pPr>
                      <a:r>
                        <a:rPr lang="en-US"/>
                        <a:t>6.40%</a:t>
                      </a:r>
                    </a:p>
                  </a:txBody>
                  <a:tcPr anchor="ctr"/>
                </a:tc>
                <a:tc>
                  <a:txBody>
                    <a:bodyPr/>
                    <a:lstStyle/>
                    <a:p>
                      <a:pPr>
                        <a:buNone/>
                      </a:pPr>
                      <a:r>
                        <a:rPr lang="en-US"/>
                        <a:t>15.1d</a:t>
                      </a:r>
                    </a:p>
                  </a:txBody>
                  <a:tcPr anchor="ctr"/>
                </a:tc>
                <a:tc>
                  <a:txBody>
                    <a:bodyPr/>
                    <a:lstStyle/>
                    <a:p>
                      <a:pPr>
                        <a:buNone/>
                      </a:pPr>
                      <a:r>
                        <a:rPr lang="en-US"/>
                        <a:t>9d</a:t>
                      </a:r>
                    </a:p>
                  </a:txBody>
                  <a:tcPr anchor="ctr"/>
                </a:tc>
                <a:tc>
                  <a:txBody>
                    <a:bodyPr/>
                    <a:lstStyle/>
                    <a:p>
                      <a:pPr>
                        <a:buNone/>
                      </a:pPr>
                      <a:r>
                        <a:rPr lang="en-US"/>
                        <a:t>44.50%</a:t>
                      </a:r>
                    </a:p>
                  </a:txBody>
                  <a:tcPr anchor="ctr"/>
                </a:tc>
                <a:tc>
                  <a:txBody>
                    <a:bodyPr/>
                    <a:lstStyle/>
                    <a:p>
                      <a:pPr>
                        <a:buNone/>
                      </a:pPr>
                      <a:r>
                        <a:rPr lang="en-US"/>
                        <a:t>23.80%</a:t>
                      </a:r>
                    </a:p>
                  </a:txBody>
                  <a:tcPr anchor="ctr"/>
                </a:tc>
                <a:tc>
                  <a:txBody>
                    <a:bodyPr/>
                    <a:lstStyle/>
                    <a:p>
                      <a:pPr>
                        <a:buNone/>
                      </a:pPr>
                      <a:r>
                        <a:rPr lang="en-US"/>
                        <a:t>1.7n</a:t>
                      </a:r>
                    </a:p>
                  </a:txBody>
                  <a:tcPr anchor="ctr"/>
                </a:tc>
                <a:tc>
                  <a:txBody>
                    <a:bodyPr/>
                    <a:lstStyle/>
                    <a:p>
                      <a:pPr>
                        <a:buNone/>
                      </a:pPr>
                      <a:r>
                        <a:rPr lang="en-US"/>
                        <a:t>3.1⭐</a:t>
                      </a:r>
                    </a:p>
                  </a:txBody>
                  <a:tcPr anchor="ctr"/>
                </a:tc>
                <a:tc>
                  <a:txBody>
                    <a:bodyPr/>
                    <a:lstStyle/>
                    <a:p>
                      <a:pPr>
                        <a:buNone/>
                      </a:pPr>
                      <a:r>
                        <a:rPr lang="en-US"/>
                        <a:t>32%</a:t>
                      </a:r>
                    </a:p>
                  </a:txBody>
                  <a:tcPr anchor="ctr"/>
                </a:tc>
                <a:extLst>
                  <a:ext uri="{0D108BD9-81ED-4DB2-BD59-A6C34878D82A}">
                    <a16:rowId xmlns:a16="http://schemas.microsoft.com/office/drawing/2014/main" val="910008118"/>
                  </a:ext>
                </a:extLst>
              </a:tr>
              <a:tr h="0">
                <a:tc>
                  <a:txBody>
                    <a:bodyPr/>
                    <a:lstStyle/>
                    <a:p>
                      <a:pPr>
                        <a:buNone/>
                      </a:pPr>
                      <a:r>
                        <a:rPr lang="en-US"/>
                        <a:t>City E</a:t>
                      </a:r>
                    </a:p>
                  </a:txBody>
                  <a:tcPr anchor="ctr"/>
                </a:tc>
                <a:tc>
                  <a:txBody>
                    <a:bodyPr/>
                    <a:lstStyle/>
                    <a:p>
                      <a:pPr>
                        <a:buNone/>
                      </a:pPr>
                      <a:r>
                        <a:rPr lang="en-US"/>
                        <a:t>4,799</a:t>
                      </a:r>
                    </a:p>
                  </a:txBody>
                  <a:tcPr anchor="ctr"/>
                </a:tc>
                <a:tc>
                  <a:txBody>
                    <a:bodyPr/>
                    <a:lstStyle/>
                    <a:p>
                      <a:pPr>
                        <a:buNone/>
                      </a:pPr>
                      <a:r>
                        <a:rPr lang="en-US"/>
                        <a:t>$138 </a:t>
                      </a:r>
                    </a:p>
                  </a:txBody>
                  <a:tcPr anchor="ctr"/>
                </a:tc>
                <a:tc>
                  <a:txBody>
                    <a:bodyPr/>
                    <a:lstStyle/>
                    <a:p>
                      <a:pPr>
                        <a:buNone/>
                      </a:pPr>
                      <a:r>
                        <a:rPr lang="en-US"/>
                        <a:t>$94 </a:t>
                      </a:r>
                    </a:p>
                  </a:txBody>
                  <a:tcPr anchor="ctr"/>
                </a:tc>
                <a:tc>
                  <a:txBody>
                    <a:bodyPr/>
                    <a:lstStyle/>
                    <a:p>
                      <a:pPr>
                        <a:buNone/>
                      </a:pPr>
                      <a:r>
                        <a:rPr lang="en-US"/>
                        <a:t>$120 </a:t>
                      </a:r>
                    </a:p>
                  </a:txBody>
                  <a:tcPr anchor="ctr"/>
                </a:tc>
                <a:tc>
                  <a:txBody>
                    <a:bodyPr/>
                    <a:lstStyle/>
                    <a:p>
                      <a:pPr>
                        <a:buNone/>
                      </a:pPr>
                      <a:r>
                        <a:rPr lang="en-US"/>
                        <a:t>3.70%</a:t>
                      </a:r>
                    </a:p>
                  </a:txBody>
                  <a:tcPr anchor="ctr"/>
                </a:tc>
                <a:tc>
                  <a:txBody>
                    <a:bodyPr/>
                    <a:lstStyle/>
                    <a:p>
                      <a:pPr>
                        <a:buNone/>
                      </a:pPr>
                      <a:r>
                        <a:rPr lang="en-US"/>
                        <a:t>11.2d</a:t>
                      </a:r>
                    </a:p>
                  </a:txBody>
                  <a:tcPr anchor="ctr"/>
                </a:tc>
                <a:tc>
                  <a:txBody>
                    <a:bodyPr/>
                    <a:lstStyle/>
                    <a:p>
                      <a:pPr>
                        <a:buNone/>
                      </a:pPr>
                      <a:r>
                        <a:rPr lang="en-US"/>
                        <a:t>5d</a:t>
                      </a:r>
                    </a:p>
                  </a:txBody>
                  <a:tcPr anchor="ctr"/>
                </a:tc>
                <a:tc>
                  <a:txBody>
                    <a:bodyPr/>
                    <a:lstStyle/>
                    <a:p>
                      <a:pPr>
                        <a:buNone/>
                      </a:pPr>
                      <a:r>
                        <a:rPr lang="en-US"/>
                        <a:t>58.50%</a:t>
                      </a:r>
                    </a:p>
                  </a:txBody>
                  <a:tcPr anchor="ctr"/>
                </a:tc>
                <a:tc>
                  <a:txBody>
                    <a:bodyPr/>
                    <a:lstStyle/>
                    <a:p>
                      <a:pPr>
                        <a:buNone/>
                      </a:pPr>
                      <a:r>
                        <a:rPr lang="en-US"/>
                        <a:t>38.10%</a:t>
                      </a:r>
                    </a:p>
                  </a:txBody>
                  <a:tcPr anchor="ctr"/>
                </a:tc>
                <a:tc>
                  <a:txBody>
                    <a:bodyPr/>
                    <a:lstStyle/>
                    <a:p>
                      <a:pPr>
                        <a:buNone/>
                      </a:pPr>
                      <a:r>
                        <a:rPr lang="en-US"/>
                        <a:t>1.6n</a:t>
                      </a:r>
                    </a:p>
                  </a:txBody>
                  <a:tcPr anchor="ctr"/>
                </a:tc>
                <a:tc>
                  <a:txBody>
                    <a:bodyPr/>
                    <a:lstStyle/>
                    <a:p>
                      <a:pPr>
                        <a:buNone/>
                      </a:pPr>
                      <a:r>
                        <a:rPr lang="en-US"/>
                        <a:t>3.4⭐</a:t>
                      </a:r>
                    </a:p>
                  </a:txBody>
                  <a:tcPr anchor="ctr"/>
                </a:tc>
                <a:tc>
                  <a:txBody>
                    <a:bodyPr/>
                    <a:lstStyle/>
                    <a:p>
                      <a:pPr>
                        <a:buNone/>
                      </a:pPr>
                      <a:r>
                        <a:rPr lang="en-US"/>
                        <a:t>47%</a:t>
                      </a:r>
                    </a:p>
                  </a:txBody>
                  <a:tcPr anchor="ctr"/>
                </a:tc>
                <a:extLst>
                  <a:ext uri="{0D108BD9-81ED-4DB2-BD59-A6C34878D82A}">
                    <a16:rowId xmlns:a16="http://schemas.microsoft.com/office/drawing/2014/main" val="3171635226"/>
                  </a:ext>
                </a:extLst>
              </a:tr>
            </a:tbl>
          </a:graphicData>
        </a:graphic>
      </p:graphicFrame>
    </p:spTree>
    <p:extLst>
      <p:ext uri="{BB962C8B-B14F-4D97-AF65-F5344CB8AC3E}">
        <p14:creationId xmlns:p14="http://schemas.microsoft.com/office/powerpoint/2010/main" val="10845038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C48981-FBFF-05FC-C037-FBCA8381F5B7}"/>
              </a:ext>
            </a:extLst>
          </p:cNvPr>
          <p:cNvSpPr>
            <a:spLocks noGrp="1"/>
          </p:cNvSpPr>
          <p:nvPr>
            <p:ph type="title"/>
          </p:nvPr>
        </p:nvSpPr>
        <p:spPr>
          <a:xfrm>
            <a:off x="838200" y="463448"/>
            <a:ext cx="10515600" cy="1251820"/>
          </a:xfrm>
        </p:spPr>
        <p:txBody>
          <a:bodyPr>
            <a:normAutofit fontScale="90000"/>
          </a:bodyPr>
          <a:lstStyle/>
          <a:p>
            <a:pPr algn="ctr"/>
            <a:br>
              <a:rPr lang="en-US" sz="1800" b="1" dirty="0">
                <a:highlight>
                  <a:srgbClr val="FFFFFF"/>
                </a:highlight>
                <a:ea typeface="+mj-lt"/>
                <a:cs typeface="+mj-lt"/>
              </a:rPr>
            </a:br>
            <a:br>
              <a:rPr lang="en-US" sz="1800" b="1" dirty="0">
                <a:highlight>
                  <a:srgbClr val="FFFFFF"/>
                </a:highlight>
              </a:rPr>
            </a:br>
            <a:r>
              <a:rPr lang="en-US" sz="3100" b="1" dirty="0">
                <a:highlight>
                  <a:srgbClr val="FFFFFF"/>
                </a:highlight>
                <a:ea typeface="+mj-lt"/>
                <a:cs typeface="+mj-lt"/>
              </a:rPr>
              <a:t>Overall Price Trajectory Analysis</a:t>
            </a:r>
            <a:br>
              <a:rPr lang="en-US" dirty="0"/>
            </a:br>
            <a:r>
              <a:rPr lang="en-US" sz="1800" b="1" dirty="0">
                <a:highlight>
                  <a:srgbClr val="FFFFFF"/>
                </a:highlight>
              </a:rPr>
              <a:t>Hypothesis to Test: Do hotel prices escalate as check-in dates approach?</a:t>
            </a:r>
            <a:endParaRPr lang="en-US" sz="1800" dirty="0"/>
          </a:p>
          <a:p>
            <a:pPr algn="ctr"/>
            <a:r>
              <a:rPr lang="en-US" sz="1800" b="1">
                <a:highlight>
                  <a:srgbClr val="FFFFFF"/>
                </a:highlight>
              </a:rPr>
              <a:t>Industry Assumption: Yes — that's why "prices rising!" urgency messaging is widespread.</a:t>
            </a:r>
            <a:endParaRPr lang="en-US" sz="1800"/>
          </a:p>
          <a:p>
            <a:pPr algn="ctr"/>
            <a:r>
              <a:rPr lang="en-US" sz="1800" b="1">
                <a:highlight>
                  <a:srgbClr val="FFFFFF"/>
                </a:highlight>
              </a:rPr>
              <a:t>Let's test this with 49,061 real bookings...</a:t>
            </a:r>
            <a:endParaRPr lang="en-US"/>
          </a:p>
          <a:p>
            <a:endParaRPr lang="en-US" dirty="0"/>
          </a:p>
        </p:txBody>
      </p:sp>
      <p:sp>
        <p:nvSpPr>
          <p:cNvPr id="8" name="Content Placeholder 7">
            <a:extLst>
              <a:ext uri="{FF2B5EF4-FFF2-40B4-BE49-F238E27FC236}">
                <a16:creationId xmlns:a16="http://schemas.microsoft.com/office/drawing/2014/main" id="{B6478638-0861-6D1E-1383-84A796EF1829}"/>
              </a:ext>
            </a:extLst>
          </p:cNvPr>
          <p:cNvSpPr>
            <a:spLocks noGrp="1"/>
          </p:cNvSpPr>
          <p:nvPr>
            <p:ph idx="1"/>
          </p:nvPr>
        </p:nvSpPr>
        <p:spPr/>
        <p:txBody>
          <a:bodyPr vert="horz" lIns="91440" tIns="45720" rIns="91440" bIns="45720" rtlCol="0" anchor="t">
            <a:normAutofit/>
          </a:bodyPr>
          <a:lstStyle/>
          <a:p>
            <a:r>
              <a:rPr lang="en-US" sz="1200" b="1">
                <a:highlight>
                  <a:srgbClr val="FFFFFF"/>
                </a:highlight>
                <a:ea typeface="+mn-lt"/>
                <a:cs typeface="+mn-lt"/>
              </a:rPr>
              <a:t>Implications:</a:t>
            </a:r>
            <a:endParaRPr lang="en-US"/>
          </a:p>
          <a:p>
            <a:r>
              <a:rPr lang="en-US" sz="1200" b="1">
                <a:highlight>
                  <a:srgbClr val="FFFFFF"/>
                </a:highlight>
                <a:ea typeface="+mn-lt"/>
                <a:cs typeface="+mn-lt"/>
              </a:rPr>
              <a:t>❌ Traditional urgency messaging is FALSE</a:t>
            </a:r>
            <a:endParaRPr lang="en-US"/>
          </a:p>
          <a:p>
            <a:pPr lvl="1"/>
            <a:r>
              <a:rPr lang="en-US" sz="1200">
                <a:highlight>
                  <a:srgbClr val="FFFFFF"/>
                </a:highlight>
                <a:ea typeface="+mn-lt"/>
                <a:cs typeface="+mn-lt"/>
              </a:rPr>
              <a:t>"Prices rising!" would be dishonest 80% of the time</a:t>
            </a:r>
            <a:endParaRPr lang="en-US"/>
          </a:p>
          <a:p>
            <a:pPr lvl="1"/>
            <a:r>
              <a:rPr lang="en-US" sz="1200">
                <a:highlight>
                  <a:srgbClr val="FFFFFF"/>
                </a:highlight>
                <a:ea typeface="+mn-lt"/>
                <a:cs typeface="+mn-lt"/>
              </a:rPr>
              <a:t>Risks customer trust erosion and regulatory scrutiny</a:t>
            </a:r>
            <a:endParaRPr lang="en-US"/>
          </a:p>
          <a:p>
            <a:r>
              <a:rPr lang="en-US" sz="1200" b="1">
                <a:highlight>
                  <a:srgbClr val="FFFFFF"/>
                </a:highlight>
                <a:ea typeface="+mn-lt"/>
                <a:cs typeface="+mn-lt"/>
              </a:rPr>
              <a:t>❓ But OTAs still achieve results with urgency</a:t>
            </a:r>
            <a:endParaRPr lang="en-US"/>
          </a:p>
          <a:p>
            <a:pPr lvl="1"/>
            <a:r>
              <a:rPr lang="en-US" sz="1200">
                <a:highlight>
                  <a:srgbClr val="FFFFFF"/>
                </a:highlight>
                <a:ea typeface="+mn-lt"/>
                <a:cs typeface="+mn-lt"/>
              </a:rPr>
              <a:t>If prices decline, why does urgency messaging work?</a:t>
            </a:r>
            <a:endParaRPr lang="en-US"/>
          </a:p>
          <a:p>
            <a:pPr lvl="1"/>
            <a:r>
              <a:rPr lang="en-US" sz="1200" b="1">
                <a:highlight>
                  <a:srgbClr val="FFFFFF"/>
                </a:highlight>
                <a:ea typeface="+mn-lt"/>
                <a:cs typeface="+mn-lt"/>
              </a:rPr>
              <a:t>Hypothesis:</a:t>
            </a:r>
            <a:r>
              <a:rPr lang="en-US" sz="1200">
                <a:highlight>
                  <a:srgbClr val="FFFFFF"/>
                </a:highlight>
                <a:ea typeface="+mn-lt"/>
                <a:cs typeface="+mn-lt"/>
              </a:rPr>
              <a:t> Market heterogeneity - not all cities behave the same</a:t>
            </a:r>
            <a:endParaRPr lang="en-US"/>
          </a:p>
          <a:p>
            <a:r>
              <a:rPr lang="en-US" sz="1200" b="1">
                <a:highlight>
                  <a:srgbClr val="FFFFFF"/>
                </a:highlight>
                <a:ea typeface="+mn-lt"/>
                <a:cs typeface="+mn-lt"/>
              </a:rPr>
              <a:t>➡️ Next Question:</a:t>
            </a:r>
            <a:endParaRPr lang="en-US"/>
          </a:p>
          <a:p>
            <a:pPr lvl="1"/>
            <a:r>
              <a:rPr lang="en-US" sz="1200">
                <a:highlight>
                  <a:srgbClr val="FFFFFF"/>
                </a:highlight>
                <a:ea typeface="+mn-lt"/>
                <a:cs typeface="+mn-lt"/>
              </a:rPr>
              <a:t>Which segments show price escalation?</a:t>
            </a:r>
            <a:endParaRPr lang="en-US"/>
          </a:p>
          <a:p>
            <a:pPr lvl="1"/>
            <a:r>
              <a:rPr lang="en-US" sz="1200">
                <a:highlight>
                  <a:srgbClr val="FFFFFF"/>
                </a:highlight>
                <a:ea typeface="+mn-lt"/>
                <a:cs typeface="+mn-lt"/>
              </a:rPr>
              <a:t>Can we identify where urgency is TRUTHFUL?</a:t>
            </a:r>
            <a:endParaRPr lang="en-US"/>
          </a:p>
          <a:p>
            <a:pPr lvl="1"/>
            <a:endParaRPr lang="en-US" sz="1200" dirty="0">
              <a:highlight>
                <a:srgbClr val="FFFFFF"/>
              </a:highlight>
            </a:endParaRPr>
          </a:p>
          <a:p>
            <a:pPr lvl="1"/>
            <a:r>
              <a:rPr lang="en-US" b="1">
                <a:highlight>
                  <a:srgbClr val="FFFFFF"/>
                </a:highlight>
                <a:ea typeface="+mn-lt"/>
                <a:cs typeface="+mn-lt"/>
              </a:rPr>
              <a:t>This finding leads us to Part 4: City-by-city analysis...</a:t>
            </a:r>
            <a:endParaRPr lang="en-US" b="1">
              <a:highlight>
                <a:srgbClr val="FFFFFF"/>
              </a:highlight>
            </a:endParaRPr>
          </a:p>
          <a:p>
            <a:endParaRPr lang="en-US" dirty="0"/>
          </a:p>
        </p:txBody>
      </p:sp>
    </p:spTree>
    <p:extLst>
      <p:ext uri="{BB962C8B-B14F-4D97-AF65-F5344CB8AC3E}">
        <p14:creationId xmlns:p14="http://schemas.microsoft.com/office/powerpoint/2010/main" val="109521568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139</TotalTime>
  <Words>495</Words>
  <Application>Microsoft Office PowerPoint</Application>
  <PresentationFormat>Widescreen</PresentationFormat>
  <Paragraphs>54</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Dynamic Urgency Framework: Maximizing                                             Conversion Without Compromising Trust</vt:lpstr>
      <vt:lpstr>PowerPoint Presentation</vt:lpstr>
      <vt:lpstr>PowerPoint Presentation</vt:lpstr>
      <vt:lpstr>CHAPTER 1: The Business Context Why Urgency Messaging? Why Now? </vt:lpstr>
      <vt:lpstr>                                                                                The Question??? </vt:lpstr>
      <vt:lpstr>                                                 The Approach </vt:lpstr>
      <vt:lpstr>                            What We Discovered???                          The Two-Layer Framework After analyzing 49,000+ bookings across 5 cities, we found that effective urgency messaging requires TWO complementary layers:   Layer 1: Market Dynamics Framework  WHAT: The macro environment - price trends, booking urgency patterns, supply dynamics WHY IT MATTERS: Sets the foundation for WHETHER and WHAT TYPE of urgency to use INSIGHT: 4 distinct market dynamics emerged across cities (not just city location)   Layer 2: Customer Psychology (Personas) WHAT: Who the customer is &amp; their booking motivations WHY IT MATTERS: Determines message sensitivity and timing INSIGHT: 4 traveler personas with different urgency responses </vt:lpstr>
      <vt:lpstr>✅ The Unified Recommendation     Use BOTH layers in sequence: First, identify the MARKET TYPE (city + price trend + booking window) Determines IF and WHAT TYPE of urgency to show Then, identify the PERSONA (booking behavior + price point + trip type) Determines HOW AGGRESSIVE and WHEN to show urgency Example: Market = "Availability Urgency Market" (declining prices, last-minute bookings) Persona = "Spontaneous Explorer" (budget, flexible) → Message: "Only 3 rooms left at $89 - lowest price in 30 days!" </vt:lpstr>
      <vt:lpstr>What the Data Actually Shows </vt:lpstr>
      <vt:lpstr>CHAPTER 2A: Dataset-Level Exploratory Analysis Understanding the Foundation - What's in Our Data? </vt:lpstr>
      <vt:lpstr>                                EDA</vt:lpstr>
      <vt:lpstr>Price by Booking Window</vt:lpstr>
      <vt:lpstr>City Distribution Analysis </vt:lpstr>
      <vt:lpstr>                                EDA</vt:lpstr>
      <vt:lpstr>                                EDA</vt:lpstr>
      <vt:lpstr>CHAPTER 2: Layer 1 - Market Dynamics Framework Understanding the Macro Environment for Urgency </vt:lpstr>
      <vt:lpstr>PowerPoint Presentation</vt:lpstr>
      <vt:lpstr>PowerPoint Presentation</vt:lpstr>
      <vt:lpstr>COMPREHENSIVE MARKET PROFILE</vt:lpstr>
      <vt:lpstr>  Overall Price Trajectory Analysis Hypothesis to Test: Do hotel prices escalate as check-in dates approach? Industry Assumption: Yes — that's why "prices rising!" urgency messaging is widespread. Let's test this with 49,061 real bookings...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Upreti, Megha</dc:creator>
  <cp:keywords>Alliance;LabelDefault;? ? ? ? ? ? ?</cp:keywords>
  <cp:lastModifiedBy>Upreti, Megha</cp:lastModifiedBy>
  <cp:revision>170</cp:revision>
  <dcterms:created xsi:type="dcterms:W3CDTF">2026-08-03T16:33:00Z</dcterms:created>
  <dcterms:modified xsi:type="dcterms:W3CDTF">2026-08-04T12:09:18Z</dcterms:modified>
  <cp:category>LabelDefault</cp:category>
</cp:coreProperties>
</file>