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606C1-76BD-0254-53DC-87B86E65433E}" v="456" dt="2026-08-01T19:38:28.916"/>
    <p1510:client id="{CFC082C7-CECA-693C-1D3E-C1F7168A2F1B}" v="599" dt="2026-08-01T18:21:06.455"/>
    <p1510:client id="{F2E660D4-C74F-318E-92CD-5F6D90546C4E}" v="585" dt="2026-08-02T15:48:07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240047"/>
            <a:ext cx="9144000" cy="1037390"/>
          </a:xfrm>
        </p:spPr>
        <p:txBody>
          <a:bodyPr/>
          <a:lstStyle/>
          <a:p>
            <a:r>
              <a:rPr lang="en-US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28BD-69FE-F211-0D93-C385CC0D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 Executive Summary cont...</a:t>
            </a:r>
          </a:p>
        </p:txBody>
      </p:sp>
    </p:spTree>
    <p:extLst>
      <p:ext uri="{BB962C8B-B14F-4D97-AF65-F5344CB8AC3E}">
        <p14:creationId xmlns:p14="http://schemas.microsoft.com/office/powerpoint/2010/main" val="60594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FF6BE-1151-1090-CADC-AAD39BE2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37261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400" b="1" kern="1200" dirty="0">
                <a:latin typeface="+mj-lt"/>
                <a:ea typeface="+mj-ea"/>
                <a:cs typeface="+mj-cs"/>
              </a:rPr>
              <a:t>                  </a:t>
            </a:r>
            <a:r>
              <a:rPr lang="en-US" sz="2000" b="1" kern="1200">
                <a:latin typeface="+mj-lt"/>
                <a:ea typeface="+mj-ea"/>
                <a:cs typeface="+mj-cs"/>
              </a:rPr>
              <a:t> </a:t>
            </a:r>
            <a:r>
              <a:rPr lang="en-US" sz="2000" b="1"/>
              <a:t>City Distribution</a:t>
            </a:r>
            <a:r>
              <a:rPr lang="en-US" sz="2000" b="1" kern="1200">
                <a:latin typeface="+mj-lt"/>
                <a:ea typeface="+mj-ea"/>
                <a:cs typeface="+mj-cs"/>
              </a:rPr>
              <a:t> Analysis</a:t>
            </a:r>
            <a:endParaRPr lang="en-US" sz="2000" kern="1200">
              <a:latin typeface="+mj-lt"/>
            </a:endParaRPr>
          </a:p>
          <a:p>
            <a:pPr algn="ctr"/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FF65E8-C10E-4E4B-A51E-8F8A95072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20995"/>
              </p:ext>
            </p:extLst>
          </p:nvPr>
        </p:nvGraphicFramePr>
        <p:xfrm>
          <a:off x="639588" y="924223"/>
          <a:ext cx="10958907" cy="348382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71544">
                  <a:extLst>
                    <a:ext uri="{9D8B030D-6E8A-4147-A177-3AD203B41FA5}">
                      <a16:colId xmlns:a16="http://schemas.microsoft.com/office/drawing/2014/main" val="3107663818"/>
                    </a:ext>
                  </a:extLst>
                </a:gridCol>
                <a:gridCol w="1865061">
                  <a:extLst>
                    <a:ext uri="{9D8B030D-6E8A-4147-A177-3AD203B41FA5}">
                      <a16:colId xmlns:a16="http://schemas.microsoft.com/office/drawing/2014/main" val="3902889832"/>
                    </a:ext>
                  </a:extLst>
                </a:gridCol>
                <a:gridCol w="1688385">
                  <a:extLst>
                    <a:ext uri="{9D8B030D-6E8A-4147-A177-3AD203B41FA5}">
                      <a16:colId xmlns:a16="http://schemas.microsoft.com/office/drawing/2014/main" val="3308386812"/>
                    </a:ext>
                  </a:extLst>
                </a:gridCol>
                <a:gridCol w="1617187">
                  <a:extLst>
                    <a:ext uri="{9D8B030D-6E8A-4147-A177-3AD203B41FA5}">
                      <a16:colId xmlns:a16="http://schemas.microsoft.com/office/drawing/2014/main" val="1293881098"/>
                    </a:ext>
                  </a:extLst>
                </a:gridCol>
                <a:gridCol w="1865061">
                  <a:extLst>
                    <a:ext uri="{9D8B030D-6E8A-4147-A177-3AD203B41FA5}">
                      <a16:colId xmlns:a16="http://schemas.microsoft.com/office/drawing/2014/main" val="3673408498"/>
                    </a:ext>
                  </a:extLst>
                </a:gridCol>
                <a:gridCol w="2351669">
                  <a:extLst>
                    <a:ext uri="{9D8B030D-6E8A-4147-A177-3AD203B41FA5}">
                      <a16:colId xmlns:a16="http://schemas.microsoft.com/office/drawing/2014/main" val="1220415366"/>
                    </a:ext>
                  </a:extLst>
                </a:gridCol>
              </a:tblGrid>
              <a:tr h="509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City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Bookings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% Total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Hotels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Avg Price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</a:rPr>
                        <a:t>Market Position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67076"/>
                  </a:ext>
                </a:extLst>
              </a:tr>
              <a:tr h="509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City A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22,366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45.6%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213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$100.51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High-Volume Budget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78221"/>
                  </a:ext>
                </a:extLst>
              </a:tr>
              <a:tr h="670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City D</a:t>
                      </a:r>
                      <a:endParaRPr lang="en-US" sz="1500" dirty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1115" marR="132669" marT="132669" marB="1326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10,152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20.7%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70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$218.85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Premium Concentrated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641265"/>
                  </a:ext>
                </a:extLst>
              </a:tr>
              <a:tr h="509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City C</a:t>
                      </a:r>
                      <a:endParaRPr lang="en-US" sz="1500" dirty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1115" marR="132669" marT="132669" marB="13266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6,797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13.9%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146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$224.84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Premium Diverse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399530"/>
                  </a:ext>
                </a:extLst>
              </a:tr>
              <a:tr h="509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City B</a:t>
                      </a:r>
                      <a:endParaRPr lang="en-US" sz="1500" dirty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1115" marR="132669" marT="132669" marB="1326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4,932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10.1%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344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$118.32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Mid-Market Fragmented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212180"/>
                  </a:ext>
                </a:extLst>
              </a:tr>
              <a:tr h="509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City E</a:t>
                      </a:r>
                      <a:endParaRPr lang="en-US" sz="1500" dirty="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1115" marR="132669" marT="132669" marB="13266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4,817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9.8%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107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$142.07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Mid-Market Growing</a:t>
                      </a:r>
                    </a:p>
                  </a:txBody>
                  <a:tcPr marL="221115" marR="132669" marT="132669" marB="1326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6162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C4C543-9D28-1CEE-BD21-0B46275825C1}"/>
              </a:ext>
            </a:extLst>
          </p:cNvPr>
          <p:cNvSpPr txBox="1"/>
          <p:nvPr/>
        </p:nvSpPr>
        <p:spPr>
          <a:xfrm>
            <a:off x="639097" y="4719484"/>
            <a:ext cx="10594257" cy="13696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200" b="1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City A</a:t>
            </a:r>
            <a:r>
              <a:rPr lang="en-US" sz="1200" b="1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dominates with nearly half 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of all bookings 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despite lower prices — suggests high tourist traffic or business hub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 b="1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Cities C &amp; </a:t>
            </a:r>
            <a:r>
              <a:rPr lang="en-US" sz="1200" b="1" i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D </a:t>
            </a:r>
            <a:r>
              <a:rPr lang="en-US" sz="120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command 2x </a:t>
            </a:r>
            <a:r>
              <a:rPr lang="en-US" sz="1200" i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premium </a:t>
            </a:r>
            <a:r>
              <a:rPr lang="en-US" sz="120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pricing but with lower volume — likely luxury/resort destinations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 b="1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City B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has highest 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hotel 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count 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(344)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but 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lowest 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booking share</a:t>
            </a:r>
            <a:r>
              <a:rPr lang="en-US" sz="120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 — fragmented market with high </a:t>
            </a:r>
            <a:r>
              <a:rPr lang="en-US" sz="1200" i="0" dirty="0">
                <a:solidFill>
                  <a:srgbClr val="161616"/>
                </a:solidFill>
                <a:highlight>
                  <a:srgbClr val="FFFFFF"/>
                </a:highlight>
                <a:ea typeface="+mn-lt"/>
                <a:cs typeface="+mn-lt"/>
              </a:rPr>
              <a:t>competition</a:t>
            </a:r>
            <a:endParaRPr lang="en-US" sz="1200" dirty="0">
              <a:solidFill>
                <a:srgbClr val="161616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algn="l"/>
            <a:endParaRPr lang="en-US" sz="1100" b="0" i="0" dirty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algn="l"/>
            <a:endParaRPr lang="en-US" b="0" i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9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08CD-2D13-C280-4E56-9C95E9107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695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100" b="1" kern="1200">
                <a:latin typeface="+mj-lt"/>
                <a:ea typeface="+mj-ea"/>
                <a:cs typeface="+mj-cs"/>
              </a:rPr>
              <a:t>   </a:t>
            </a:r>
            <a:r>
              <a:rPr lang="en-US" sz="1600" b="1" kern="1200">
                <a:latin typeface="+mj-lt"/>
                <a:ea typeface="+mj-ea"/>
                <a:cs typeface="+mj-cs"/>
              </a:rPr>
              <a:t>Accommodation </a:t>
            </a:r>
            <a:r>
              <a:rPr lang="en-US" sz="1600" b="1" kern="1200" dirty="0">
                <a:latin typeface="+mj-lt"/>
                <a:ea typeface="+mj-ea"/>
                <a:cs typeface="+mj-cs"/>
              </a:rPr>
              <a:t>Type Distribution</a:t>
            </a:r>
            <a:endParaRPr lang="en-US" sz="1600" kern="1200" dirty="0">
              <a:latin typeface="+mj-lt"/>
            </a:endParaRPr>
          </a:p>
          <a:p>
            <a:pPr algn="ctr"/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CA0BDC-1051-4C17-9BAC-B495B979C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586103"/>
              </p:ext>
            </p:extLst>
          </p:nvPr>
        </p:nvGraphicFramePr>
        <p:xfrm>
          <a:off x="1388806" y="749710"/>
          <a:ext cx="9408335" cy="3586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41306">
                  <a:extLst>
                    <a:ext uri="{9D8B030D-6E8A-4147-A177-3AD203B41FA5}">
                      <a16:colId xmlns:a16="http://schemas.microsoft.com/office/drawing/2014/main" val="2002189989"/>
                    </a:ext>
                  </a:extLst>
                </a:gridCol>
                <a:gridCol w="1729551">
                  <a:extLst>
                    <a:ext uri="{9D8B030D-6E8A-4147-A177-3AD203B41FA5}">
                      <a16:colId xmlns:a16="http://schemas.microsoft.com/office/drawing/2014/main" val="2458064566"/>
                    </a:ext>
                  </a:extLst>
                </a:gridCol>
                <a:gridCol w="1447750">
                  <a:extLst>
                    <a:ext uri="{9D8B030D-6E8A-4147-A177-3AD203B41FA5}">
                      <a16:colId xmlns:a16="http://schemas.microsoft.com/office/drawing/2014/main" val="2951016493"/>
                    </a:ext>
                  </a:extLst>
                </a:gridCol>
                <a:gridCol w="1716180">
                  <a:extLst>
                    <a:ext uri="{9D8B030D-6E8A-4147-A177-3AD203B41FA5}">
                      <a16:colId xmlns:a16="http://schemas.microsoft.com/office/drawing/2014/main" val="4129526254"/>
                    </a:ext>
                  </a:extLst>
                </a:gridCol>
                <a:gridCol w="2173548">
                  <a:extLst>
                    <a:ext uri="{9D8B030D-6E8A-4147-A177-3AD203B41FA5}">
                      <a16:colId xmlns:a16="http://schemas.microsoft.com/office/drawing/2014/main" val="3702928684"/>
                    </a:ext>
                  </a:extLst>
                </a:gridCol>
              </a:tblGrid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Property Type</a:t>
                      </a:r>
                    </a:p>
                  </a:txBody>
                  <a:tcPr marL="81508" marR="81508" marT="40754" marB="4075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Bookings</a:t>
                      </a:r>
                    </a:p>
                  </a:txBody>
                  <a:tcPr marL="81508" marR="81508" marT="40754" marB="4075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% Total</a:t>
                      </a:r>
                    </a:p>
                  </a:txBody>
                  <a:tcPr marL="81508" marR="81508" marT="40754" marB="4075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Avg Price</a:t>
                      </a:r>
                    </a:p>
                  </a:txBody>
                  <a:tcPr marL="81508" marR="81508" marT="40754" marB="4075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Segment Positioning</a:t>
                      </a:r>
                    </a:p>
                  </a:txBody>
                  <a:tcPr marL="81508" marR="81508" marT="40754" marB="40754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51420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Hotel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35,441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72.2%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$158.13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Core segment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185902039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Resort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3,525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7.2%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$190.98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Premium leisure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583917604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Serviced Apartment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2,797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5.7%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$90.07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Extended stay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822193708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Hostel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2,774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5.7%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$88.78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Budget travelers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16818817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Guest House / B&amp;B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2,758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5.6%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$85.76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Local experiences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768457425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Capsule Hotel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822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1.7%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$61.31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Ultra-budget niche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86456278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Resort Villa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397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0.8%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$259.49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Ultra-premium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831111972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Apartment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239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0.5%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$196.31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Family/group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2589332591"/>
                  </a:ext>
                </a:extLst>
              </a:tr>
              <a:tr h="35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Others (8 types)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311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0.6%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effectLst/>
                        </a:rPr>
                        <a:t>Varies</a:t>
                      </a:r>
                    </a:p>
                  </a:txBody>
                  <a:tcPr marL="81508" marR="81508" marT="40754" marB="407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Niche segments</a:t>
                      </a:r>
                    </a:p>
                  </a:txBody>
                  <a:tcPr marL="81508" marR="81508" marT="40754" marB="40754" anchor="ctr"/>
                </a:tc>
                <a:extLst>
                  <a:ext uri="{0D108BD9-81ED-4DB2-BD59-A6C34878D82A}">
                    <a16:rowId xmlns:a16="http://schemas.microsoft.com/office/drawing/2014/main" val="42656357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2801130-9CBD-4735-B23A-5EA386448623}"/>
              </a:ext>
            </a:extLst>
          </p:cNvPr>
          <p:cNvSpPr txBox="1"/>
          <p:nvPr/>
        </p:nvSpPr>
        <p:spPr>
          <a:xfrm>
            <a:off x="1388806" y="4916129"/>
            <a:ext cx="83820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Hotels drive 72% of bookings</a:t>
            </a:r>
            <a:r>
              <a:rPr lang="en-US" sz="12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, making them the highest-priority segment for urgency messaging.</a:t>
            </a:r>
          </a:p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Premium stays (Resorts/Villas)</a:t>
            </a:r>
            <a:r>
              <a:rPr lang="en-US" sz="12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should leverage exclusivity and limited availability rather than price-based urgency.</a:t>
            </a:r>
          </a:p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Budget accommodations</a:t>
            </a:r>
            <a:r>
              <a:rPr lang="en-US" sz="12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are best suited for scarcity and price-FOMO messages to drive faster decisions.</a:t>
            </a:r>
          </a:p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Segment-specific urgency messaging</a:t>
            </a:r>
            <a:r>
              <a:rPr lang="en-US" sz="12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can maximize conversion by aligning with traveler intent and price sensitivity.</a:t>
            </a:r>
          </a:p>
          <a:p>
            <a:pPr algn="l"/>
            <a:endParaRPr lang="en-US" b="0" i="0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7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5092-13ED-60CE-582E-3FA9DDE6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2721"/>
          </a:xfrm>
        </p:spPr>
        <p:txBody>
          <a:bodyPr>
            <a:normAutofit fontScale="90000"/>
          </a:bodyPr>
          <a:lstStyle/>
          <a:p>
            <a:r>
              <a:rPr lang="en-US" sz="1600" b="1">
                <a:highlight>
                  <a:srgbClr val="FFFFFF"/>
                </a:highlight>
              </a:rPr>
              <a:t>                                                                                                     ADR Distribution Analysis</a:t>
            </a:r>
            <a:endParaRPr lang="en-US" sz="160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5DCB1-D7AF-E386-30FC-1D5634452665}"/>
              </a:ext>
            </a:extLst>
          </p:cNvPr>
          <p:cNvSpPr txBox="1"/>
          <p:nvPr/>
        </p:nvSpPr>
        <p:spPr>
          <a:xfrm>
            <a:off x="427790" y="514686"/>
            <a:ext cx="11750841" cy="12270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>
                <a:latin typeface="-apple-system"/>
                <a:ea typeface="-apple-system"/>
                <a:cs typeface="-apple-system"/>
              </a:rPr>
              <a:t>How expensive is the market?</a:t>
            </a:r>
          </a:p>
          <a:p>
            <a:pPr algn="l"/>
            <a:r>
              <a:rPr lang="en-US" b="0" i="0">
                <a:latin typeface="-apple-system"/>
                <a:ea typeface="-apple-system"/>
                <a:cs typeface="-apple-system"/>
              </a:rPr>
              <a:t>Analyzing Average Daily Rate (ADR) distribution to understand pricing patterns, market segments, and the impact of price skewness on urgency messaging strategies.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5EEEA-7477-BEC5-797E-2E663758E15C}"/>
              </a:ext>
            </a:extLst>
          </p:cNvPr>
          <p:cNvSpPr txBox="1"/>
          <p:nvPr/>
        </p:nvSpPr>
        <p:spPr>
          <a:xfrm>
            <a:off x="173789" y="1731210"/>
            <a:ext cx="258010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Statistical Metrics</a:t>
            </a:r>
          </a:p>
          <a:p>
            <a:pPr algn="l">
              <a:buFont typeface=""/>
              <a:buChar char="•"/>
            </a:pPr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Minimum:</a:t>
            </a:r>
            <a:r>
              <a:rPr lang="en-US" sz="14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$4.26</a:t>
            </a:r>
          </a:p>
          <a:p>
            <a:pPr algn="l">
              <a:buFont typeface=""/>
              <a:buChar char="•"/>
            </a:pPr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Median (P50):</a:t>
            </a:r>
            <a:r>
              <a:rPr lang="en-US" sz="14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$113.66</a:t>
            </a:r>
          </a:p>
          <a:p>
            <a:pPr algn="l">
              <a:buFont typeface=""/>
              <a:buChar char="•"/>
            </a:pPr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P95:</a:t>
            </a:r>
            <a:r>
              <a:rPr lang="en-US" sz="14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$366.44</a:t>
            </a:r>
          </a:p>
          <a:p>
            <a:pPr algn="l">
              <a:buFont typeface=""/>
              <a:buChar char="•"/>
            </a:pPr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P99:</a:t>
            </a:r>
            <a:r>
              <a:rPr lang="en-US" sz="14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$638.15</a:t>
            </a:r>
          </a:p>
          <a:p>
            <a:pPr algn="l">
              <a:buFont typeface=""/>
              <a:buChar char="•"/>
            </a:pPr>
            <a:r>
              <a:rPr lang="en-US" sz="14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Maximum:</a:t>
            </a:r>
            <a:r>
              <a:rPr lang="en-US" sz="14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$3,156.86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51628-EA3D-136C-1461-8D37780130C1}"/>
              </a:ext>
            </a:extLst>
          </p:cNvPr>
          <p:cNvSpPr txBox="1"/>
          <p:nvPr/>
        </p:nvSpPr>
        <p:spPr>
          <a:xfrm>
            <a:off x="2499895" y="1731210"/>
            <a:ext cx="359610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Distribution Shape</a:t>
            </a:r>
          </a:p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Mean:</a:t>
            </a:r>
            <a:r>
              <a:rPr lang="en-US" sz="12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$148.09</a:t>
            </a:r>
          </a:p>
          <a:p>
            <a:pPr algn="l">
              <a:buFont typeface=""/>
              <a:buChar char="•"/>
            </a:pPr>
            <a:r>
              <a:rPr lang="en-US" sz="12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Mean-Median Gap:</a:t>
            </a:r>
            <a:r>
              <a:rPr lang="en-US" sz="12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$34.43 (30.3% above median)</a:t>
            </a:r>
          </a:p>
          <a:p>
            <a:pPr algn="l">
              <a:buFont typeface=""/>
              <a:buChar char="•"/>
            </a:pPr>
            <a:r>
              <a:rPr lang="en-US" sz="12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⚠️ </a:t>
            </a:r>
            <a:r>
              <a:rPr lang="en-US" sz="12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HIGHLY RIGHT-SKEWED</a:t>
            </a:r>
            <a:r>
              <a:rPr lang="en-US" sz="12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- Mean significantly exceeds median</a:t>
            </a: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B00DC-7837-EE26-5334-411ED2A6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13159"/>
            <a:ext cx="6283160" cy="3440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C2E0C-1FE4-5E1D-AD49-5E069A1DA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79" y="1121190"/>
            <a:ext cx="4762335" cy="30515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8FDD4D-FC6D-3832-3D82-E3F750FF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357" y="4177965"/>
            <a:ext cx="4999288" cy="25125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065E73-5433-5B1F-43B6-CF4A2C680491}"/>
              </a:ext>
            </a:extLst>
          </p:cNvPr>
          <p:cNvSpPr txBox="1"/>
          <p:nvPr/>
        </p:nvSpPr>
        <p:spPr>
          <a:xfrm>
            <a:off x="7138736" y="1251767"/>
            <a:ext cx="59890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VISUAL INSIGHT: Box plots reveal extreme outliers and distinct price tiers across cities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4C6DA-F55D-1FE5-9E91-A5DD80A1D579}"/>
              </a:ext>
            </a:extLst>
          </p:cNvPr>
          <p:cNvSpPr txBox="1"/>
          <p:nvPr/>
        </p:nvSpPr>
        <p:spPr>
          <a:xfrm>
            <a:off x="0" y="322847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VISUAL INSIGHT: ADR distribution shows clear right skew with long tail of premium properties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5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7D4F3E-6AA2-A298-E99F-F735496EB42C}"/>
              </a:ext>
            </a:extLst>
          </p:cNvPr>
          <p:cNvSpPr txBox="1"/>
          <p:nvPr/>
        </p:nvSpPr>
        <p:spPr>
          <a:xfrm>
            <a:off x="334211" y="942474"/>
            <a:ext cx="1021347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latin typeface="Menlo"/>
                <a:ea typeface="Menlo"/>
                <a:cs typeface="Menlo"/>
              </a:rPr>
              <a:t>1️⃣ Use MEDIAN ($113.66) instead of MEAN ($148.09) for central tendency → Mean is </a:t>
            </a:r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inflated by luxury outliers and misrepresents typical booking </a:t>
            </a:r>
            <a:r>
              <a:rPr lang="en-US">
                <a:solidFill>
                  <a:srgbClr val="555555"/>
                </a:solidFill>
                <a:latin typeface="Menlo"/>
                <a:ea typeface="Menlo"/>
                <a:cs typeface="Menlo"/>
              </a:rPr>
              <a:t>'</a:t>
            </a:r>
            <a:endParaRPr lang="en-US" dirty="0">
              <a:solidFill>
                <a:srgbClr val="000000"/>
              </a:solidFill>
              <a:latin typeface="Aptos" panose="020B0004020202020204"/>
              <a:ea typeface="Menlo"/>
              <a:cs typeface="Menlo"/>
            </a:endParaRPr>
          </a:p>
          <a:p>
            <a:r>
              <a:rPr lang="en-US">
                <a:solidFill>
                  <a:srgbClr val="555555"/>
                </a:solidFill>
                <a:latin typeface="Menlo"/>
                <a:ea typeface="Menlo"/>
                <a:cs typeface="Menlo"/>
              </a:rPr>
              <a:t>2️⃣</a:t>
            </a:r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 Segment urgency </a:t>
            </a:r>
            <a:r>
              <a:rPr lang="en-US" b="0" i="0" dirty="0">
                <a:solidFill>
                  <a:srgbClr val="555555"/>
                </a:solidFill>
                <a:latin typeface="Menlo"/>
                <a:ea typeface="Menlo"/>
                <a:cs typeface="Menlo"/>
              </a:rPr>
              <a:t>messaging by PRICE TIER, not just accommodation type → Budget (&lt;$100): Scarcity - 'Only 2 left at this price' → Mid-Market ($100-200): Social proof - '15 people viewing' → Premium/Luxury (&gt;$200): Exclusivity - 'Rarely available' </a:t>
            </a:r>
            <a:endParaRPr lang="en-US">
              <a:solidFill>
                <a:srgbClr val="000000"/>
              </a:solidFill>
              <a:latin typeface="Aptos" panose="020B0004020202020204"/>
              <a:ea typeface="Menlo"/>
              <a:cs typeface="Menlo"/>
            </a:endParaRPr>
          </a:p>
          <a:p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3️⃣ High-ADR </a:t>
            </a:r>
            <a:r>
              <a:rPr lang="en-US" b="0" i="0" dirty="0">
                <a:solidFill>
                  <a:srgbClr val="555555"/>
                </a:solidFill>
                <a:latin typeface="Menlo"/>
                <a:ea typeface="Menlo"/>
                <a:cs typeface="Menlo"/>
              </a:rPr>
              <a:t>outliers (P95+) represent LUXURY SEGMENT - different psychology → 2453 bookings (5.0%) above $366.44 → These buyers need desire-based urgency, not scarcity pressure </a:t>
            </a:r>
            <a:endParaRPr lang="en-US">
              <a:solidFill>
                <a:srgbClr val="000000"/>
              </a:solidFill>
              <a:latin typeface="Aptos" panose="020B0004020202020204"/>
              <a:ea typeface="Menlo"/>
              <a:cs typeface="Menlo"/>
            </a:endParaRPr>
          </a:p>
          <a:p>
            <a:r>
              <a:rPr lang="en-US" b="0" i="0">
                <a:solidFill>
                  <a:srgbClr val="555555"/>
                </a:solidFill>
                <a:latin typeface="Menlo"/>
                <a:ea typeface="Menlo"/>
                <a:cs typeface="Menlo"/>
              </a:rPr>
              <a:t>4️⃣ 50% of bookings fall in narrow $62.55 - $192.22 range (P25-P75) → Core </a:t>
            </a:r>
            <a:r>
              <a:rPr lang="en-US" b="0" i="0" dirty="0">
                <a:solidFill>
                  <a:srgbClr val="555555"/>
                </a:solidFill>
                <a:latin typeface="Menlo"/>
                <a:ea typeface="Menlo"/>
                <a:cs typeface="Menlo"/>
              </a:rPr>
              <a:t>market is predictable; urgency A/B tests should focus here first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1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6817-8744-0F36-B6D8-8165ABF4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80"/>
            <a:ext cx="10515600" cy="443248"/>
          </a:xfrm>
        </p:spPr>
        <p:txBody>
          <a:bodyPr>
            <a:normAutofit/>
          </a:bodyPr>
          <a:lstStyle/>
          <a:p>
            <a:r>
              <a:rPr lang="en-US" sz="2000" dirty="0"/>
              <a:t>       </a:t>
            </a:r>
            <a:r>
              <a:rPr lang="en-US" sz="2000">
                <a:solidFill>
                  <a:srgbClr val="000000"/>
                </a:solidFill>
              </a:rPr>
              <a:t>                                                          Lead Time Distribution (Urgency Behavior)</a:t>
            </a:r>
          </a:p>
          <a:p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D96B5F-CAB5-4872-ED19-0061C6C7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724766"/>
              </p:ext>
            </p:extLst>
          </p:nvPr>
        </p:nvGraphicFramePr>
        <p:xfrm>
          <a:off x="835741" y="1020097"/>
          <a:ext cx="9349132" cy="36634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7283">
                  <a:extLst>
                    <a:ext uri="{9D8B030D-6E8A-4147-A177-3AD203B41FA5}">
                      <a16:colId xmlns:a16="http://schemas.microsoft.com/office/drawing/2014/main" val="2103323048"/>
                    </a:ext>
                  </a:extLst>
                </a:gridCol>
                <a:gridCol w="2337283">
                  <a:extLst>
                    <a:ext uri="{9D8B030D-6E8A-4147-A177-3AD203B41FA5}">
                      <a16:colId xmlns:a16="http://schemas.microsoft.com/office/drawing/2014/main" val="1537095418"/>
                    </a:ext>
                  </a:extLst>
                </a:gridCol>
                <a:gridCol w="2337283">
                  <a:extLst>
                    <a:ext uri="{9D8B030D-6E8A-4147-A177-3AD203B41FA5}">
                      <a16:colId xmlns:a16="http://schemas.microsoft.com/office/drawing/2014/main" val="225994539"/>
                    </a:ext>
                  </a:extLst>
                </a:gridCol>
                <a:gridCol w="2337283">
                  <a:extLst>
                    <a:ext uri="{9D8B030D-6E8A-4147-A177-3AD203B41FA5}">
                      <a16:colId xmlns:a16="http://schemas.microsoft.com/office/drawing/2014/main" val="378759718"/>
                    </a:ext>
                  </a:extLst>
                </a:gridCol>
              </a:tblGrid>
              <a:tr h="38704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FFFFFF"/>
                          </a:solidFill>
                        </a:rPr>
                        <a:t>Lead Time Bucket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FFFFFF"/>
                          </a:solidFill>
                        </a:rPr>
                        <a:t>Bookings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FFFFFF"/>
                          </a:solidFill>
                        </a:rPr>
                        <a:t>% of 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FFFFFF"/>
                          </a:solidFill>
                        </a:rPr>
                        <a:t>Cumulative 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25605"/>
                  </a:ext>
                </a:extLst>
              </a:tr>
              <a:tr h="3096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Same Day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5,603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11.4%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11.4%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05242"/>
                  </a:ext>
                </a:extLst>
              </a:tr>
              <a:tr h="73741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1-3 days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11,058</a:t>
                      </a: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22.5%</a:t>
                      </a: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34.0%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785041"/>
                  </a:ext>
                </a:extLst>
              </a:tr>
              <a:tr h="30963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4-7 days</a:t>
                      </a:r>
                      <a:endParaRPr lang="en-US" sz="1200"/>
                    </a:p>
                    <a:p>
                      <a:pPr lvl="0">
                        <a:buNone/>
                      </a:pPr>
                      <a:br>
                        <a:rPr lang="en-US" dirty="0"/>
                      </a:b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6,818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13.9%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br>
                        <a:rPr lang="en-US" sz="1200" dirty="0"/>
                      </a:b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47.9%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11295"/>
                  </a:ext>
                </a:extLst>
              </a:tr>
              <a:tr h="1548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1-2 weeks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7,281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62.7%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10752"/>
                  </a:ext>
                </a:extLst>
              </a:tr>
              <a:tr h="1548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2-4 weeks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9,810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20.0%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82.7%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16682"/>
                  </a:ext>
                </a:extLst>
              </a:tr>
              <a:tr h="1548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30+ days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8,491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none" strike="noStrike" baseline="0" noProof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7154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44CFED-78FD-8023-C10E-62BCF337592B}"/>
              </a:ext>
            </a:extLst>
          </p:cNvPr>
          <p:cNvSpPr txBox="1"/>
          <p:nvPr/>
        </p:nvSpPr>
        <p:spPr>
          <a:xfrm>
            <a:off x="282679" y="4719484"/>
            <a:ext cx="11724966" cy="2105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 Key Insights:</a:t>
            </a:r>
          </a:p>
          <a:p>
            <a:pPr algn="l">
              <a:buFont typeface=""/>
              <a:buChar char="•"/>
            </a:pPr>
            <a:r>
              <a:rPr lang="en-US"/>
              <a:t>🔥 </a:t>
            </a:r>
            <a:r>
              <a:rPr lang="en-US" b="1"/>
              <a:t>47.9% of bookings happen within 7 days</a:t>
            </a:r>
            <a:r>
              <a:rPr lang="en-US"/>
              <a:t> = HUGE urgency market!</a:t>
            </a:r>
          </a:p>
          <a:p>
            <a:pPr algn="l">
              <a:buFont typeface=""/>
              <a:buChar char="•"/>
            </a:pPr>
            <a:r>
              <a:rPr lang="en-US"/>
              <a:t>🔥 </a:t>
            </a:r>
            <a:r>
              <a:rPr lang="en-US" b="1"/>
              <a:t>34% are extreme last-minute</a:t>
            </a:r>
            <a:r>
              <a:rPr lang="en-US"/>
              <a:t> (0-3 days) = customers in "urgency mode"</a:t>
            </a:r>
          </a:p>
          <a:p>
            <a:pPr algn="l">
              <a:buFont typeface=""/>
              <a:buChar char="•"/>
            </a:pPr>
            <a:r>
              <a:rPr lang="en-US"/>
              <a:t>🔥 </a:t>
            </a:r>
            <a:r>
              <a:rPr lang="en-US" b="1"/>
              <a:t>Only 17.3% are true planners</a:t>
            </a:r>
            <a:r>
              <a:rPr lang="en-US"/>
              <a:t> (30+ days)</a:t>
            </a:r>
          </a:p>
          <a:p>
            <a:pPr algn="l">
              <a:buFont typeface=""/>
              <a:buChar char="•"/>
            </a:pPr>
            <a:r>
              <a:rPr lang="en-US"/>
              <a:t>✅ </a:t>
            </a:r>
            <a:r>
              <a:rPr lang="en-US" b="1"/>
              <a:t>Business Case:</a:t>
            </a:r>
            <a:r>
              <a:rPr lang="en-US"/>
              <a:t> Nearly HALF of customers exhibit last-minute behavior = large addressable market for urgency interventions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6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6093-41B6-A039-5E8B-ECD7DD52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-295"/>
            <a:ext cx="10909640" cy="5009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>
                <a:highlight>
                  <a:srgbClr val="FFFFFF"/>
                </a:highlight>
              </a:rPr>
              <a:t>Price</a:t>
            </a:r>
            <a:r>
              <a:rPr lang="en-US" sz="2400" b="1" kern="120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 by Booking </a:t>
            </a:r>
            <a:r>
              <a:rPr lang="en-US" sz="2400" b="1">
                <a:highlight>
                  <a:srgbClr val="FFFFFF"/>
                </a:highlight>
              </a:rPr>
              <a:t>Window</a:t>
            </a:r>
            <a:endParaRPr lang="en-US" sz="2400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CFF119-8BDF-0130-F7E6-4E1943704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305722"/>
              </p:ext>
            </p:extLst>
          </p:nvPr>
        </p:nvGraphicFramePr>
        <p:xfrm>
          <a:off x="233516" y="503902"/>
          <a:ext cx="6793981" cy="3398186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114152">
                  <a:extLst>
                    <a:ext uri="{9D8B030D-6E8A-4147-A177-3AD203B41FA5}">
                      <a16:colId xmlns:a16="http://schemas.microsoft.com/office/drawing/2014/main" val="283652793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1732034954"/>
                    </a:ext>
                  </a:extLst>
                </a:gridCol>
                <a:gridCol w="1046122">
                  <a:extLst>
                    <a:ext uri="{9D8B030D-6E8A-4147-A177-3AD203B41FA5}">
                      <a16:colId xmlns:a16="http://schemas.microsoft.com/office/drawing/2014/main" val="2517666638"/>
                    </a:ext>
                  </a:extLst>
                </a:gridCol>
                <a:gridCol w="1114152">
                  <a:extLst>
                    <a:ext uri="{9D8B030D-6E8A-4147-A177-3AD203B41FA5}">
                      <a16:colId xmlns:a16="http://schemas.microsoft.com/office/drawing/2014/main" val="1126764087"/>
                    </a:ext>
                  </a:extLst>
                </a:gridCol>
                <a:gridCol w="617273">
                  <a:extLst>
                    <a:ext uri="{9D8B030D-6E8A-4147-A177-3AD203B41FA5}">
                      <a16:colId xmlns:a16="http://schemas.microsoft.com/office/drawing/2014/main" val="644029608"/>
                    </a:ext>
                  </a:extLst>
                </a:gridCol>
                <a:gridCol w="909744">
                  <a:extLst>
                    <a:ext uri="{9D8B030D-6E8A-4147-A177-3AD203B41FA5}">
                      <a16:colId xmlns:a16="http://schemas.microsoft.com/office/drawing/2014/main" val="1660806471"/>
                    </a:ext>
                  </a:extLst>
                </a:gridCol>
                <a:gridCol w="936558">
                  <a:extLst>
                    <a:ext uri="{9D8B030D-6E8A-4147-A177-3AD203B41FA5}">
                      <a16:colId xmlns:a16="http://schemas.microsoft.com/office/drawing/2014/main" val="1743256674"/>
                    </a:ext>
                  </a:extLst>
                </a:gridCol>
              </a:tblGrid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Lead Time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Bookings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Avg Price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Median Price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Std Dev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050482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Same Day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5,603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$119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$87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$2,081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$112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29763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1-3 days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11,058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$132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$99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$5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$2,388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$117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032157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4-7 days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6,818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$144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$112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$9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$1,977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$125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189815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1-2 weeks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7,281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$153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$120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$5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$1,909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$134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089466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2-4 weeks</a:t>
                      </a:r>
                    </a:p>
                  </a:txBody>
                  <a:tcPr marL="129260" marR="99430" marT="99430" marB="994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9,810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$164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$128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$6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$3,157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$154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50755"/>
                  </a:ext>
                </a:extLst>
              </a:tr>
              <a:tr h="45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30+ days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8,491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$170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$138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$6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$2,534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$151 </a:t>
                      </a:r>
                    </a:p>
                  </a:txBody>
                  <a:tcPr marL="129260" marR="99430" marT="99430" marB="9943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8288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EA11B6F-3CAF-5140-2CAB-D52DF815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085" y="507436"/>
            <a:ext cx="4788312" cy="3335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81A32-B038-CB6F-45CC-5DE650DD2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345" y="3886969"/>
            <a:ext cx="4622698" cy="2734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FBCA5A-2BF1-E6A0-CB52-2D84699F9D3F}"/>
              </a:ext>
            </a:extLst>
          </p:cNvPr>
          <p:cNvSpPr txBox="1"/>
          <p:nvPr/>
        </p:nvSpPr>
        <p:spPr>
          <a:xfrm>
            <a:off x="233516" y="4289323"/>
            <a:ext cx="6194322" cy="2569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/>
              <a:t>CRITICAL FINDING: PRICES DROP AS CHECK-IN APPROACHES!</a:t>
            </a:r>
          </a:p>
          <a:p>
            <a:pPr algn="l"/>
            <a:r>
              <a:rPr lang="en-US" sz="1100"/>
              <a:t>❌ </a:t>
            </a:r>
            <a:r>
              <a:rPr lang="en-US" sz="1100" b="1"/>
              <a:t>The common urgency message "Price may increase" is FALSE!</a:t>
            </a:r>
          </a:p>
          <a:p>
            <a:pPr algn="l">
              <a:buFont typeface=""/>
              <a:buChar char="•"/>
            </a:pPr>
            <a:r>
              <a:rPr lang="en-US" sz="1100"/>
              <a:t>Same-day bookings are </a:t>
            </a:r>
            <a:r>
              <a:rPr lang="en-US" sz="1100" b="1"/>
              <a:t>30% CHEAPER</a:t>
            </a:r>
            <a:r>
              <a:rPr lang="en-US" sz="1100"/>
              <a:t> than 30+ day bookings ($119 vs $170)</a:t>
            </a:r>
          </a:p>
          <a:p>
            <a:pPr algn="l"/>
            <a:r>
              <a:rPr lang="en-US" sz="1100"/>
              <a:t>⚠️ </a:t>
            </a:r>
            <a:r>
              <a:rPr lang="en-US" sz="1100" b="1"/>
              <a:t>Why This Happens:</a:t>
            </a:r>
          </a:p>
          <a:p>
            <a:pPr algn="l">
              <a:buFont typeface=""/>
              <a:buChar char="•"/>
            </a:pPr>
            <a:r>
              <a:rPr lang="en-US" sz="1100"/>
              <a:t>Hotels </a:t>
            </a:r>
            <a:r>
              <a:rPr lang="en-US" sz="1100" b="1"/>
              <a:t>discount unsold inventory</a:t>
            </a:r>
            <a:r>
              <a:rPr lang="en-US" sz="1100"/>
              <a:t> as check-in approaches (better to sell at $87 than leave room empty)</a:t>
            </a:r>
          </a:p>
          <a:p>
            <a:pPr algn="l">
              <a:buFont typeface=""/>
              <a:buChar char="•"/>
            </a:pPr>
            <a:r>
              <a:rPr lang="en-US" sz="1100"/>
              <a:t>Last-minute bookers know this and </a:t>
            </a:r>
            <a:r>
              <a:rPr lang="en-US" sz="1100" b="1"/>
              <a:t>hunt for deals</a:t>
            </a:r>
          </a:p>
          <a:p>
            <a:pPr algn="l"/>
            <a:r>
              <a:rPr lang="en-US" sz="1100" b="1"/>
              <a:t>💼 Business Implication:</a:t>
            </a:r>
          </a:p>
          <a:p>
            <a:pPr algn="l"/>
            <a:r>
              <a:rPr lang="en-US" sz="1100"/>
              <a:t>❌ </a:t>
            </a:r>
            <a:r>
              <a:rPr lang="en-US" sz="1100" b="1"/>
              <a:t>We CANNOT use "Price will increase" messaging</a:t>
            </a:r>
            <a:r>
              <a:rPr lang="en-US" sz="1100"/>
              <a:t> — it's factually wrong and will damage trust</a:t>
            </a:r>
          </a:p>
          <a:p>
            <a:pPr algn="l"/>
            <a:r>
              <a:rPr lang="en-US" sz="1100"/>
              <a:t>✅ </a:t>
            </a:r>
            <a:r>
              <a:rPr lang="en-US" sz="1100" b="1"/>
              <a:t>Instead, we should use:</a:t>
            </a:r>
          </a:p>
          <a:p>
            <a:pPr algn="l">
              <a:buFont typeface=""/>
              <a:buChar char="•"/>
            </a:pPr>
            <a:r>
              <a:rPr lang="en-US" sz="1100" b="1"/>
              <a:t>Scarcity messaging:</a:t>
            </a:r>
            <a:r>
              <a:rPr lang="en-US" sz="1100"/>
              <a:t> "Only 2 rooms left!" (if true)</a:t>
            </a:r>
          </a:p>
          <a:p>
            <a:pPr algn="l">
              <a:buFont typeface=""/>
              <a:buChar char="•"/>
            </a:pPr>
            <a:r>
              <a:rPr lang="en-US" sz="1100" b="1"/>
              <a:t>Social proof:</a:t>
            </a:r>
            <a:r>
              <a:rPr lang="en-US" sz="1100"/>
              <a:t> "15 people viewing this hotel right now"</a:t>
            </a:r>
          </a:p>
          <a:p>
            <a:pPr algn="l">
              <a:buFont typeface=""/>
              <a:buChar char="•"/>
            </a:pPr>
            <a:r>
              <a:rPr lang="en-US" sz="1100" b="1" dirty="0"/>
              <a:t>Flip the script:</a:t>
            </a:r>
            <a:r>
              <a:rPr lang="en-US" sz="1100" dirty="0"/>
              <a:t> For hotels where prices ARE rising, highlight that: "Price increased 8% in last 24 </a:t>
            </a:r>
            <a:r>
              <a:rPr lang="en-US" sz="1100" dirty="0" err="1"/>
              <a:t>hrs</a:t>
            </a:r>
            <a:r>
              <a:rPr lang="en-US" sz="1100" dirty="0"/>
              <a:t>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74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2D1E-1D00-624B-A6B6-79FF5407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-295"/>
            <a:ext cx="10909640" cy="35220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100" b="1" kern="120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 </a:t>
            </a:r>
            <a:r>
              <a:rPr lang="en-US" sz="1600" b="1" kern="120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City-Level </a:t>
            </a:r>
            <a:r>
              <a:rPr lang="en-US" sz="1600" b="1" kern="1200" dirty="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Urgency Behavior</a:t>
            </a:r>
            <a:endParaRPr lang="en-US" sz="1600" kern="12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58E265-05E3-B182-CB5F-65F528D08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954364"/>
              </p:ext>
            </p:extLst>
          </p:nvPr>
        </p:nvGraphicFramePr>
        <p:xfrm>
          <a:off x="172064" y="577645"/>
          <a:ext cx="4203182" cy="21976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2595">
                  <a:extLst>
                    <a:ext uri="{9D8B030D-6E8A-4147-A177-3AD203B41FA5}">
                      <a16:colId xmlns:a16="http://schemas.microsoft.com/office/drawing/2014/main" val="2529829992"/>
                    </a:ext>
                  </a:extLst>
                </a:gridCol>
                <a:gridCol w="626806">
                  <a:extLst>
                    <a:ext uri="{9D8B030D-6E8A-4147-A177-3AD203B41FA5}">
                      <a16:colId xmlns:a16="http://schemas.microsoft.com/office/drawing/2014/main" val="1843457541"/>
                    </a:ext>
                  </a:extLst>
                </a:gridCol>
                <a:gridCol w="678383">
                  <a:extLst>
                    <a:ext uri="{9D8B030D-6E8A-4147-A177-3AD203B41FA5}">
                      <a16:colId xmlns:a16="http://schemas.microsoft.com/office/drawing/2014/main" val="3562003777"/>
                    </a:ext>
                  </a:extLst>
                </a:gridCol>
                <a:gridCol w="652595">
                  <a:extLst>
                    <a:ext uri="{9D8B030D-6E8A-4147-A177-3AD203B41FA5}">
                      <a16:colId xmlns:a16="http://schemas.microsoft.com/office/drawing/2014/main" val="2798358568"/>
                    </a:ext>
                  </a:extLst>
                </a:gridCol>
                <a:gridCol w="652595">
                  <a:extLst>
                    <a:ext uri="{9D8B030D-6E8A-4147-A177-3AD203B41FA5}">
                      <a16:colId xmlns:a16="http://schemas.microsoft.com/office/drawing/2014/main" val="2065603850"/>
                    </a:ext>
                  </a:extLst>
                </a:gridCol>
                <a:gridCol w="940208">
                  <a:extLst>
                    <a:ext uri="{9D8B030D-6E8A-4147-A177-3AD203B41FA5}">
                      <a16:colId xmlns:a16="http://schemas.microsoft.com/office/drawing/2014/main" val="191314085"/>
                    </a:ext>
                  </a:extLst>
                </a:gridCol>
              </a:tblGrid>
              <a:tr h="58173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City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Bookings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% Last-Minute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Avg Lead Time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Avg Price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Hotels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639362759"/>
                  </a:ext>
                </a:extLst>
              </a:tr>
              <a:tr h="3231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City 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4,815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58.4% 🔥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11.2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$142 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202510867"/>
                  </a:ext>
                </a:extLst>
              </a:tr>
              <a:tr h="3231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City B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4,932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52.6% 🔥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13.9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$118 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344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900093618"/>
                  </a:ext>
                </a:extLst>
              </a:tr>
              <a:tr h="3231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City A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22,365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51.50%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13.3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$101 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213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191338540"/>
                  </a:ext>
                </a:extLst>
              </a:tr>
              <a:tr h="3231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City D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10,152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44.50%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15.1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$219 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70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57732303"/>
                  </a:ext>
                </a:extLst>
              </a:tr>
              <a:tr h="32318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City C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6,797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30.1% ❄️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20.6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$225 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79996559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4E37CAA-BFEE-03DF-6F48-635E96E3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877" y="376083"/>
            <a:ext cx="3718438" cy="2713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31B2CB-F4D3-CCD6-D497-7B4BE86C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368" y="372087"/>
            <a:ext cx="3940586" cy="2697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C274D8-C61F-F84D-100C-435E8343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148" y="3060596"/>
            <a:ext cx="3942738" cy="3797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134CB3-08AA-F309-070C-DB724118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859" y="3069662"/>
            <a:ext cx="3702768" cy="37912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B02874-3376-7114-8C53-464F7E46E42D}"/>
              </a:ext>
            </a:extLst>
          </p:cNvPr>
          <p:cNvSpPr txBox="1"/>
          <p:nvPr/>
        </p:nvSpPr>
        <p:spPr>
          <a:xfrm>
            <a:off x="0" y="3084871"/>
            <a:ext cx="436306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CITIES VARY 2X IN URGENCY BEHAVIOR!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Tier 1: High-Urgency Cities (&gt;50%)</a:t>
            </a:r>
          </a:p>
          <a:p>
            <a:pPr algn="l">
              <a:buFont typeface=""/>
              <a:buChar char="•"/>
            </a:pPr>
            <a:r>
              <a:rPr lang="en-US" sz="900" b="1" i="0">
                <a:latin typeface="-apple-system"/>
                <a:ea typeface="-apple-system"/>
                <a:cs typeface="-apple-system"/>
              </a:rPr>
              <a:t>City E: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58.4% last-minute — extreme urgency market</a:t>
            </a:r>
          </a:p>
          <a:p>
            <a:pPr algn="l">
              <a:buFont typeface=""/>
              <a:buChar char="•"/>
            </a:pPr>
            <a:r>
              <a:rPr lang="en-US" sz="900" b="1" i="0">
                <a:latin typeface="-apple-system"/>
                <a:ea typeface="-apple-system"/>
                <a:cs typeface="-apple-system"/>
              </a:rPr>
              <a:t>City B: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52.6% last-minute — high urgency</a:t>
            </a:r>
          </a:p>
          <a:p>
            <a:pPr algn="l">
              <a:buFont typeface=""/>
              <a:buChar char="•"/>
            </a:pPr>
            <a:r>
              <a:rPr lang="en-US" sz="900" b="1" i="0">
                <a:latin typeface="-apple-system"/>
                <a:ea typeface="-apple-system"/>
                <a:cs typeface="-apple-system"/>
              </a:rPr>
              <a:t>City A: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51.5% last-minute — high urgency (46% of total market!)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Tier 2: Medium-Urgency City</a:t>
            </a:r>
          </a:p>
          <a:p>
            <a:pPr algn="l">
              <a:buFont typeface=""/>
              <a:buChar char="•"/>
            </a:pPr>
            <a:r>
              <a:rPr lang="en-US" sz="900" b="1" i="0">
                <a:latin typeface="-apple-system"/>
                <a:ea typeface="-apple-system"/>
                <a:cs typeface="-apple-system"/>
              </a:rPr>
              <a:t>City D: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44.5% last-minute — moderate urgency, premium pricing ($219 avg)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Tier 3: Low-Urgency City</a:t>
            </a:r>
          </a:p>
          <a:p>
            <a:pPr algn="l">
              <a:buFont typeface=""/>
              <a:buChar char="•"/>
            </a:pPr>
            <a:r>
              <a:rPr lang="en-US" sz="900" b="1" i="0">
                <a:latin typeface="-apple-system"/>
                <a:ea typeface="-apple-system"/>
                <a:cs typeface="-apple-system"/>
              </a:rPr>
              <a:t>City C: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30.1% last-minute — PLANNERS dominate, premium market ($225 avg)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🎯 Business Implications:</a:t>
            </a:r>
          </a:p>
          <a:p>
            <a:pPr algn="l"/>
            <a:r>
              <a:rPr lang="en-US" sz="900" b="0" i="0"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latin typeface="-apple-system"/>
                <a:ea typeface="-apple-system"/>
                <a:cs typeface="-apple-system"/>
              </a:rPr>
              <a:t>One-size-fits-all urgency messaging will FAIL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City E customers need urgency triggers (58% are last-minute)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City C customers need value propositions (70% are planners)</a:t>
            </a:r>
          </a:p>
          <a:p>
            <a:pPr algn="l"/>
            <a:r>
              <a:rPr lang="en-US" sz="900" b="0" i="0"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latin typeface="-apple-system"/>
                <a:ea typeface="-apple-system"/>
                <a:cs typeface="-apple-system"/>
              </a:rPr>
              <a:t>Market Size Matters: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City A = 46% of bookings = biggest opportunity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Cities E &amp; B = smaller markets but highest urgency intensity</a:t>
            </a:r>
          </a:p>
          <a:p>
            <a:pPr algn="l"/>
            <a:r>
              <a:rPr lang="en-US" sz="900" b="0" i="0"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latin typeface="-apple-system"/>
                <a:ea typeface="-apple-system"/>
                <a:cs typeface="-apple-system"/>
              </a:rPr>
              <a:t>Price Segments: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Cities C &amp; D = Premium ($220+ avg) = avoid aggressive discounting</a:t>
            </a:r>
          </a:p>
          <a:p>
            <a:pPr algn="l">
              <a:buFont typeface=""/>
              <a:buChar char="•"/>
            </a:pPr>
            <a:r>
              <a:rPr lang="en-US" sz="900" b="0" i="0">
                <a:latin typeface="-apple-system"/>
                <a:ea typeface="-apple-system"/>
                <a:cs typeface="-apple-system"/>
              </a:rPr>
              <a:t>Cities A, B, E = Value ($100-$140 avg) = price-sensitive shoppers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📋 Deployment Strategy:</a:t>
            </a:r>
          </a:p>
          <a:p>
            <a:pPr algn="l"/>
            <a:r>
              <a:rPr lang="en-US" sz="900" b="1" i="0">
                <a:latin typeface="-apple-system"/>
                <a:ea typeface="-apple-system"/>
                <a:cs typeface="-apple-system"/>
              </a:rPr>
              <a:t>Phase 1 (Test First):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Cities E &amp; B — highest urgency, lower risk</a:t>
            </a:r>
            <a:br>
              <a:rPr lang="en-US" sz="900" b="0" i="0" dirty="0">
                <a:latin typeface="-apple-system"/>
                <a:ea typeface="-apple-system"/>
                <a:cs typeface="-apple-system"/>
              </a:rPr>
            </a:br>
            <a:r>
              <a:rPr lang="en-US" sz="900" b="1" i="0">
                <a:latin typeface="-apple-system"/>
                <a:ea typeface="-apple-system"/>
                <a:cs typeface="-apple-system"/>
              </a:rPr>
              <a:t>Phase 2 (Scale):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City A — largest market, high urgency</a:t>
            </a:r>
            <a:br>
              <a:rPr lang="en-US" sz="900" b="0" i="0" dirty="0">
                <a:latin typeface="-apple-system"/>
                <a:ea typeface="-apple-system"/>
                <a:cs typeface="-apple-system"/>
              </a:rPr>
            </a:br>
            <a:r>
              <a:rPr lang="en-US" sz="900" b="1" i="0">
                <a:latin typeface="-apple-system"/>
                <a:ea typeface="-apple-system"/>
                <a:cs typeface="-apple-system"/>
              </a:rPr>
              <a:t>Phase 3 (Monitor):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City D — moderate urgency, premium segment</a:t>
            </a:r>
            <a:br>
              <a:rPr lang="en-US" sz="900" b="0" i="0" dirty="0">
                <a:latin typeface="-apple-system"/>
                <a:ea typeface="-apple-system"/>
                <a:cs typeface="-apple-system"/>
              </a:rPr>
            </a:br>
            <a:r>
              <a:rPr lang="en-US" sz="900" b="1" i="0">
                <a:latin typeface="-apple-system"/>
                <a:ea typeface="-apple-system"/>
                <a:cs typeface="-apple-system"/>
              </a:rPr>
              <a:t>Avoid:</a:t>
            </a:r>
            <a:r>
              <a:rPr lang="en-US" sz="900" b="0" i="0">
                <a:latin typeface="-apple-system"/>
                <a:ea typeface="-apple-system"/>
                <a:cs typeface="-apple-system"/>
              </a:rPr>
              <a:t> City C — urgency messaging will alienate planner-dominant market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3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2E41-BC78-872D-E354-5152DB4A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190"/>
            <a:ext cx="10515600" cy="469985"/>
          </a:xfrm>
        </p:spPr>
        <p:txBody>
          <a:bodyPr/>
          <a:lstStyle/>
          <a:p>
            <a:r>
              <a:rPr lang="en-US" sz="1600" b="1">
                <a:highlight>
                  <a:srgbClr val="FFFFFF"/>
                </a:highlight>
              </a:rPr>
              <a:t>                                                                                                    Monthly Seasonality</a:t>
            </a:r>
            <a:endParaRPr lang="en-US" sz="1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9FCD67-5D3C-69B5-34CA-3D60AB749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181143"/>
              </p:ext>
            </p:extLst>
          </p:nvPr>
        </p:nvGraphicFramePr>
        <p:xfrm>
          <a:off x="245979" y="711100"/>
          <a:ext cx="3510934" cy="30050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1562">
                  <a:extLst>
                    <a:ext uri="{9D8B030D-6E8A-4147-A177-3AD203B41FA5}">
                      <a16:colId xmlns:a16="http://schemas.microsoft.com/office/drawing/2014/main" val="4265135635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3481505472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3518542210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1268976679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2883964317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3755480838"/>
                    </a:ext>
                  </a:extLst>
                </a:gridCol>
                <a:gridCol w="501562">
                  <a:extLst>
                    <a:ext uri="{9D8B030D-6E8A-4147-A177-3AD203B41FA5}">
                      <a16:colId xmlns:a16="http://schemas.microsoft.com/office/drawing/2014/main" val="2347154489"/>
                    </a:ext>
                  </a:extLst>
                </a:gridCol>
              </a:tblGrid>
              <a:tr h="1220229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Month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Bookings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% of Total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Avg Lead Time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% Last-Minute (&lt;=7d)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% Extreme (&lt;=3d)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Avg Price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005230653"/>
                  </a:ext>
                </a:extLst>
              </a:tr>
              <a:tr h="47352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16,226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33.10%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13.3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51.60%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36.70%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$149 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59121004"/>
                  </a:ext>
                </a:extLst>
              </a:tr>
              <a:tr h="837769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November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15,318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31.20%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14.4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48.60%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34.50%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$140 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298343074"/>
                  </a:ext>
                </a:extLst>
              </a:tr>
              <a:tr h="47352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December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17,517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35.70%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15.7 days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43.80%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30.90%</a:t>
                      </a:r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00"/>
                          </a:solidFill>
                          <a:effectLst/>
                        </a:rPr>
                        <a:t>$154 </a:t>
                      </a: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0288979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81B9C3-DF66-2911-7C11-399B12A482ED}"/>
              </a:ext>
            </a:extLst>
          </p:cNvPr>
          <p:cNvSpPr txBox="1"/>
          <p:nvPr/>
        </p:nvSpPr>
        <p:spPr>
          <a:xfrm>
            <a:off x="233515" y="4104968"/>
            <a:ext cx="36871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b="1" i="0">
                <a:latin typeface="-apple-system"/>
                <a:ea typeface="-apple-system"/>
                <a:cs typeface="-apple-system"/>
              </a:rPr>
              <a:t>Business Implications:</a:t>
            </a:r>
          </a:p>
          <a:p>
            <a:pPr algn="l"/>
            <a:r>
              <a:rPr lang="en-US" sz="1000" b="1" i="0">
                <a:latin typeface="-apple-system"/>
                <a:ea typeface="-apple-system"/>
                <a:cs typeface="-apple-system"/>
              </a:rPr>
              <a:t>October Strategy: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HIGHEST urgency behavior (51.6%) = perfect for urgency messaging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Use aggressive scarcity messaging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Target last-minute business travelers</a:t>
            </a:r>
          </a:p>
          <a:p>
            <a:pPr algn="l"/>
            <a:r>
              <a:rPr lang="en-US" sz="1000" b="1" i="0">
                <a:latin typeface="-apple-system"/>
                <a:ea typeface="-apple-system"/>
                <a:cs typeface="-apple-system"/>
              </a:rPr>
              <a:t>November Strategy: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Moderate urgency (48.6%)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Price dip = promotional opportunity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Balance urgency with value messaging</a:t>
            </a:r>
          </a:p>
          <a:p>
            <a:pPr algn="l"/>
            <a:r>
              <a:rPr lang="en-US" sz="1000" b="1" i="0">
                <a:latin typeface="-apple-system"/>
                <a:ea typeface="-apple-system"/>
                <a:cs typeface="-apple-system"/>
              </a:rPr>
              <a:t>December Strategy: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LOWER urgency (43.8%) BUT premium pricing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De-emphasize urgency, emphasize quality and availability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Holiday travelers book early = use social proof instead of scarcity</a:t>
            </a:r>
          </a:p>
          <a:p>
            <a:pPr algn="l">
              <a:buFont typeface=""/>
              <a:buChar char="•"/>
            </a:pPr>
            <a:r>
              <a:rPr lang="en-US" sz="1000" b="0" i="0">
                <a:latin typeface="-apple-system"/>
                <a:ea typeface="-apple-system"/>
                <a:cs typeface="-apple-system"/>
              </a:rPr>
              <a:t>Avoid discounting (demand is high, prices are premium)</a:t>
            </a:r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13B50F-4261-C85E-D6E8-95139B7DF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86" y="712276"/>
            <a:ext cx="4256905" cy="3041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30E4B1-2A69-2373-E16B-F23BAB094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400" y="465438"/>
            <a:ext cx="4190077" cy="3437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987E94-8FFC-46E5-9B6A-0A097587B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485" y="3714103"/>
            <a:ext cx="4070727" cy="3058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24847F-C5E1-0373-01C7-4BE81FDA7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494" y="3767137"/>
            <a:ext cx="3849553" cy="303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3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0C41-3034-BB30-A319-331179B2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39" y="17547"/>
            <a:ext cx="10515600" cy="937878"/>
          </a:xfrm>
        </p:spPr>
        <p:txBody>
          <a:bodyPr/>
          <a:lstStyle/>
          <a:p>
            <a:r>
              <a:rPr lang="en-US" sz="1600" b="1">
                <a:highlight>
                  <a:srgbClr val="FFFFFF"/>
                </a:highlight>
              </a:rPr>
              <a:t>                                                                                          Hotel Characteristics (Star Rating)</a:t>
            </a:r>
            <a:endParaRPr lang="en-US" sz="160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0E2522-F68F-FDB2-666C-364F4F75E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81251"/>
              </p:ext>
            </p:extLst>
          </p:nvPr>
        </p:nvGraphicFramePr>
        <p:xfrm>
          <a:off x="147052" y="401052"/>
          <a:ext cx="4813494" cy="41177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87642">
                  <a:extLst>
                    <a:ext uri="{9D8B030D-6E8A-4147-A177-3AD203B41FA5}">
                      <a16:colId xmlns:a16="http://schemas.microsoft.com/office/drawing/2014/main" val="187051822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1355173869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3559904009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803208394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842840799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2184856904"/>
                    </a:ext>
                  </a:extLst>
                </a:gridCol>
                <a:gridCol w="687642">
                  <a:extLst>
                    <a:ext uri="{9D8B030D-6E8A-4147-A177-3AD203B41FA5}">
                      <a16:colId xmlns:a16="http://schemas.microsoft.com/office/drawing/2014/main" val="3150000822"/>
                    </a:ext>
                  </a:extLst>
                </a:gridCol>
              </a:tblGrid>
              <a:tr h="532354"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Star Rating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Bookings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% of Total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% Last-Minute (&lt;=7d)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Avg Lead Time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Avg Price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Hotels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23631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0-star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171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0.3%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67.8%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8.9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$50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459528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3,397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6.9%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45.1%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15.4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$91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168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494120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1.5-star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461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0.9%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44.9%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14.8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$68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971086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2,343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4.8%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54.8%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12.6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$54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131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17223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2.5-star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1,929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3.9%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45.7%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15.8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$67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43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76184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3-star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14,798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30.2%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44.3%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16.0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$133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278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153434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3.5-star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6,295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12.8%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44.3%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15.3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$93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046792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4-star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14,487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29.5%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52.7%</a:t>
                      </a:r>
                      <a:endParaRPr lang="en-US" sz="975" b="0" i="0">
                        <a:effectLst/>
                        <a:latin typeface="-apple-system"/>
                      </a:endParaRP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12.8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$192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139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07245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4.5-star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1,100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2.2%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41.3%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16.4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$167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14246"/>
                  </a:ext>
                </a:extLst>
              </a:tr>
              <a:tr h="252167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5-star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4,080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8.3%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49.5%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13.8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$281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3399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E5D4841-BA65-57DD-A1DE-8ECF685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893" y="394619"/>
            <a:ext cx="2884739" cy="3314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00730E-900D-FE1D-CF98-22D091C28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721" y="173037"/>
            <a:ext cx="2862347" cy="3089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E22DDB-F38C-56FB-B0EB-E8456E64A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94" y="3723357"/>
            <a:ext cx="3232485" cy="2726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01404-6D99-A685-A9A6-21FA26838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956" y="3430336"/>
            <a:ext cx="3635877" cy="3272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D0BAA-05AD-BB5A-5491-2923F468EFCA}"/>
              </a:ext>
            </a:extLst>
          </p:cNvPr>
          <p:cNvSpPr txBox="1"/>
          <p:nvPr/>
        </p:nvSpPr>
        <p:spPr>
          <a:xfrm>
            <a:off x="-147053" y="4645526"/>
            <a:ext cx="4478422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🔥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NON-LINEAR URGENCY PATTERN! (U-Shaped Curve)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Urgency does NOT increase linearly with star rating. Instead: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HIGH Urgency Tiers: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0-2 star (Budget):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54-68% last-minute — ultra price-sensitive deal hunters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4-star (Mid-Tier Premium):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52.7% last-minute —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largest premium segment with urgency!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5-star (Luxury):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49.5% last-minute — impulse luxury purchases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LOWER Urgency Tiers: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3-star (Mass Market):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44.3% last-minute — family/group travel, planners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4.5-star (Near-Luxury):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41.3% last-minute — small market, planner-heavy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📊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WHY THIS U-SHAPE HAPPENS: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Budget (0-2★):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Last-minute deal hunters, flexible solo/couple travelers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3-star: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Family/group bookings require coordination = longer planning windows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4-star:</a:t>
            </a:r>
            <a:r>
              <a:rPr lang="en-US" sz="900" b="0" i="0" dirty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Business travelers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(company-expensed) + spontaneous premium leisure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5-star: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Split between impulse luxury ("treat yourself") and planned special occasions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💰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PRICE SCALING: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Budget: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$50-91 avg (ultra price-sensitive)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Mid-Market: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$93-133 avg (value seekers)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Premium: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$192 avg (4-star) —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sweet spot pricing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Luxury: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$281 avg (5-star) — less price-sensitive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🎯 BUSINESS IMPLICATIONS: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4-STAR HOTELS = PERFECT URGENCY TARGET!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29.5% of all bookings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= second-largest segment (only 3-star is bigger)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52.7% last-minute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= HIGH urgency behavior (8pp higher than 3-star)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$192 avg price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= premium revenue per booking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Perfect trifecta: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Large volume + High urgency + Premium pricing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Market Segmentation Strategy: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Tier 1 (High Priority):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4-star hotels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— launch urgency test HERE FIRST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Business travelers + spontaneous premium leisure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Use aggressive urgency: "Only 2 rooms left at this rate!"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Tier 2 (Moderate Priority):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 dirty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0-2 star budget</a:t>
            </a:r>
            <a:r>
              <a:rPr lang="en-US" sz="900" b="0" i="0" dirty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— ultra-aggressive urgency + price messaging</a:t>
            </a: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5-star luxury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— softer urgency framing ("Exclusive availability")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Tier 3 (Lower Priority):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3-star mass market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— lowest urgency, family/group bookings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Avoid aggressive urgency (will alienate planners)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Combined Market Opportunity: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3-star + 4-star = 60% of ALL bookings</a:t>
            </a:r>
            <a:endParaRPr lang="en-US" sz="900" b="1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But 4-star has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8 percentage points higher urgency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(52.7% vs 44.3%)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Focus urgency interventions on </a:t>
            </a:r>
            <a:r>
              <a:rPr lang="en-US" sz="900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4-star first</a:t>
            </a:r>
            <a:r>
              <a:rPr lang="en-US" sz="900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, then expand to 3-star with softer messaging</a:t>
            </a:r>
            <a:endParaRPr lang="en-US" sz="900" b="0" i="0" dirty="0">
              <a:solidFill>
                <a:srgbClr val="161616"/>
              </a:solidFill>
              <a:latin typeface="-apple-system"/>
              <a:ea typeface="-apple-system"/>
              <a:cs typeface="-apple-system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6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0B53-0A24-38B8-9A58-56519440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273"/>
          </a:xfrm>
        </p:spPr>
        <p:txBody>
          <a:bodyPr>
            <a:normAutofit fontScale="90000"/>
          </a:bodyPr>
          <a:lstStyle/>
          <a:p>
            <a:r>
              <a:rPr lang="en-US" sz="1600" b="1">
                <a:highlight>
                  <a:srgbClr val="FFFFFF"/>
                </a:highlight>
              </a:rPr>
              <a:t>                                                                                                          EDA #8 - Chain vs Independent Hotels</a:t>
            </a:r>
            <a:endParaRPr lang="en-US" sz="160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852CD8-5FE0-FE3C-75C1-63E22DE3C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020756"/>
              </p:ext>
            </p:extLst>
          </p:nvPr>
        </p:nvGraphicFramePr>
        <p:xfrm>
          <a:off x="147483" y="539439"/>
          <a:ext cx="4057128" cy="23279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0792">
                  <a:extLst>
                    <a:ext uri="{9D8B030D-6E8A-4147-A177-3AD203B41FA5}">
                      <a16:colId xmlns:a16="http://schemas.microsoft.com/office/drawing/2014/main" val="550976283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233628055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2283948258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2000593908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462795690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3782559778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1535965434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1037706681"/>
                    </a:ext>
                  </a:extLst>
                </a:gridCol>
                <a:gridCol w="450792">
                  <a:extLst>
                    <a:ext uri="{9D8B030D-6E8A-4147-A177-3AD203B41FA5}">
                      <a16:colId xmlns:a16="http://schemas.microsoft.com/office/drawing/2014/main" val="1365149781"/>
                    </a:ext>
                  </a:extLst>
                </a:gridCol>
              </a:tblGrid>
              <a:tr h="769843"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Type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Bookings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% of Total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% Last-Minute (&lt;=7d)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Avg Lead Time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Avg Price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Median Price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Avg Star Rating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1" i="0">
                          <a:effectLst/>
                          <a:latin typeface="-apple-system"/>
                        </a:rPr>
                        <a:t>Hotels</a:t>
                      </a:r>
                    </a:p>
                  </a:txBody>
                  <a:tcPr marL="76200" marR="76200" marT="76200" marB="76200" anchor="b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786799"/>
                  </a:ext>
                </a:extLst>
              </a:tr>
              <a:tr h="316994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Chain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13,236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27.0%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46.1%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14.9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$200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$161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3.9★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155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129969"/>
                  </a:ext>
                </a:extLst>
              </a:tr>
              <a:tr h="430206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Non-Chain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35,825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73.0%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48.5%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14.4 days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$129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$92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3.1★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75" b="0" i="0">
                          <a:effectLst/>
                          <a:latin typeface="-apple-system"/>
                        </a:rPr>
                        <a:t>725</a:t>
                      </a:r>
                    </a:p>
                  </a:txBody>
                  <a:tcPr marL="76200" marR="76200" marT="76200" marB="76200">
                    <a:lnL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2464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B97155-3E02-AAF4-9877-341E374FC0A6}"/>
              </a:ext>
            </a:extLst>
          </p:cNvPr>
          <p:cNvSpPr txBox="1"/>
          <p:nvPr/>
        </p:nvSpPr>
        <p:spPr>
          <a:xfrm>
            <a:off x="0" y="3429000"/>
            <a:ext cx="3859162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SO WHAT?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NON-CHAIN HOTELS DOMINATE THE MARKET!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Non-chain = 73% of ALL bookings (35,825 bookings)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Non-chain = 725 hotels (vs 155 chain hotels)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Non-chain = HIGHER urgency behavior (48.5% vs 46.1%)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BUT CHAIN HOTELS COMMAND PREMIUM: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Chain avg price: $200 (+55% vs non-chain)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Chain median price: $161 (+75% vs non-chain)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Chain star rating: 3.9 vs 3.1 (+0.8 stars)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WHY THIS PATTERN: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Chain hotels = Premium positioning, business travelers, brand loyalty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Non-chain = Budget/mid-tier, deal hunters, price-sensitive shoppers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Non-chain urgency is HIGHER because customers are shopping for deals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Business Implications: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PRIORITIZE NON-CHAIN HOTELS FOR URGENCY TESTING!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73% of market = HUGE addressable audience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48.5% last-minute = strong urgency behavior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Price-sensitive shoppers = responsive to urgency triggers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More hotels (725) = broader test surface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Chain Hotel Strategy: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Lower urgency (46.1%) but premium pricing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Business travelers = less price-sensitive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Use softer urgency messaging (quality + scarcity, not price pressure)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"Only 2 suites available" &gt; "Last chance at this price!"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Market Segmentation: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Tier 1 (High Priority):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Non-chain hotels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Largest market (73%)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Highest urgency (48.5%)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Price-sensitive shoppers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Test aggressive urgency messaging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Tier 2 (Moderate Priority):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Chain hotels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Smaller market (27%)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Lower urgency (46.1%)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Premium segment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Use quality-focused urgency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Combined Insights (Star Rating + Chain Status):</a:t>
            </a:r>
          </a:p>
          <a:p>
            <a:pPr algn="l"/>
            <a:r>
              <a:rPr lang="en-US" sz="800" b="0" i="0">
                <a:latin typeface="-apple-system"/>
                <a:ea typeface="-apple-system"/>
                <a:cs typeface="-apple-system"/>
              </a:rPr>
              <a:t>Recall from EDA #7: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4-star hotels = 52.7% last-minute (highest premium urgency)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3-star hotels = 44.3% last-minute (lowest urgency)</a:t>
            </a: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Sweet Spot: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Non-chain 4-star hotels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High urgency behavior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Premium pricing potential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Large market volume</a:t>
            </a:r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A83A4-EED6-C67A-E1A9-D3C0FD7A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980" y="300038"/>
            <a:ext cx="3794331" cy="2816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858BB-A19C-F752-9045-AB5D4F09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568" y="169146"/>
            <a:ext cx="3574026" cy="2955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3D5D5C-E2AD-2D3E-ED90-4EDD3E889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206" y="3435607"/>
            <a:ext cx="3775587" cy="30962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430B5C-5A6D-BD37-E740-015270B80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007" y="3430075"/>
            <a:ext cx="3521180" cy="302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6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29A9-6A1A-302D-0373-1D651FC5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3142"/>
          </a:xfrm>
        </p:spPr>
        <p:txBody>
          <a:bodyPr/>
          <a:lstStyle/>
          <a:p>
            <a:r>
              <a:rPr lang="en-US" sz="1600" b="1"/>
              <a:t>                                                                                     Star Rating × City (City-Level Analysis)</a:t>
            </a:r>
            <a:endParaRPr lang="en-US" sz="160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99DFCC-D0A9-1BD4-EAD7-DADC0E0EF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230988"/>
              </p:ext>
            </p:extLst>
          </p:nvPr>
        </p:nvGraphicFramePr>
        <p:xfrm>
          <a:off x="147052" y="815473"/>
          <a:ext cx="3744015" cy="21819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8803">
                  <a:extLst>
                    <a:ext uri="{9D8B030D-6E8A-4147-A177-3AD203B41FA5}">
                      <a16:colId xmlns:a16="http://schemas.microsoft.com/office/drawing/2014/main" val="2321069769"/>
                    </a:ext>
                  </a:extLst>
                </a:gridCol>
                <a:gridCol w="748803">
                  <a:extLst>
                    <a:ext uri="{9D8B030D-6E8A-4147-A177-3AD203B41FA5}">
                      <a16:colId xmlns:a16="http://schemas.microsoft.com/office/drawing/2014/main" val="2268058321"/>
                    </a:ext>
                  </a:extLst>
                </a:gridCol>
                <a:gridCol w="748803">
                  <a:extLst>
                    <a:ext uri="{9D8B030D-6E8A-4147-A177-3AD203B41FA5}">
                      <a16:colId xmlns:a16="http://schemas.microsoft.com/office/drawing/2014/main" val="2756638995"/>
                    </a:ext>
                  </a:extLst>
                </a:gridCol>
                <a:gridCol w="748803">
                  <a:extLst>
                    <a:ext uri="{9D8B030D-6E8A-4147-A177-3AD203B41FA5}">
                      <a16:colId xmlns:a16="http://schemas.microsoft.com/office/drawing/2014/main" val="1530864865"/>
                    </a:ext>
                  </a:extLst>
                </a:gridCol>
                <a:gridCol w="748803">
                  <a:extLst>
                    <a:ext uri="{9D8B030D-6E8A-4147-A177-3AD203B41FA5}">
                      <a16:colId xmlns:a16="http://schemas.microsoft.com/office/drawing/2014/main" val="101269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solidFill>
                            <a:schemeClr val="bg1"/>
                          </a:solidFill>
                          <a:effectLst/>
                        </a:rPr>
                        <a:t>Rank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solidFill>
                            <a:schemeClr val="bg1"/>
                          </a:solidFill>
                          <a:effectLst/>
                        </a:rPr>
                        <a:t>Segment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solidFill>
                            <a:schemeClr val="bg1"/>
                          </a:solidFill>
                          <a:effectLst/>
                        </a:rPr>
                        <a:t>% Last-Minute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solidFill>
                            <a:schemeClr val="bg1"/>
                          </a:solidFill>
                          <a:effectLst/>
                        </a:rPr>
                        <a:t>Bookings</a:t>
                      </a: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solidFill>
                            <a:schemeClr val="bg1"/>
                          </a:solidFill>
                          <a:effectLst/>
                        </a:rPr>
                        <a:t>Avg Price</a:t>
                      </a: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319500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1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City E 1⭐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75.6%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86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$30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2257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City B 0⭐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73.5%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34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$24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69994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3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City A 0⭐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68.8%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112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$53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87928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4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City E 4⭐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64.8% 🎯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1,480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$161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159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5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City B 1⭐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64.8%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216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28205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950">
                          <a:effectLst/>
                        </a:rPr>
                        <a:t>$50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311880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163B95-91C3-B0B5-13A0-E81FAC24C7A3}"/>
              </a:ext>
            </a:extLst>
          </p:cNvPr>
          <p:cNvSpPr txBox="1"/>
          <p:nvPr/>
        </p:nvSpPr>
        <p:spPr>
          <a:xfrm>
            <a:off x="0" y="434473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i="0">
                <a:latin typeface="-apple-system"/>
                <a:ea typeface="-apple-system"/>
                <a:cs typeface="-apple-system"/>
              </a:rPr>
              <a:t>Top 5 City + Star Combinations by Urgency:</a:t>
            </a:r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F1C37-9535-F8B1-2199-36906A3C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649" y="369889"/>
            <a:ext cx="4255335" cy="5917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FB8F13-8206-50BA-EF3A-8C18DB1E3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854" y="393867"/>
            <a:ext cx="3671136" cy="5896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D6DE74-F8B4-5D31-0144-F99E38D7EE4E}"/>
              </a:ext>
            </a:extLst>
          </p:cNvPr>
          <p:cNvSpPr txBox="1"/>
          <p:nvPr/>
        </p:nvSpPr>
        <p:spPr>
          <a:xfrm>
            <a:off x="0" y="3308684"/>
            <a:ext cx="6096000" cy="7632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Why City E 4⭐ is the SWEET SPOT: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64.8% urgency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(2nd highest for substantial volume)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1,480 bookings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(LARGE market, 31% of City E)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$161 avg price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(premium but not luxury)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13 hotels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(actionable inventory)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City-by-City Urgency Patterns: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 E: High Urgency Across Board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ALL star ratings &gt;50% urgency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(except 4.5⭐)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4⭐ hotels: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64.8% urgency, 30.7% of market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1⭐ budget: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75.6% urgency (but only 86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5⭐ luxury: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60.7% urgency (708 bookings = responsive to urgency!)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Market composition: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4⭐ (31%) + 3⭐ (29%) = 60% of City E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 A: 4-Star Sweet Spot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4⭐ hotels: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55.4% urgency, 26.1% of market (5,841 bookings!)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2⭐ budget: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56.3% urgency (1,247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3⭐ mid-tier: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53.9% urgency (4,844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5⭐ luxury: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51.6% urgency (2,584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Urgency consistent across most tiers (47-56%)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 B: Mixed Patterns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0-2⭐ budget: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58-74% urgency (702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3-4⭐ mid/upper: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51-54% urgency (3,691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5⭐ luxury:</a:t>
            </a:r>
            <a:r>
              <a:rPr lang="en-US" sz="800" b="0" i="0" dirty="0">
                <a:latin typeface="-apple-system"/>
                <a:ea typeface="-apple-system"/>
                <a:cs typeface="-apple-system"/>
              </a:rPr>
              <a:t> </a:t>
            </a:r>
            <a:r>
              <a:rPr lang="en-US" sz="800" b="1" i="0">
                <a:latin typeface="-apple-system"/>
                <a:ea typeface="-apple-system"/>
                <a:cs typeface="-apple-system"/>
              </a:rPr>
              <a:t>ONLY 37.7%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urgency (403 bookings = planners!)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Drop-off at luxury tier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 D: 4-Star Urgency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4⭐ hotels: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49.9% urgency, 44.3% of market (4,499 bookings!)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1⭐ budget: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48.0% urgency (1,557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3⭐ mid-tier: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37.1% urgency (lower than expected)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Premium pricing ($198-1,073 avg)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CITY C: PLANNERS ACROSS ALL STAR RATINGS! ⚠️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5⭐ luxury: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ONLY 22.8% urgency ($667 avg)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4⭐ upper-mid: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29.3% urgency ($445 avg)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3⭐ mid-tier: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27.9% urgency (40% of market)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1⭐ budget: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37.2% urgency (still lowest among all cities)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 dirty="0">
                <a:latin typeface="-apple-system"/>
                <a:ea typeface="-apple-system"/>
                <a:cs typeface="-apple-system"/>
              </a:rPr>
              <a:t>Even budget travelers plan ahead in City C!</a:t>
            </a: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Premium pricing + planning culture = avoid urgency here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🎯 Business Implications: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0" i="0"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800" b="1" i="0">
                <a:latin typeface="-apple-system"/>
                <a:ea typeface="-apple-system"/>
                <a:cs typeface="-apple-system"/>
              </a:rPr>
              <a:t>TIER 1 TARGET (Launch Here):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E 4⭐: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64.8% urgency, 1,480 bookings, $161 avg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A 4⭐: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55.4% urgency, 5,841 bookings (MASSIVE!), $130 avg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E 3⭐: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52.0% urgency, 1,404 bookings, $89 avg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0" i="0">
                <a:latin typeface="-apple-system"/>
                <a:ea typeface="-apple-system"/>
                <a:cs typeface="-apple-system"/>
              </a:rPr>
              <a:t>✅ </a:t>
            </a:r>
            <a:r>
              <a:rPr lang="en-US" sz="800" b="1" i="0">
                <a:latin typeface="-apple-system"/>
                <a:ea typeface="-apple-system"/>
                <a:cs typeface="-apple-system"/>
              </a:rPr>
              <a:t>TIER 2 TARGET (Scale):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A 3⭐: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53.9% urgency, 4,844 bookings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B 3-4⭐: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51-54% urgency, 3,691 bookings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D 4⭐: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49.9% urgency, 4,499 bookings (premium)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0" i="0">
                <a:latin typeface="-apple-system"/>
                <a:ea typeface="-apple-system"/>
                <a:cs typeface="-apple-system"/>
              </a:rPr>
              <a:t>⚠️ </a:t>
            </a:r>
            <a:r>
              <a:rPr lang="en-US" sz="800" b="1" i="0">
                <a:latin typeface="-apple-system"/>
                <a:ea typeface="-apple-system"/>
                <a:cs typeface="-apple-system"/>
              </a:rPr>
              <a:t>AVOID (Planners):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C ALL star ratings: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9-38% urgency (planners dominate)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B 5⭐: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37.7% urgency (luxury planners)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Use availability/quality messaging instead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l"/>
            <a:r>
              <a:rPr lang="en-US" sz="800" b="1" i="0">
                <a:latin typeface="-apple-system"/>
                <a:ea typeface="-apple-system"/>
                <a:cs typeface="-apple-system"/>
              </a:rPr>
              <a:t>📊 Key Insights: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marL="228600" indent="-228600" algn="l">
              <a:buFont typeface=""/>
              <a:buAutoNum type="arabicPeriod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matters MORE than star rating!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City E 5⭐ (60.7%) &gt; City C 1⭐ (37.2%)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A luxury hotel in City E is more urgent than budget in City C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indent="-228600" algn="l">
              <a:buFont typeface=""/>
              <a:buAutoNum type="arabicPeriod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4-star is consistently high urgency</a:t>
            </a:r>
            <a:r>
              <a:rPr lang="en-US" sz="800" b="0" i="0">
                <a:latin typeface="-apple-system"/>
                <a:ea typeface="-apple-system"/>
                <a:cs typeface="-apple-system"/>
              </a:rPr>
              <a:t> (except City C)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City E: 64.8%, City A: 55.4%, City D: 49.9%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indent="-228600" algn="l">
              <a:buFont typeface=""/>
              <a:buAutoNum type="arabicPeriod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City C is UNIQUE: ALL segments are planners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Premium market + planning culture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Need different messaging strategy entirely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marL="228600" indent="-228600" algn="l">
              <a:buFont typeface=""/>
              <a:buAutoNum type="arabicPeriod"/>
            </a:pPr>
            <a:r>
              <a:rPr lang="en-US" sz="800" b="1" i="0">
                <a:latin typeface="-apple-system"/>
                <a:ea typeface="-apple-system"/>
                <a:cs typeface="-apple-system"/>
              </a:rPr>
              <a:t>Budget (0-2⭐) shows extreme urgency in Cities A/B/E</a:t>
            </a:r>
            <a:endParaRPr lang="en-US" sz="800" b="1" i="0" dirty="0">
              <a:latin typeface="-apple-system"/>
              <a:ea typeface="-apple-system"/>
              <a:cs typeface="-apple-system"/>
            </a:endParaRPr>
          </a:p>
          <a:p>
            <a:pPr marL="228600" lvl="1" indent="-228600" algn="l">
              <a:buFont typeface=""/>
              <a:buAutoNum type="arabicPeriod"/>
            </a:pPr>
            <a:r>
              <a:rPr lang="en-US" sz="800" b="0" i="0">
                <a:latin typeface="-apple-system"/>
                <a:ea typeface="-apple-system"/>
                <a:cs typeface="-apple-system"/>
              </a:rPr>
              <a:t>But low volume except City A 2⭐ (1,247 bookings)</a:t>
            </a:r>
            <a:endParaRPr lang="en-US" sz="800" b="0" i="0" dirty="0">
              <a:latin typeface="-apple-system"/>
              <a:ea typeface="-apple-system"/>
              <a:cs typeface="-apple-system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32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D77B-F06D-0993-06C5-E7E9647A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1499"/>
          </a:xfrm>
        </p:spPr>
        <p:txBody>
          <a:bodyPr/>
          <a:lstStyle/>
          <a:p>
            <a:r>
              <a:rPr lang="en-US" sz="1600" b="1">
                <a:highlight>
                  <a:srgbClr val="FFFFFF"/>
                </a:highlight>
              </a:rPr>
              <a:t>                                                                                                        EDA #12 - Chain Status × City</a:t>
            </a:r>
            <a:endParaRPr lang="en-US" sz="16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4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6121-C92C-9C3E-D215-99AB1982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b="1">
                <a:highlight>
                  <a:srgbClr val="FFFFFF"/>
                </a:highlight>
                <a:ea typeface="+mj-lt"/>
                <a:cs typeface="+mj-lt"/>
              </a:rPr>
              <a:t>Testing whether the relationship between booking lead time and ADR is statistically significant, and whether this effect varies across markets.</a:t>
            </a:r>
            <a:endParaRPr lang="en-US" sz="4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F91CB-CDF7-739B-C4E3-FFC7F46D0303}"/>
              </a:ext>
            </a:extLst>
          </p:cNvPr>
          <p:cNvSpPr txBox="1"/>
          <p:nvPr/>
        </p:nvSpPr>
        <p:spPr>
          <a:xfrm>
            <a:off x="319548" y="1437968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Overall Market:</a:t>
            </a:r>
          </a:p>
          <a:p>
            <a:pPr algn="l">
              <a:buFont typeface=""/>
              <a:buChar char="•"/>
            </a:pPr>
            <a:r>
              <a:rPr lang="en-US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Spearman ρ:</a:t>
            </a:r>
            <a:r>
              <a:rPr lang="en-US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0.1613 (weak positive correlation)</a:t>
            </a:r>
          </a:p>
          <a:p>
            <a:pPr algn="l">
              <a:buFont typeface=""/>
              <a:buChar char="•"/>
            </a:pPr>
            <a:r>
              <a:rPr lang="en-US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P-value:</a:t>
            </a:r>
            <a:r>
              <a:rPr lang="en-US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2.15e-283 ✅ </a:t>
            </a:r>
            <a:r>
              <a:rPr lang="en-US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Highly significant</a:t>
            </a:r>
          </a:p>
          <a:p>
            <a:pPr algn="l">
              <a:buFont typeface=""/>
              <a:buChar char="•"/>
            </a:pPr>
            <a:r>
              <a:rPr lang="en-US" b="1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Interpretation:</a:t>
            </a:r>
            <a:r>
              <a:rPr lang="en-US" b="0" i="0">
                <a:solidFill>
                  <a:srgbClr val="161616"/>
                </a:solidFill>
                <a:latin typeface="-apple-system"/>
                <a:ea typeface="-apple-system"/>
                <a:cs typeface="-apple-system"/>
              </a:rPr>
              <a:t> Positive relationship exists but is weak</a:t>
            </a:r>
          </a:p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FF870A-C2BF-2EE9-CDDD-48D2A8A84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80617"/>
              </p:ext>
            </p:extLst>
          </p:nvPr>
        </p:nvGraphicFramePr>
        <p:xfrm>
          <a:off x="154982" y="2738034"/>
          <a:ext cx="1099022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98044">
                  <a:extLst>
                    <a:ext uri="{9D8B030D-6E8A-4147-A177-3AD203B41FA5}">
                      <a16:colId xmlns:a16="http://schemas.microsoft.com/office/drawing/2014/main" val="3640023569"/>
                    </a:ext>
                  </a:extLst>
                </a:gridCol>
                <a:gridCol w="2198044">
                  <a:extLst>
                    <a:ext uri="{9D8B030D-6E8A-4147-A177-3AD203B41FA5}">
                      <a16:colId xmlns:a16="http://schemas.microsoft.com/office/drawing/2014/main" val="733497589"/>
                    </a:ext>
                  </a:extLst>
                </a:gridCol>
                <a:gridCol w="2198044">
                  <a:extLst>
                    <a:ext uri="{9D8B030D-6E8A-4147-A177-3AD203B41FA5}">
                      <a16:colId xmlns:a16="http://schemas.microsoft.com/office/drawing/2014/main" val="3241220004"/>
                    </a:ext>
                  </a:extLst>
                </a:gridCol>
                <a:gridCol w="2198044">
                  <a:extLst>
                    <a:ext uri="{9D8B030D-6E8A-4147-A177-3AD203B41FA5}">
                      <a16:colId xmlns:a16="http://schemas.microsoft.com/office/drawing/2014/main" val="2636432275"/>
                    </a:ext>
                  </a:extLst>
                </a:gridCol>
                <a:gridCol w="2198044">
                  <a:extLst>
                    <a:ext uri="{9D8B030D-6E8A-4147-A177-3AD203B41FA5}">
                      <a16:colId xmlns:a16="http://schemas.microsoft.com/office/drawing/2014/main" val="2649618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Spearman 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Significance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19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City A</a:t>
                      </a:r>
                      <a:endParaRPr lang="en-US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0.0843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 Significant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49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City B</a:t>
                      </a:r>
                      <a:endParaRPr lang="en-US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0.2271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 Significant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Weak 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25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City C</a:t>
                      </a:r>
                      <a:endParaRPr lang="en-US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0.2094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 Significant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Weak 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634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City D</a:t>
                      </a:r>
                      <a:endParaRPr lang="en-US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0.0095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b="1">
                          <a:effectLst/>
                        </a:rPr>
                        <a:t>Not significant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61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City E</a:t>
                      </a:r>
                      <a:endParaRPr lang="en-US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0.0726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4.58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  Significant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No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3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208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Executive summary</vt:lpstr>
      <vt:lpstr>                     Executive Summary cont...</vt:lpstr>
      <vt:lpstr>                   City Distribution Analysis </vt:lpstr>
      <vt:lpstr>   Accommodation Type Distribution </vt:lpstr>
      <vt:lpstr>                                                                                                     ADR Distribution Analysis </vt:lpstr>
      <vt:lpstr>PowerPoint Presentation</vt:lpstr>
      <vt:lpstr>                                                                 Lead Time Distribution (Urgency Behavior) </vt:lpstr>
      <vt:lpstr>Price by Booking Window</vt:lpstr>
      <vt:lpstr> City-Level Urgency Behavior</vt:lpstr>
      <vt:lpstr>                                                                                                    Monthly Seasonality</vt:lpstr>
      <vt:lpstr>                                                                                          Hotel Characteristics (Star Rating) </vt:lpstr>
      <vt:lpstr>                                                                                                          EDA #8 - Chain vs Independent Hotels </vt:lpstr>
      <vt:lpstr>                                                                                     Star Rating × City (City-Level Analysis) </vt:lpstr>
      <vt:lpstr>                                                                                                        EDA #12 - Chain Status × City </vt:lpstr>
      <vt:lpstr>Testing whether the relationship between booking lead time and ADR is statistically significant, and whether this effect varies across markets.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517</cp:revision>
  <dcterms:created xsi:type="dcterms:W3CDTF">2013-07-15T20:26:40Z</dcterms:created>
  <dcterms:modified xsi:type="dcterms:W3CDTF">2026-08-02T15:56:47Z</dcterms:modified>
</cp:coreProperties>
</file>