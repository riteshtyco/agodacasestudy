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Relationship Id="rId12" Type="http://schemas.openxmlformats.org/officeDocument/2006/relationships/image" Target="../media/image28.png"/><Relationship Id="rId13" Type="http://schemas.openxmlformats.org/officeDocument/2006/relationships/image" Target="../media/image29.png"/><Relationship Id="rId14" Type="http://schemas.openxmlformats.org/officeDocument/2006/relationships/image" Target="../media/image30.png"/><Relationship Id="rId15" Type="http://schemas.openxmlformats.org/officeDocument/2006/relationships/image" Target="../media/image31.png"/><Relationship Id="rId16" Type="http://schemas.openxmlformats.org/officeDocument/2006/relationships/image" Target="../media/image32.png"/><Relationship Id="rId17" Type="http://schemas.openxmlformats.org/officeDocument/2006/relationships/image" Target="../media/image33.png"/><Relationship Id="rId18" Type="http://schemas.openxmlformats.org/officeDocument/2006/relationships/image" Target="../media/image34.png"/><Relationship Id="rId19" Type="http://schemas.openxmlformats.org/officeDocument/2006/relationships/image" Target="../media/image35.png"/><Relationship Id="rId20" Type="http://schemas.openxmlformats.org/officeDocument/2006/relationships/image" Target="../media/image36.png"/><Relationship Id="rId21" Type="http://schemas.openxmlformats.org/officeDocument/2006/relationships/image" Target="../media/image37.png"/><Relationship Id="rId22" Type="http://schemas.openxmlformats.org/officeDocument/2006/relationships/image" Target="../media/image3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.png"/><Relationship Id="rId9" Type="http://schemas.openxmlformats.org/officeDocument/2006/relationships/image" Target="../media/image4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Relationship Id="rId10" Type="http://schemas.openxmlformats.org/officeDocument/2006/relationships/image" Target="../media/image32.png"/><Relationship Id="rId11" Type="http://schemas.openxmlformats.org/officeDocument/2006/relationships/image" Target="../media/image55.png"/><Relationship Id="rId12" Type="http://schemas.openxmlformats.org/officeDocument/2006/relationships/image" Target="../media/image56.png"/><Relationship Id="rId13" Type="http://schemas.openxmlformats.org/officeDocument/2006/relationships/image" Target="../media/image57.png"/><Relationship Id="rId14" Type="http://schemas.openxmlformats.org/officeDocument/2006/relationships/image" Target="../media/image58.png"/><Relationship Id="rId15" Type="http://schemas.openxmlformats.org/officeDocument/2006/relationships/image" Target="../media/image59.png"/><Relationship Id="rId16" Type="http://schemas.openxmlformats.org/officeDocument/2006/relationships/image" Target="../media/image6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Relationship Id="rId9" Type="http://schemas.openxmlformats.org/officeDocument/2006/relationships/image" Target="../media/image6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6480810" cy="8417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Montserrat"/>
              </a:rPr>
              <a:t>Executive Summary &amp; Applied Analytics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413271"/>
            <a:ext cx="617220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0"/>
            <a:ext cx="48768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1718071"/>
            <a:ext cx="6172200" cy="1152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Open Sans"/>
              </a:rPr>
              <a:t>Product leadership is exploring urgency messaging (e.g., </a:t>
            </a:r>
            <a:r>
              <a:rPr b="0" sz="1200" i="1" u="none">
                <a:solidFill>
                  <a:srgbClr val="334155"/>
                </a:solidFill>
                <a:latin typeface="Open Sans"/>
              </a:rPr>
              <a:t>"Prices are rising, book now!"</a:t>
            </a:r>
            <a:r>
              <a:rPr b="0" sz="1200" i="0" u="none">
                <a:solidFill>
                  <a:srgbClr val="334155"/>
                </a:solidFill>
                <a:latin typeface="Open Sans"/>
              </a:rPr>
              <a:t>) to drive conversion. Moving beyond theoretical frameworks, this deck applies rigorous mathematical modeling directly to the dataset (N = 48,914 bookings) to precisely quantify the urgency opportunity.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203971"/>
            <a:ext cx="648081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500" i="0" u="none">
                <a:solidFill>
                  <a:srgbClr val="0F172A"/>
                </a:solidFill>
                <a:latin typeface="Montserrat"/>
              </a:rPr>
              <a:t>Calculated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5747146"/>
            <a:ext cx="648081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500" i="0" u="none">
                <a:solidFill>
                  <a:srgbClr val="0F172A"/>
                </a:solidFill>
                <a:latin typeface="Montserrat"/>
              </a:rPr>
              <a:t>Strategic Recommendations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194321"/>
            <a:ext cx="6153596" cy="442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0100" y="3527821"/>
            <a:ext cx="5943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Open Sans"/>
              </a:rPr>
              <a:t>The "Price Drop" Paradox:</a:t>
            </a:r>
            <a:r>
              <a:rPr b="0" sz="1200" i="0" u="none">
                <a:solidFill>
                  <a:srgbClr val="334155"/>
                </a:solidFill>
                <a:latin typeface="Open Sans"/>
              </a:rPr>
              <a:t> Prices drop exponentially (-$13/day) as check-in approaches. Static "Prices are rising" copy is factually incorrect and creates trust liabilities.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4308871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Open Sans"/>
              </a:rPr>
              <a:t>Addressable Market:</a:t>
            </a:r>
            <a:r>
              <a:rPr b="0" sz="1200" i="0" u="none">
                <a:solidFill>
                  <a:srgbClr val="334155"/>
                </a:solidFill>
                <a:latin typeface="Open Sans"/>
              </a:rPr>
              <a:t> 47.9% of bookings occur within 7 days, proving an active "urgency mode" user base.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4861321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Open Sans"/>
              </a:rPr>
              <a:t>Propensity Scoring:</a:t>
            </a:r>
            <a:r>
              <a:rPr b="0" sz="1200" i="0" u="none">
                <a:solidFill>
                  <a:srgbClr val="334155"/>
                </a:solidFill>
                <a:latin typeface="Open Sans"/>
              </a:rPr>
              <a:t> Identified precisely 7,321 bookings within the optimal test matrix (City E &amp; A, 4-Star Non-Chain).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6070996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Open Sans"/>
              </a:rPr>
              <a:t>Pivot Strategy:</a:t>
            </a:r>
            <a:r>
              <a:rPr b="0" sz="1200" i="0" u="none">
                <a:solidFill>
                  <a:srgbClr val="334155"/>
                </a:solidFill>
                <a:latin typeface="Open Sans"/>
              </a:rPr>
              <a:t> Transition to verified </a:t>
            </a:r>
            <a:r>
              <a:rPr b="0" sz="1200" i="1" u="none">
                <a:solidFill>
                  <a:srgbClr val="334155"/>
                </a:solidFill>
                <a:latin typeface="Open Sans"/>
              </a:rPr>
              <a:t>Inventory Scarcity</a:t>
            </a:r>
            <a:r>
              <a:rPr b="0" sz="1200" i="0" u="none">
                <a:solidFill>
                  <a:srgbClr val="334155"/>
                </a:solidFill>
                <a:latin typeface="Open Sans"/>
              </a:rPr>
              <a:t> and </a:t>
            </a:r>
            <a:r>
              <a:rPr b="0" sz="1200" i="1" u="none">
                <a:solidFill>
                  <a:srgbClr val="334155"/>
                </a:solidFill>
                <a:latin typeface="Open Sans"/>
              </a:rPr>
              <a:t>Social Proof</a:t>
            </a:r>
            <a:r>
              <a:rPr b="0" sz="1200" i="0" u="none">
                <a:solidFill>
                  <a:srgbClr val="334155"/>
                </a:solidFill>
                <a:latin typeface="Open Sans"/>
              </a:rPr>
              <a:t> APIs.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6394846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Open Sans"/>
              </a:rPr>
              <a:t>Financial Projections:</a:t>
            </a:r>
            <a:r>
              <a:rPr b="0" sz="1200" i="0" u="none">
                <a:solidFill>
                  <a:srgbClr val="334155"/>
                </a:solidFill>
                <a:latin typeface="Open Sans"/>
              </a:rPr>
              <a:t> Calculated A/B test power requirements reveal an estimated </a:t>
            </a:r>
            <a:r>
              <a:rPr b="1" sz="1200" i="0" u="none">
                <a:solidFill>
                  <a:srgbClr val="059669"/>
                </a:solidFill>
                <a:latin typeface="Open Sans"/>
              </a:rPr>
              <a:t>$212,000 annualized GBV lift</a:t>
            </a:r>
            <a:r>
              <a:rPr b="0" sz="1200" i="0" u="none">
                <a:solidFill>
                  <a:srgbClr val="334155"/>
                </a:solidFill>
                <a:latin typeface="Open Sans"/>
              </a:rPr>
              <a:t> on the micro-segment alone.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46871"/>
            <a:ext cx="85725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327921"/>
            <a:ext cx="85725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880371"/>
            <a:ext cx="85725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6090046"/>
            <a:ext cx="85725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6413896"/>
            <a:ext cx="8572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725810"/>
            <a:ext cx="5334000" cy="809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725935"/>
            <a:ext cx="5334000" cy="1028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306710"/>
            <a:ext cx="5334000" cy="919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Open Sans"/>
              </a:rPr>
              <a:t>To establish baseline pricing for dynamic messaging, we must isolate the mathematical center of the market. The dataset reveals extreme right-skewness driven by a long tail of luxury properties ($3,156 Max).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2368748"/>
            <a:ext cx="5334000" cy="1747837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1500" y="2368748"/>
          <a:ext cx="5324473" cy="1747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500633"/>
                <a:gridCol w="1609873"/>
                <a:gridCol w="2213967"/>
              </a:tblGrid>
              <a:tr h="436959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0F172A"/>
                          </a:solidFill>
                          <a:latin typeface="Montserrat SemiBold"/>
                        </a:rPr>
                        <a:t>Dimension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0F172A"/>
                          </a:solidFill>
                          <a:latin typeface="Montserrat SemiBold"/>
                        </a:rPr>
                        <a:t>Top Category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0F172A"/>
                          </a:solidFill>
                          <a:latin typeface="Montserrat SemiBold"/>
                        </a:rPr>
                        <a:t>Volume Share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36959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Open Sans"/>
                        </a:rPr>
                        <a:t>City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Open Sans"/>
                        </a:rPr>
                        <a:t>City 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Open Sans"/>
                        </a:rPr>
                        <a:t>45.6% (22,366 bookings)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6959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Open Sans"/>
                        </a:rPr>
                        <a:t>Property Type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Open Sans"/>
                        </a:rPr>
                        <a:t>Hotel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Open Sans"/>
                        </a:rPr>
                        <a:t>72.2% (35,441 bookings)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696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Open Sans"/>
                        </a:rPr>
                        <a:t>Chain Status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Open Sans"/>
                        </a:rPr>
                        <a:t>Non-Chain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Open Sans"/>
                        </a:rPr>
                        <a:t>73.0% (35,825 bookings)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71500" y="4259460"/>
            <a:ext cx="5334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Open Sans"/>
              </a:rPr>
              <a:t>*Non-chain inventory is highly fragmented and price-sensitive, ideal for product intervention.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1306710"/>
            <a:ext cx="56007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500" i="0" u="none">
                <a:solidFill>
                  <a:srgbClr val="0F172A"/>
                </a:solidFill>
                <a:latin typeface="Montserrat"/>
              </a:rPr>
              <a:t>ADR Distribution: The 30.3% Inflation Gap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7575" y="1554360"/>
            <a:ext cx="1571922" cy="20955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76262" y="2787848"/>
            <a:ext cx="15006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76896" y="2787848"/>
            <a:ext cx="16098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86770" y="2787848"/>
            <a:ext cx="22139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6525" y="1830585"/>
            <a:ext cx="49339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b="0" sz="900" i="0" u="none">
                <a:solidFill>
                  <a:srgbClr val="334155"/>
                </a:solidFill>
                <a:latin typeface="Open Sans SemiBold"/>
              </a:rPr>
              <a:t>Booking ADR Distribution ($)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96025" y="2268735"/>
            <a:ext cx="531495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2687" y="2316360"/>
            <a:ext cx="666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Open Sans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5133" y="2154435"/>
            <a:ext cx="20002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Open Sans"/>
              </a:rPr>
              <a:t>$63</a:t>
            </a:r>
            <a:r>
              <a:t>
</a:t>
            </a:r>
            <a:r>
              <a:rPr b="0" sz="900" i="0" u="none">
                <a:solidFill>
                  <a:srgbClr val="94A3B8"/>
                </a:solidFill>
                <a:latin typeface="Open Sans"/>
              </a:rPr>
              <a:t>P25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91127" y="2154435"/>
            <a:ext cx="42862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Open Sans"/>
              </a:rPr>
              <a:t>$114</a:t>
            </a:r>
            <a:r>
              <a:t>
</a:t>
            </a:r>
            <a:r>
              <a:rPr b="1" sz="900" i="0" u="none">
                <a:solidFill>
                  <a:srgbClr val="1D4ED8"/>
                </a:solidFill>
                <a:latin typeface="Open Sans"/>
              </a:rPr>
              <a:t>Median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13737" y="2154435"/>
            <a:ext cx="2667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Open Sans"/>
              </a:rPr>
              <a:t>$192</a:t>
            </a:r>
            <a:r>
              <a:t>
</a:t>
            </a:r>
            <a:r>
              <a:rPr b="0" sz="900" i="0" u="none">
                <a:solidFill>
                  <a:srgbClr val="94A3B8"/>
                </a:solidFill>
                <a:latin typeface="Open Sans"/>
              </a:rPr>
              <a:t>P75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25782" y="2154435"/>
            <a:ext cx="2667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Open Sans"/>
              </a:rPr>
              <a:t>$366</a:t>
            </a:r>
            <a:r>
              <a:t>
</a:t>
            </a:r>
            <a:r>
              <a:rPr b="0" sz="900" i="0" u="none">
                <a:solidFill>
                  <a:srgbClr val="94A3B8"/>
                </a:solidFill>
                <a:latin typeface="Open Sans"/>
              </a:rPr>
              <a:t>P95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4762" y="2154435"/>
            <a:ext cx="35242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900" i="0" u="none">
                <a:solidFill>
                  <a:srgbClr val="64748B"/>
                </a:solidFill>
                <a:latin typeface="Open Sans"/>
              </a:rPr>
              <a:t>Luxury</a:t>
            </a:r>
            <a:r>
              <a:t>
</a:t>
            </a:r>
            <a:r>
              <a:rPr b="0" sz="900" i="0" u="none">
                <a:solidFill>
                  <a:srgbClr val="64748B"/>
                </a:solidFill>
                <a:latin typeface="Open Sans"/>
              </a:rPr>
              <a:t> Tail 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49156" y="2497335"/>
            <a:ext cx="775841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49156" y="2354460"/>
            <a:ext cx="19050" cy="2857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25146" y="2211585"/>
            <a:ext cx="1721941" cy="571500"/>
          </a:xfrm>
          <a:prstGeom prst="rect">
            <a:avLst/>
          </a:prstGeom>
          <a:solidFill>
            <a:srgbClr val="BFDBFE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05439" y="2211585"/>
            <a:ext cx="19050" cy="5715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68208" y="2116335"/>
            <a:ext cx="18856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EA580C"/>
                </a:solidFill>
                <a:latin typeface="Open Sans"/>
              </a:rPr>
              <a:t>▼ </a:t>
            </a:r>
            <a:r>
              <a:rPr b="1" sz="1500" i="0" u="none">
                <a:solidFill>
                  <a:srgbClr val="EA580C"/>
                </a:solidFill>
                <a:latin typeface="Open Sans"/>
              </a:rPr>
              <a:t>Mean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47087" y="2497335"/>
            <a:ext cx="2311896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159132" y="2354460"/>
            <a:ext cx="19050" cy="2857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5100" y="2916435"/>
            <a:ext cx="4876800" cy="685800"/>
          </a:xfrm>
          <a:prstGeom prst="rect">
            <a:avLst/>
          </a:prstGeom>
          <a:noFill/>
        </p:spPr>
        <p:txBody>
          <a:bodyPr wrap="square" lIns="22860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Open Sans"/>
              </a:rPr>
              <a:t>Statistical Imperative:</a:t>
            </a:r>
            <a:r>
              <a:rPr b="0" sz="1200" i="0" u="none">
                <a:solidFill>
                  <a:srgbClr val="991B1B"/>
                </a:solidFill>
                <a:latin typeface="Open Sans SemiBold"/>
              </a:rPr>
              <a:t> The Mean-Median gap is $34.43 (30.3% inflation). Using the Mean ADR for algorithms will overprice the market, suppressing conversion.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6262" y="3225998"/>
            <a:ext cx="15006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076896" y="3225998"/>
            <a:ext cx="16098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86770" y="3225998"/>
            <a:ext cx="22139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6262" y="3664148"/>
            <a:ext cx="15006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076896" y="3664148"/>
            <a:ext cx="16098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86770" y="3664148"/>
            <a:ext cx="22139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0" y="2954535"/>
            <a:ext cx="152400" cy="1524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71500" y="476250"/>
            <a:ext cx="11601450" cy="430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Montserrat"/>
              </a:rPr>
              <a:t>1. Distribution Diagnostics: Quantifying Skewness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1500" y="1001910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619750"/>
            <a:ext cx="11049000" cy="76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906785"/>
            <a:ext cx="5334000" cy="36177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306710"/>
            <a:ext cx="1104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Open Sans"/>
              </a:rPr>
              <a:t>We calculated the daily rate of price change (velocity) across lead-time buckets. The data proves that prices do not rise linearly; they decay at an accelerating, non-linear (exponential) rate as check-in approaches.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5772150"/>
            <a:ext cx="10553700" cy="457200"/>
          </a:xfrm>
          <a:prstGeom prst="rect">
            <a:avLst/>
          </a:prstGeom>
          <a:noFill/>
        </p:spPr>
        <p:txBody>
          <a:bodyPr wrap="square" lIns="20955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Open Sans"/>
              </a:rPr>
              <a:t>Analytical Conclusion:</a:t>
            </a:r>
            <a:r>
              <a:rPr b="0" sz="1200" i="0" u="none">
                <a:solidFill>
                  <a:srgbClr val="064E3B"/>
                </a:solidFill>
                <a:latin typeface="Open Sans SemiBold"/>
              </a:rPr>
              <a:t> Because prices drop geometrically in the final 72 hours, false urgency copy creates severe legal/trust liabilities. We must pivot to API-driven Inventory Scarcity.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1906785"/>
            <a:ext cx="5334000" cy="34480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1500" y="1906785"/>
          <a:ext cx="5324473" cy="3448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950565"/>
                <a:gridCol w="850999"/>
                <a:gridCol w="1801117"/>
                <a:gridCol w="1721792"/>
              </a:tblGrid>
              <a:tr h="492578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0F172A"/>
                          </a:solidFill>
                          <a:latin typeface="Montserrat SemiBold"/>
                        </a:rPr>
                        <a:t>Lead Time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0F172A"/>
                          </a:solidFill>
                          <a:latin typeface="Montserrat SemiBold"/>
                        </a:rPr>
                        <a:t>Avg ADR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0F172A"/>
                          </a:solidFill>
                          <a:latin typeface="Montserrat SemiBold"/>
                        </a:rPr>
                        <a:t>$\Delta$ from Prior ($)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0F172A"/>
                          </a:solidFill>
                          <a:latin typeface="Montserrat SemiBold"/>
                        </a:rPr>
                        <a:t>Calculated Velocity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92578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Open Sans"/>
                        </a:rPr>
                        <a:t>30+ Days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Open Sans"/>
                        </a:rPr>
                        <a:t>$170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Open Sans"/>
                        </a:rPr>
                        <a:t>-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Open Sans"/>
                        </a:rPr>
                        <a:t>Baseline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2578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Open Sans"/>
                        </a:rPr>
                        <a:t>14-28 Days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Open Sans"/>
                        </a:rPr>
                        <a:t>$164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Open Sans"/>
                        </a:rPr>
                        <a:t>-$6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64748B"/>
                          </a:solidFill>
                          <a:latin typeface="Open Sans"/>
                        </a:rPr>
                        <a:t>-$0.42 / day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2578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Open Sans"/>
                        </a:rPr>
                        <a:t>7-14 Days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Open Sans"/>
                        </a:rPr>
                        <a:t>$153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Open Sans"/>
                        </a:rPr>
                        <a:t>-$11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CA8A04"/>
                          </a:solidFill>
                          <a:latin typeface="Open Sans"/>
                        </a:rPr>
                        <a:t>-$1.57 / day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2578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Open Sans"/>
                        </a:rPr>
                        <a:t>4-7 Days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Open Sans"/>
                        </a:rPr>
                        <a:t>$144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Open Sans"/>
                        </a:rPr>
                        <a:t>-$9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EA580C"/>
                          </a:solidFill>
                          <a:latin typeface="Open Sans"/>
                        </a:rPr>
                        <a:t>-$3.00 / day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2578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Open Sans"/>
                        </a:rPr>
                        <a:t>1-3 Days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Open Sans"/>
                        </a:rPr>
                        <a:t>$132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Open Sans"/>
                        </a:rPr>
                        <a:t>-$12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DC2626"/>
                          </a:solidFill>
                          <a:latin typeface="Open Sans"/>
                        </a:rPr>
                        <a:t>-$6.00 / day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2582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Open Sans"/>
                        </a:rPr>
                        <a:t>0 Days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Open Sans"/>
                        </a:rPr>
                        <a:t>$119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Open Sans"/>
                        </a:rPr>
                        <a:t>-$13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DC2626"/>
                          </a:solidFill>
                          <a:latin typeface="Open Sans"/>
                        </a:rPr>
                        <a:t>-$13.00 / day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5810250"/>
            <a:ext cx="133350" cy="1524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76262" y="2511623"/>
            <a:ext cx="9505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26827" y="2511623"/>
            <a:ext cx="8509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77826" y="2511623"/>
            <a:ext cx="18011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78944" y="2511623"/>
            <a:ext cx="17217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6262" y="2949773"/>
            <a:ext cx="9505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526827" y="2949773"/>
            <a:ext cx="8509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77826" y="2949773"/>
            <a:ext cx="18011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78944" y="2949773"/>
            <a:ext cx="17217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6262" y="3587948"/>
            <a:ext cx="9505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526827" y="3587948"/>
            <a:ext cx="8509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77826" y="3587948"/>
            <a:ext cx="18011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78944" y="3587948"/>
            <a:ext cx="17217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6262" y="4026098"/>
            <a:ext cx="9505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526827" y="4026098"/>
            <a:ext cx="8509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77826" y="4026098"/>
            <a:ext cx="18011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78944" y="4026098"/>
            <a:ext cx="17217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6262" y="4464248"/>
            <a:ext cx="9505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526827" y="4464248"/>
            <a:ext cx="8509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377826" y="4464248"/>
            <a:ext cx="18011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78944" y="4464248"/>
            <a:ext cx="17217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76262" y="4902398"/>
            <a:ext cx="9505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526827" y="4902398"/>
            <a:ext cx="8509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377826" y="4902398"/>
            <a:ext cx="18011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78944" y="4902398"/>
            <a:ext cx="17217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1500" y="476250"/>
            <a:ext cx="11601450" cy="430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Montserrat"/>
              </a:rPr>
              <a:t>2. Price Decay Modeling: Velocity of Discounting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1500" y="1001910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06785"/>
            <a:ext cx="5334000" cy="447496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4459188"/>
            <a:ext cx="5334000" cy="990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2255341"/>
            <a:ext cx="5334000" cy="93523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3333452"/>
            <a:ext cx="5334000" cy="9352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1306710"/>
            <a:ext cx="1104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Open Sans"/>
              </a:rPr>
              <a:t>Booking urgency is not uniform. We calculated the probability of a user operating in "Urgency Mode" (Lead Time $\le$ 7 days) given their City choice, revealing distinct market archetypes.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1906785"/>
            <a:ext cx="5600700" cy="205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1" sz="1350" i="0" u="none">
                <a:solidFill>
                  <a:srgbClr val="0F172A"/>
                </a:solidFill>
                <a:latin typeface="Montserrat"/>
              </a:rPr>
              <a:t>Calculated Urgency Propensity: $P(Urgency | City)$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588966"/>
            <a:ext cx="5334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Open Sans"/>
              </a:rPr>
              <a:t>Avg ADRs: City A ($101) | City E ($142) | City C ($225)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1906785"/>
            <a:ext cx="5600700" cy="205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1" sz="1350" i="0" u="none">
                <a:solidFill>
                  <a:srgbClr val="0F172A"/>
                </a:solidFill>
                <a:latin typeface="Montserrat"/>
              </a:rPr>
              <a:t>Temporal Seasonality (Q4 2016)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0" y="4611588"/>
            <a:ext cx="48387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Open Sans"/>
              </a:rPr>
              <a:t>Strategic Deployment:</a:t>
            </a:r>
            <a:r>
              <a:rPr b="0" sz="1200" i="0" u="none">
                <a:solidFill>
                  <a:srgbClr val="064E3B"/>
                </a:solidFill>
                <a:latin typeface="Open Sans SemiBold"/>
              </a:rPr>
              <a:t> Exclude City C (Planner Dominant, $225 ADR) from aggressive scarcity testing to prevent brand friction. Focus interventions on high-volume environments.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6525" y="2407741"/>
            <a:ext cx="5180647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1" sz="1200" i="0" u="none">
                <a:solidFill>
                  <a:srgbClr val="EA580C"/>
                </a:solidFill>
                <a:latin typeface="Montserrat"/>
              </a:rPr>
              <a:t>October: Peak Urgency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6525" y="2638127"/>
            <a:ext cx="49339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0F172A"/>
                </a:solidFill>
                <a:latin typeface="Open Sans"/>
              </a:rPr>
              <a:t>P = 0.516</a:t>
            </a:r>
            <a:r>
              <a:rPr b="0" sz="1050" i="0" u="none">
                <a:solidFill>
                  <a:srgbClr val="475569"/>
                </a:solidFill>
                <a:latin typeface="Open Sans"/>
              </a:rPr>
              <a:t> for $\le$ 7 days ($149 ADR). Driven by short-lead business travel. Prime window for scarcity testing.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6525" y="3485852"/>
            <a:ext cx="5180647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1" sz="1200" i="0" u="none">
                <a:solidFill>
                  <a:srgbClr val="2563EB"/>
                </a:solidFill>
                <a:latin typeface="Montserrat"/>
              </a:rPr>
              <a:t>December: Planner Dominant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525" y="3716238"/>
            <a:ext cx="49339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0F172A"/>
                </a:solidFill>
                <a:latin typeface="Open Sans"/>
              </a:rPr>
              <a:t>P = 0.438</a:t>
            </a:r>
            <a:r>
              <a:rPr b="0" sz="1050" i="0" u="none">
                <a:solidFill>
                  <a:srgbClr val="475569"/>
                </a:solidFill>
                <a:latin typeface="Open Sans"/>
              </a:rPr>
              <a:t> for $\le$ 7 days ($154 ADR). Lead times extend to 15.7 days due to holiday leisure bookings.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430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Montserrat"/>
              </a:rPr>
              <a:t>3. Geographic &amp; Temporal Heterogeneity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001910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02966"/>
            <a:ext cx="5334000" cy="2381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5060453"/>
            <a:ext cx="5334000" cy="8267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306710"/>
            <a:ext cx="1104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Open Sans"/>
              </a:rPr>
              <a:t>Using conditional probability on the dataset, we calculated $P(Urgency | City, Stars)$. 4-Star Non-Chain properties emerge as the primary commercial vector, combining volume and urgency.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150" y="1906785"/>
            <a:ext cx="5600700" cy="205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b="1" sz="1350" i="0" u="none">
                <a:solidFill>
                  <a:srgbClr val="0F172A"/>
                </a:solidFill>
                <a:latin typeface="Montserrat"/>
              </a:rPr>
              <a:t>Volume &amp; Urgency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1906785"/>
            <a:ext cx="5600700" cy="205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1" sz="1350" i="0" u="none">
                <a:solidFill>
                  <a:srgbClr val="0F172A"/>
                </a:solidFill>
                <a:latin typeface="Montserrat"/>
              </a:rPr>
              <a:t>Cross-Segment Matrix (Propensity vs ADR)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6500" y="2207716"/>
            <a:ext cx="5334000" cy="2709862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86500" y="2207716"/>
          <a:ext cx="5324474" cy="27098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081087"/>
                <a:gridCol w="2127349"/>
                <a:gridCol w="2116038"/>
              </a:tblGrid>
              <a:tr h="903287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0F172A"/>
                          </a:solidFill>
                          <a:latin typeface="Montserrat SemiBold"/>
                        </a:rPr>
                        <a:t>Quadrant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0F172A"/>
                          </a:solidFill>
                          <a:latin typeface="Montserrat SemiBold"/>
                        </a:rPr>
                        <a:t>High Urgency ($P &gt; 0.55$)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0F172A"/>
                          </a:solidFill>
                          <a:latin typeface="Montserrat SemiBold"/>
                        </a:rPr>
                        <a:t>Low Urgency ($P &lt; 0.40$)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903287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Open Sans"/>
                        </a:rPr>
                        <a:t>High ADR</a:t>
                      </a:r>
                      <a:r>
                        <a:t>
</a:t>
                      </a:r>
                      <a:r>
                        <a:rPr b="1" sz="1050" i="0" u="none">
                          <a:solidFill>
                            <a:srgbClr val="334155"/>
                          </a:solidFill>
                          <a:latin typeface="Open Sans"/>
                        </a:rPr>
                        <a:t>
           (&gt;$150)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Open Sans"/>
                        </a:rPr>
                        <a:t>City E - 4⭐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Open Sans"/>
                        </a:rPr>
                        <a:t> ($P = 0.648$ / $161)</a:t>
                      </a:r>
                      <a:r>
                        <a:t>
</a:t>
                      </a:r>
                      <a:r>
                        <a:rPr b="1" sz="1050" i="0" u="none">
                          <a:solidFill>
                            <a:srgbClr val="334155"/>
                          </a:solidFill>
                          <a:latin typeface="Open Sans"/>
                        </a:rPr>
                        <a:t>City A - 4⭐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Open Sans"/>
                        </a:rPr>
                        <a:t> ($P = 0.554$ / $130)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Open Sans"/>
                        </a:rPr>
                        <a:t>City C - 5⭐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Open Sans"/>
                        </a:rPr>
                        <a:t> ($P = 0.228$ / $667)</a:t>
                      </a:r>
                      <a:r>
                        <a:t>
</a:t>
                      </a:r>
                      <a:r>
                        <a:rPr b="1" sz="1050" i="0" u="none">
                          <a:solidFill>
                            <a:srgbClr val="334155"/>
                          </a:solidFill>
                          <a:latin typeface="Open Sans"/>
                        </a:rPr>
                        <a:t>City C - 4⭐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Open Sans"/>
                        </a:rPr>
                        <a:t> ($P = 0.293$ / $445)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03288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Open Sans"/>
                        </a:rPr>
                        <a:t>Low ADR</a:t>
                      </a:r>
                      <a:r>
                        <a:t>
</a:t>
                      </a:r>
                      <a:r>
                        <a:rPr b="1" sz="1050" i="0" u="none">
                          <a:solidFill>
                            <a:srgbClr val="334155"/>
                          </a:solidFill>
                          <a:latin typeface="Open Sans"/>
                        </a:rPr>
                        <a:t>
           (&lt;$150)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Open Sans"/>
                        </a:rPr>
                        <a:t>City E - 1⭐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Open Sans"/>
                        </a:rPr>
                        <a:t> ($P = 0.756$ / $30)</a:t>
                      </a:r>
                      <a:r>
                        <a:t>
</a:t>
                      </a:r>
                      <a:r>
                        <a:rPr b="1" sz="1050" i="0" u="none">
                          <a:solidFill>
                            <a:srgbClr val="334155"/>
                          </a:solidFill>
                          <a:latin typeface="Open Sans"/>
                        </a:rPr>
                        <a:t>City B - 0⭐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Open Sans"/>
                        </a:rPr>
                        <a:t> ($P = 0.735$ / $24)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Open Sans"/>
                        </a:rPr>
                        <a:t>City C - 3⭐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Open Sans"/>
                        </a:rPr>
                        <a:t> ($P = 0.279$ / $224)</a:t>
                      </a:r>
                      <a:r>
                        <a:t>
</a:t>
                      </a:r>
                      <a:r>
                        <a:rPr b="1" sz="1050" i="0" u="none">
                          <a:solidFill>
                            <a:srgbClr val="334155"/>
                          </a:solidFill>
                          <a:latin typeface="Open Sans"/>
                        </a:rPr>
                        <a:t>City B - 5⭐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Open Sans"/>
                        </a:rPr>
                        <a:t> ($P = 0.377$ / $281)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291262" y="2812553"/>
            <a:ext cx="10810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72350" y="2812553"/>
            <a:ext cx="21273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99699" y="2812553"/>
            <a:ext cx="211603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99804" y="2726828"/>
            <a:ext cx="2705695" cy="176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0F172A"/>
                </a:solidFill>
                <a:latin typeface="Open Sans"/>
              </a:rPr>
              <a:t>4-Star:</a:t>
            </a:r>
            <a:r>
              <a:rPr b="0" sz="1050" i="0" u="none">
                <a:solidFill>
                  <a:srgbClr val="334155"/>
                </a:solidFill>
                <a:latin typeface="Open Sans"/>
              </a:rPr>
              <a:t> 29.5% (52.7% Urgency)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99804" y="3003053"/>
            <a:ext cx="2705695" cy="176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0F172A"/>
                </a:solidFill>
                <a:latin typeface="Open Sans"/>
              </a:rPr>
              <a:t>3-Star:</a:t>
            </a:r>
            <a:r>
              <a:rPr b="0" sz="1050" i="0" u="none">
                <a:solidFill>
                  <a:srgbClr val="334155"/>
                </a:solidFill>
                <a:latin typeface="Open Sans"/>
              </a:rPr>
              <a:t> 30.2% (44.3% Urgency)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99804" y="3379291"/>
            <a:ext cx="2705695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0F172A"/>
                </a:solidFill>
                <a:latin typeface="Open Sans"/>
              </a:rPr>
              <a:t>0-2 Star:</a:t>
            </a:r>
            <a:r>
              <a:rPr b="0" sz="1050" i="0" u="none">
                <a:solidFill>
                  <a:srgbClr val="334155"/>
                </a:solidFill>
                <a:latin typeface="Open Sans"/>
              </a:rPr>
              <a:t> 12.0% (High Urgency, Low ADR)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99804" y="3755528"/>
            <a:ext cx="2705695" cy="176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0F172A"/>
                </a:solidFill>
                <a:latin typeface="Open Sans"/>
              </a:rPr>
              <a:t>5-Star:</a:t>
            </a:r>
            <a:r>
              <a:rPr b="0" sz="1050" i="0" u="none">
                <a:solidFill>
                  <a:srgbClr val="334155"/>
                </a:solidFill>
                <a:latin typeface="Open Sans"/>
              </a:rPr>
              <a:t> 8.3% (49.5% Urgency)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99804" y="4031753"/>
            <a:ext cx="2705695" cy="176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0F172A"/>
                </a:solidFill>
                <a:latin typeface="Open Sans"/>
              </a:rPr>
              <a:t>Others:</a:t>
            </a:r>
            <a:r>
              <a:rPr b="0" sz="1050" i="0" u="none">
                <a:solidFill>
                  <a:srgbClr val="334155"/>
                </a:solidFill>
                <a:latin typeface="Open Sans"/>
              </a:rPr>
              <a:t> ~20.0%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91262" y="3860303"/>
            <a:ext cx="10810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99699" y="3860303"/>
            <a:ext cx="211603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199804" y="2726828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199804" y="3003053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199804" y="3379291"/>
            <a:ext cx="143172" cy="152400"/>
          </a:xfrm>
          <a:prstGeom prst="roundRect">
            <a:avLst>
              <a:gd name="adj" fmla="val 19958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199804" y="3755528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199804" y="4031753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7475" y="5212853"/>
            <a:ext cx="3070383" cy="159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1" sz="1050" i="0" u="none">
                <a:solidFill>
                  <a:srgbClr val="064E3B"/>
                </a:solidFill>
                <a:latin typeface="Montserrat"/>
              </a:rPr>
              <a:t>TOTAL TARGET BOOKINGS (SWEET SPOT)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7475" y="5420469"/>
            <a:ext cx="29241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2100" i="0" u="none">
                <a:solidFill>
                  <a:srgbClr val="10B981"/>
                </a:solidFill>
                <a:latin typeface="Open Sans Light"/>
              </a:rPr>
              <a:t>7,321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7872" y="5212853"/>
            <a:ext cx="1820227" cy="159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60"/>
              </a:lnSpc>
            </a:pPr>
            <a:r>
              <a:rPr b="1" sz="1050" i="0" u="none">
                <a:solidFill>
                  <a:srgbClr val="475569"/>
                </a:solidFill>
                <a:latin typeface="Montserrat"/>
              </a:rPr>
              <a:t>WEIGHTED TARGET ADR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4550" y="5420469"/>
            <a:ext cx="17335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b="0" sz="2100" i="0" u="none">
                <a:solidFill>
                  <a:srgbClr val="0F172A"/>
                </a:solidFill>
                <a:latin typeface="Open Sans Light"/>
              </a:rPr>
              <a:t>$145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4854" y="2731591"/>
            <a:ext cx="133350" cy="14287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71500" y="476250"/>
            <a:ext cx="11601450" cy="430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Montserrat"/>
              </a:rPr>
              <a:t>4. Urgency Propensity Score &amp; Target Sizing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1500" y="1001910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97210"/>
            <a:ext cx="11049000" cy="237827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437459"/>
            <a:ext cx="3524250" cy="186779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3875" y="4437459"/>
            <a:ext cx="3524250" cy="186779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0" y="4437459"/>
            <a:ext cx="3524250" cy="186779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9737" y="3199209"/>
            <a:ext cx="1800225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8250" y="3199209"/>
            <a:ext cx="20955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77287" y="3199209"/>
            <a:ext cx="1609725" cy="381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4065984"/>
            <a:ext cx="116014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500" i="0" u="none">
                <a:solidFill>
                  <a:srgbClr val="0F172A"/>
                </a:solidFill>
                <a:latin typeface="Montserrat"/>
              </a:rPr>
              <a:t>Segment-Specific Messaging Strategy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95775" y="2030610"/>
            <a:ext cx="200025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05050" y="1792485"/>
            <a:ext cx="609600" cy="609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64731" y="2544960"/>
            <a:ext cx="1890236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b="1" sz="1200" i="0" u="none">
                <a:solidFill>
                  <a:srgbClr val="0F172A"/>
                </a:solidFill>
                <a:latin typeface="Montserrat"/>
              </a:rPr>
              <a:t>Search Results (SRDP)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7887" y="2775346"/>
            <a:ext cx="9239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Open Sans"/>
              </a:rPr>
              <a:t>Filter &amp; Contrast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81925" y="2030610"/>
            <a:ext cx="200025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91200" y="1792485"/>
            <a:ext cx="609600" cy="609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215890" y="2544960"/>
            <a:ext cx="1760220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b="1" sz="1200" i="0" u="none">
                <a:solidFill>
                  <a:srgbClr val="0F172A"/>
                </a:solidFill>
                <a:latin typeface="Montserrat"/>
              </a:rPr>
              <a:t>Property Page (PDP)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34012" y="2775346"/>
            <a:ext cx="13239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Open Sans"/>
              </a:rPr>
              <a:t>High Intent Conversion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77350" y="1792485"/>
            <a:ext cx="609600" cy="609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992076" y="2544960"/>
            <a:ext cx="1180147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b="1" sz="1200" i="0" u="none">
                <a:solidFill>
                  <a:srgbClr val="0F172A"/>
                </a:solidFill>
                <a:latin typeface="Montserrat"/>
              </a:rPr>
              <a:t>Booking 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5887" y="2775346"/>
            <a:ext cx="11525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Open Sans"/>
              </a:rPr>
              <a:t>Trust &amp; Reassurance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9625" y="4675584"/>
            <a:ext cx="457200" cy="457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09625" y="5285184"/>
            <a:ext cx="3200400" cy="205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1" sz="1350" i="0" u="none">
                <a:solidFill>
                  <a:srgbClr val="0F172A"/>
                </a:solidFill>
                <a:latin typeface="Montserrat"/>
              </a:rPr>
              <a:t>Budget (&lt;$100 | 0-2⭐)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625" y="5586114"/>
            <a:ext cx="3048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0F172A"/>
                </a:solidFill>
                <a:latin typeface="Open Sans"/>
              </a:rPr>
              <a:t>Goal:</a:t>
            </a:r>
            <a:r>
              <a:rPr b="0" sz="1050" i="0" u="none">
                <a:solidFill>
                  <a:srgbClr val="475569"/>
                </a:solidFill>
                <a:latin typeface="Open Sans"/>
              </a:rPr>
              <a:t> Price FOMO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625" y="5862339"/>
            <a:ext cx="30480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1" u="none">
                <a:solidFill>
                  <a:srgbClr val="475569"/>
                </a:solidFill>
                <a:latin typeface="Open Sans"/>
              </a:rPr>
              <a:t>"Lowest price in City A. Only 1 room left!"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0" y="4694634"/>
            <a:ext cx="457200" cy="457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572000" y="5304234"/>
            <a:ext cx="3200400" cy="205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1" sz="1350" i="0" u="none">
                <a:solidFill>
                  <a:srgbClr val="0F172A"/>
                </a:solidFill>
                <a:latin typeface="Montserrat"/>
              </a:rPr>
              <a:t>Mid-Premium (4⭐)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605164"/>
            <a:ext cx="3048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0F172A"/>
                </a:solidFill>
                <a:latin typeface="Open Sans"/>
              </a:rPr>
              <a:t>Goal:</a:t>
            </a:r>
            <a:r>
              <a:rPr b="0" sz="1050" i="0" u="none">
                <a:solidFill>
                  <a:srgbClr val="475569"/>
                </a:solidFill>
                <a:latin typeface="Open Sans"/>
              </a:rPr>
              <a:t> High Demand Verification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5881389"/>
            <a:ext cx="30480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1" u="none">
                <a:solidFill>
                  <a:srgbClr val="475569"/>
                </a:solidFill>
                <a:latin typeface="Open Sans"/>
              </a:rPr>
              <a:t>"High Demand: 65% of 4-star rooms are booked."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34375" y="4675584"/>
            <a:ext cx="457200" cy="4572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334375" y="5285184"/>
            <a:ext cx="3200400" cy="205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1" sz="1350" i="0" u="none">
                <a:solidFill>
                  <a:srgbClr val="0F172A"/>
                </a:solidFill>
                <a:latin typeface="Montserrat"/>
              </a:rPr>
              <a:t>Luxury (&gt;$200 | City C)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4375" y="5586114"/>
            <a:ext cx="3048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0F172A"/>
                </a:solidFill>
                <a:latin typeface="Open Sans"/>
              </a:rPr>
              <a:t>Goal:</a:t>
            </a:r>
            <a:r>
              <a:rPr b="0" sz="1050" i="0" u="none">
                <a:solidFill>
                  <a:srgbClr val="475569"/>
                </a:solidFill>
                <a:latin typeface="Open Sans"/>
              </a:rPr>
              <a:t> Exclusivity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4375" y="5862339"/>
            <a:ext cx="30480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1" u="none">
                <a:solidFill>
                  <a:srgbClr val="475569"/>
                </a:solidFill>
                <a:latin typeface="Open Sans"/>
              </a:rPr>
              <a:t>"Rare availability at this luxury property."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95550" y="1982985"/>
            <a:ext cx="228600" cy="2286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981700" y="1982985"/>
            <a:ext cx="228600" cy="2286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453562" y="1982985"/>
            <a:ext cx="257175" cy="2286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52500" y="4808934"/>
            <a:ext cx="171450" cy="1905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705350" y="4827984"/>
            <a:ext cx="190500" cy="1905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467725" y="4808934"/>
            <a:ext cx="190500" cy="1905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71500" y="476250"/>
            <a:ext cx="11601450" cy="430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Montserrat"/>
              </a:rPr>
              <a:t>5. Strategic Recommendations &amp; Funnel Implementation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1500" y="1001910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74591"/>
            <a:ext cx="5334000" cy="146863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3969841"/>
            <a:ext cx="5334000" cy="1219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2445841"/>
            <a:ext cx="1143000" cy="1143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0" y="2445841"/>
            <a:ext cx="1143000" cy="1143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7500" y="2445841"/>
            <a:ext cx="1143000" cy="1143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1306710"/>
            <a:ext cx="1104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Open Sans"/>
              </a:rPr>
              <a:t>Using the isolated 7,321 bookings from our target segment, we calculated the required traffic and duration to conduct a statistically significant Randomized Control Trial (RCT) testing Scarcity Messaging.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1906785"/>
            <a:ext cx="5600700" cy="205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1" sz="1350" i="0" u="none">
                <a:solidFill>
                  <a:srgbClr val="0F172A"/>
                </a:solidFill>
                <a:latin typeface="Montserrat"/>
              </a:rPr>
              <a:t>Traffic &amp; Sample Size Calculations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1906785"/>
            <a:ext cx="5600700" cy="205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1" sz="1350" i="0" u="none">
                <a:solidFill>
                  <a:srgbClr val="0F172A"/>
                </a:solidFill>
                <a:latin typeface="Montserrat"/>
              </a:rPr>
              <a:t>Feasibility Analysis (Based on Q4 Data)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2255341"/>
            <a:ext cx="5105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Open Sans"/>
              </a:rPr>
              <a:t>Baseline Conversion (CVR):</a:t>
            </a:r>
            <a:r>
              <a:rPr b="0" sz="1200" i="0" u="none">
                <a:solidFill>
                  <a:srgbClr val="334155"/>
                </a:solidFill>
                <a:latin typeface="Open Sans"/>
              </a:rPr>
              <a:t> Assumed standard 5.0%.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2579191"/>
            <a:ext cx="5105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Open Sans"/>
              </a:rPr>
              <a:t>Minimum Detectable Effect (MDE):</a:t>
            </a:r>
            <a:r>
              <a:rPr b="0" sz="1200" i="0" u="none">
                <a:solidFill>
                  <a:srgbClr val="334155"/>
                </a:solidFill>
                <a:latin typeface="Open Sans"/>
              </a:rPr>
              <a:t> 10% relative lift (Target CVR = 5.50%).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3131641"/>
            <a:ext cx="5105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Open Sans"/>
              </a:rPr>
              <a:t>Statistical Power ($1-\beta$):</a:t>
            </a:r>
            <a:r>
              <a:rPr b="0" sz="1200" i="0" u="none">
                <a:solidFill>
                  <a:srgbClr val="334155"/>
                </a:solidFill>
                <a:latin typeface="Open Sans"/>
              </a:rPr>
              <a:t> 80% (Standard).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3455491"/>
            <a:ext cx="5105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Open Sans"/>
              </a:rPr>
              <a:t>Significance Level ($\alpha$):</a:t>
            </a:r>
            <a:r>
              <a:rPr b="0" sz="1200" i="0" u="none">
                <a:solidFill>
                  <a:srgbClr val="334155"/>
                </a:solidFill>
                <a:latin typeface="Open Sans"/>
              </a:rPr>
              <a:t> 5% (95% Confidence).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4122241"/>
            <a:ext cx="5050631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1" sz="1200" i="0" u="none">
                <a:solidFill>
                  <a:srgbClr val="DC2626"/>
                </a:solidFill>
                <a:latin typeface="Montserrat"/>
              </a:rPr>
              <a:t>REQUIRED SAMPLE SIZE PER VARIANT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4352627"/>
            <a:ext cx="48101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2400" i="0" u="none">
                <a:solidFill>
                  <a:srgbClr val="0F172A"/>
                </a:solidFill>
                <a:latin typeface="Open Sans Light"/>
              </a:rPr>
              <a:t>~15,000 Sessions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4752677"/>
            <a:ext cx="48101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34155"/>
                </a:solidFill>
                <a:latin typeface="Open Sans"/>
              </a:rPr>
              <a:t>Total 30,000 sessions required across Control &amp; Treatment.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86500" y="3007816"/>
            <a:ext cx="53340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3200" y="4122241"/>
            <a:ext cx="4838700" cy="914400"/>
          </a:xfrm>
          <a:prstGeom prst="rect">
            <a:avLst/>
          </a:prstGeom>
          <a:noFill/>
        </p:spPr>
        <p:txBody>
          <a:bodyPr wrap="square" lIns="20955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Open Sans"/>
              </a:rPr>
              <a:t>Test Feasibility is Confirmed:</a:t>
            </a:r>
            <a:r>
              <a:rPr b="0" sz="1200" i="0" u="none">
                <a:solidFill>
                  <a:srgbClr val="1E3A8A"/>
                </a:solidFill>
                <a:latin typeface="Open Sans SemiBold"/>
              </a:rPr>
              <a:t> The historical data yields ~146,420 sessions for this segment per quarter (~12,201/week). We only need 30,000 total sessions. We can achieve statistical significance in exactly </a:t>
            </a:r>
            <a:r>
              <a:rPr b="1" sz="1200" i="0" u="none">
                <a:solidFill>
                  <a:srgbClr val="0F172A"/>
                </a:solidFill>
                <a:latin typeface="Open Sans"/>
              </a:rPr>
              <a:t>2.5 weeks</a:t>
            </a:r>
            <a:r>
              <a:rPr b="0" sz="1200" i="0" u="none">
                <a:solidFill>
                  <a:srgbClr val="1E3A8A"/>
                </a:solidFill>
                <a:latin typeface="Open Sans SemiBold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7962" y="2775346"/>
            <a:ext cx="6000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1" sz="1800" i="0" u="none">
                <a:solidFill>
                  <a:srgbClr val="0F172A"/>
                </a:solidFill>
                <a:latin typeface="Open Sans"/>
              </a:rPr>
              <a:t>7,321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24887" y="2775346"/>
            <a:ext cx="65722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1" sz="1800" i="0" u="none">
                <a:solidFill>
                  <a:srgbClr val="0F172A"/>
                </a:solidFill>
                <a:latin typeface="Open Sans"/>
              </a:rPr>
              <a:t>÷ 0.05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15612" y="2775346"/>
            <a:ext cx="8667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1" sz="1800" i="0" u="none">
                <a:solidFill>
                  <a:srgbClr val="10B981"/>
                </a:solidFill>
                <a:latin typeface="Open Sans"/>
              </a:rPr>
              <a:t>146,420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" y="476250"/>
            <a:ext cx="11601450" cy="430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Montserrat"/>
              </a:rPr>
              <a:t>6. Simulated A/B Test Design &amp; Required Power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" y="1001910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274391"/>
            <a:ext cx="85725" cy="1428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598241"/>
            <a:ext cx="85725" cy="1428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150691"/>
            <a:ext cx="85725" cy="1428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474541"/>
            <a:ext cx="85725" cy="1428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3200" y="4160341"/>
            <a:ext cx="1333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06785"/>
            <a:ext cx="5334000" cy="447496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84016"/>
            <a:ext cx="5334000" cy="3905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306710"/>
            <a:ext cx="1104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Open Sans"/>
              </a:rPr>
              <a:t>Advanced statistical modeling is required to ensure that the observed urgency is causal (badge driving conversion) rather than correlational (users were going to book anyway).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906785"/>
            <a:ext cx="5600700" cy="205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1" sz="1350" i="0" u="none">
                <a:solidFill>
                  <a:srgbClr val="0F172A"/>
                </a:solidFill>
                <a:latin typeface="Montserrat"/>
              </a:rPr>
              <a:t>Propensity Score Matching (PSM)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255341"/>
            <a:ext cx="5334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Open Sans"/>
              </a:rPr>
              <a:t>Post-experiment, we will utilize PSM on the 7,321 matched pairs to account for selection bias. We model the probability of a user receiving the "Treatment" given covariates: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1906785"/>
            <a:ext cx="5600700" cy="205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1" sz="1350" i="0" u="none">
                <a:solidFill>
                  <a:srgbClr val="0F172A"/>
                </a:solidFill>
                <a:latin typeface="Montserrat"/>
              </a:rPr>
              <a:t>Survival Analysis (Time-to-Booking)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2255341"/>
            <a:ext cx="5334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Open Sans"/>
              </a:rPr>
              <a:t>Kaplan-Meier estimates will model the probability of a user remaining "unbooked" over session duration. Scarcity messaging should steepen the curve.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3641" y="3188791"/>
            <a:ext cx="2029717" cy="1809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0100" y="3617416"/>
            <a:ext cx="5105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Open Sans"/>
              </a:rPr>
              <a:t>Covariates (X):</a:t>
            </a:r>
            <a:r>
              <a:rPr b="0" sz="1200" i="0" u="none">
                <a:solidFill>
                  <a:srgbClr val="334155"/>
                </a:solidFill>
                <a:latin typeface="Open Sans"/>
              </a:rPr>
              <a:t> City (E vs A), Star Rating, Lead Time window.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3941266"/>
            <a:ext cx="5105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Open Sans"/>
              </a:rPr>
              <a:t>Goal:</a:t>
            </a:r>
            <a:r>
              <a:rPr b="0" sz="1200" i="0" u="none">
                <a:solidFill>
                  <a:srgbClr val="334155"/>
                </a:solidFill>
                <a:latin typeface="Open Sans"/>
              </a:rPr>
              <a:t> Calculate the Average Treatment Effect on the Treated (ATT) by comparing matched pairs to isolate true CVR uplift.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476250"/>
            <a:ext cx="11601450" cy="430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Montserrat"/>
              </a:rPr>
              <a:t>7. Causal Inference &amp; Behavioral Modeling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001910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636466"/>
            <a:ext cx="85725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960316"/>
            <a:ext cx="8572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637484"/>
            <a:ext cx="11049000" cy="76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102048"/>
            <a:ext cx="2619375" cy="22496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1375" y="2102048"/>
            <a:ext cx="2619375" cy="224968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2102048"/>
            <a:ext cx="2619375" cy="224968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1125" y="2102048"/>
            <a:ext cx="2619375" cy="22496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1306710"/>
            <a:ext cx="11049000" cy="4619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Open Sans"/>
              </a:rPr>
              <a:t>Optimizing strictly for conversion (CVR) without monitoring counter-metrics risks damaging user trust. Additionally, our conclusions are bounded by the limits of the dataset 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38350" y="1554360"/>
            <a:ext cx="3543895" cy="209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8200" y="4789884"/>
            <a:ext cx="10553700" cy="457200"/>
          </a:xfrm>
          <a:prstGeom prst="rect">
            <a:avLst/>
          </a:prstGeom>
          <a:noFill/>
        </p:spPr>
        <p:txBody>
          <a:bodyPr wrap="square" lIns="22860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Open Sans"/>
              </a:rPr>
              <a:t>Data Limitations (File Reference):</a:t>
            </a:r>
            <a:r>
              <a:rPr b="0" sz="1200" i="0" u="none">
                <a:solidFill>
                  <a:srgbClr val="064E3B"/>
                </a:solidFill>
                <a:latin typeface="Open Sans SemiBold"/>
              </a:rPr>
              <a:t> The provided file </a:t>
            </a:r>
            <a:r>
              <a:rPr b="1" sz="1200" i="0" u="none">
                <a:solidFill>
                  <a:srgbClr val="0F172A"/>
                </a:solidFill>
                <a:latin typeface="Open Sans"/>
              </a:rPr>
              <a:t>Case_Study_Urgency_Message_Data (1).xlsx</a:t>
            </a:r>
            <a:r>
              <a:rPr b="0" sz="1200" i="0" u="none">
                <a:solidFill>
                  <a:srgbClr val="064E3B"/>
                </a:solidFill>
                <a:latin typeface="Open Sans SemiBold"/>
              </a:rPr>
              <a:t> lacks Impressions and CTRs. The experiment relies on robust search and clickstream logging pipelines to accurately calculate baseline CVR.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2340173"/>
            <a:ext cx="45720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9625" y="2949773"/>
            <a:ext cx="2250281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1" sz="1200" i="0" u="none">
                <a:solidFill>
                  <a:srgbClr val="0F172A"/>
                </a:solidFill>
                <a:latin typeface="Montserrat"/>
              </a:rPr>
              <a:t>Conversion (Primary)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3227784"/>
            <a:ext cx="21431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0F172A"/>
                </a:solidFill>
                <a:latin typeface="Open Sans"/>
              </a:rPr>
              <a:t>Metric:</a:t>
            </a:r>
            <a:r>
              <a:rPr b="0" sz="1050" i="0" u="none">
                <a:solidFill>
                  <a:srgbClr val="475569"/>
                </a:solidFill>
                <a:latin typeface="Open Sans"/>
              </a:rPr>
              <a:t> Search-to-Book CVR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3523059"/>
            <a:ext cx="21431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10B981"/>
                </a:solidFill>
                <a:latin typeface="Open Sans SemiBold"/>
              </a:rPr>
              <a:t>Target: +10% Rel. Lift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3770709"/>
            <a:ext cx="21431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475569"/>
                </a:solidFill>
                <a:latin typeface="Open Sans"/>
              </a:rPr>
              <a:t>Must be statistically significant.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19500" y="2340173"/>
            <a:ext cx="457200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19500" y="2949773"/>
            <a:ext cx="2250281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1" sz="1200" i="0" u="none">
                <a:solidFill>
                  <a:srgbClr val="0F172A"/>
                </a:solidFill>
                <a:latin typeface="Montserrat"/>
              </a:rPr>
              <a:t>Revenue (Secondary)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9500" y="3227784"/>
            <a:ext cx="21431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0F172A"/>
                </a:solidFill>
                <a:latin typeface="Open Sans"/>
              </a:rPr>
              <a:t>Metric:</a:t>
            </a:r>
            <a:r>
              <a:rPr b="0" sz="1050" i="0" u="none">
                <a:solidFill>
                  <a:srgbClr val="475569"/>
                </a:solidFill>
                <a:latin typeface="Open Sans"/>
              </a:rPr>
              <a:t> Rev Per Visitor (RPV)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9500" y="3523059"/>
            <a:ext cx="21431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10B981"/>
                </a:solidFill>
                <a:latin typeface="Open Sans SemiBold"/>
              </a:rPr>
              <a:t>Target: Net Positive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9500" y="3770709"/>
            <a:ext cx="21431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475569"/>
                </a:solidFill>
                <a:latin typeface="Open Sans"/>
              </a:rPr>
              <a:t>Monitor AOV to ensure we don't cannibalize high-value bookings.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9375" y="2340173"/>
            <a:ext cx="457200" cy="457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29375" y="2949773"/>
            <a:ext cx="2250281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1" sz="1200" i="0" u="none">
                <a:solidFill>
                  <a:srgbClr val="0F172A"/>
                </a:solidFill>
                <a:latin typeface="Montserrat"/>
              </a:rPr>
              <a:t>CX Guardrail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9375" y="3227784"/>
            <a:ext cx="21431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0F172A"/>
                </a:solidFill>
                <a:latin typeface="Open Sans"/>
              </a:rPr>
              <a:t>Metric:</a:t>
            </a:r>
            <a:r>
              <a:rPr b="0" sz="1050" i="0" u="none">
                <a:solidFill>
                  <a:srgbClr val="475569"/>
                </a:solidFill>
                <a:latin typeface="Open Sans"/>
              </a:rPr>
              <a:t> 24h Cancel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9375" y="3523059"/>
            <a:ext cx="21431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DC2626"/>
                </a:solidFill>
                <a:latin typeface="Open Sans SemiBold"/>
              </a:rPr>
              <a:t>Risk Threshold: &gt;0.5% var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9375" y="3770709"/>
            <a:ext cx="21431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475569"/>
                </a:solidFill>
                <a:latin typeface="Open Sans"/>
              </a:rPr>
              <a:t>High urgency can induce impulse bookings that cancel later.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39250" y="2340173"/>
            <a:ext cx="457200" cy="457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250" y="2949773"/>
            <a:ext cx="2250281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1" sz="1200" i="0" u="none">
                <a:solidFill>
                  <a:srgbClr val="0F172A"/>
                </a:solidFill>
                <a:latin typeface="Montserrat"/>
              </a:rPr>
              <a:t>Trust Guardrail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9250" y="3227784"/>
            <a:ext cx="21431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0F172A"/>
                </a:solidFill>
                <a:latin typeface="Open Sans"/>
              </a:rPr>
              <a:t>Metric:</a:t>
            </a:r>
            <a:r>
              <a:rPr b="0" sz="1050" i="0" u="none">
                <a:solidFill>
                  <a:srgbClr val="475569"/>
                </a:solidFill>
                <a:latin typeface="Open Sans"/>
              </a:rPr>
              <a:t> 30-Day Repeat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9250" y="3523059"/>
            <a:ext cx="21431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Open Sans SemiBold"/>
              </a:rPr>
              <a:t>Target: Neutral Impact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9250" y="3770709"/>
            <a:ext cx="21431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475569"/>
                </a:solidFill>
                <a:latin typeface="Open Sans"/>
              </a:rPr>
              <a:t>Ensures scarcity tactics do not alienate the user base.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200" y="4827984"/>
            <a:ext cx="152400" cy="1524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8687" y="2473523"/>
            <a:ext cx="219075" cy="1905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52850" y="2473523"/>
            <a:ext cx="190500" cy="1905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62725" y="2473523"/>
            <a:ext cx="190500" cy="1905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72600" y="2473523"/>
            <a:ext cx="190500" cy="1905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71500" y="476250"/>
            <a:ext cx="11601450" cy="430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Montserrat"/>
              </a:rPr>
              <a:t>8. Dataset Limitations &amp; Guardrail Metrics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1500" y="1001910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003303"/>
            <a:ext cx="6172200" cy="1076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250" y="2955428"/>
            <a:ext cx="4743450" cy="285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250" y="3336428"/>
            <a:ext cx="4743450" cy="285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250" y="3717428"/>
            <a:ext cx="4743450" cy="285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250" y="4098428"/>
            <a:ext cx="4743450" cy="2857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250" y="4479428"/>
            <a:ext cx="4743450" cy="2857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9029" y="2955428"/>
            <a:ext cx="1422945" cy="2857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0576" y="3336428"/>
            <a:ext cx="711398" cy="2857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1975" y="4098428"/>
            <a:ext cx="711398" cy="2857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1975" y="4479428"/>
            <a:ext cx="1422945" cy="2857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6480810" cy="430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Montserrat"/>
              </a:rPr>
              <a:t>9. Financial Impact Projections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001910"/>
            <a:ext cx="617220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0" y="0"/>
            <a:ext cx="4876800" cy="6858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1306710"/>
            <a:ext cx="6172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Open Sans"/>
              </a:rPr>
              <a:t>We modeled the Gross Booking Value (GBV) impact of the proposed scarcity messaging using the calculated target dataset parameters (7,321 bookings, $145 Weighted ADR = $1,061,545 Quarterly Baseline GBV).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2325885"/>
            <a:ext cx="6480810" cy="205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1" sz="1350" i="0" u="none">
                <a:solidFill>
                  <a:srgbClr val="0F172A"/>
                </a:solidFill>
                <a:latin typeface="Montserrat"/>
              </a:rPr>
              <a:t>Sensitivity Analysis: Incremental GBV ($)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531566"/>
            <a:ext cx="61722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Open Sans"/>
              </a:rPr>
              <a:t>Variance based on Relative CVR Lift vs. Target (+5.0%)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525" y="5203328"/>
            <a:ext cx="57721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Open Sans SemiBold"/>
              </a:rPr>
              <a:t>Estimated Annual Yield (Target Segment Only):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1525" y="5508128"/>
            <a:ext cx="57721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b="1" sz="1950" i="0" u="none">
                <a:solidFill>
                  <a:srgbClr val="10B981"/>
                </a:solidFill>
                <a:latin typeface="Open Sans"/>
              </a:rPr>
              <a:t>$212,280 Incremental GBV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3007816"/>
            <a:ext cx="12858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050" i="0" u="none">
                <a:solidFill>
                  <a:srgbClr val="334155"/>
                </a:solidFill>
                <a:latin typeface="Open Sans SemiBold"/>
              </a:rPr>
              <a:t>CVR Lift: +1.0%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3388816"/>
            <a:ext cx="12858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050" i="0" u="none">
                <a:solidFill>
                  <a:srgbClr val="334155"/>
                </a:solidFill>
                <a:latin typeface="Open Sans SemiBold"/>
              </a:rPr>
              <a:t>CVR Lift: +2.5%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" y="3769816"/>
            <a:ext cx="12858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050" i="0" u="none">
                <a:solidFill>
                  <a:srgbClr val="2563EB"/>
                </a:solidFill>
                <a:latin typeface="Open Sans SemiBold"/>
              </a:rPr>
              <a:t>Base Case: +5.0%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4150816"/>
            <a:ext cx="12858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050" i="0" u="none">
                <a:solidFill>
                  <a:srgbClr val="334155"/>
                </a:solidFill>
                <a:latin typeface="Open Sans SemiBold"/>
              </a:rPr>
              <a:t>CVR Lift: +7.5%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" y="4531816"/>
            <a:ext cx="12858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050" i="0" u="none">
                <a:solidFill>
                  <a:srgbClr val="334155"/>
                </a:solidFill>
                <a:latin typeface="Open Sans SemiBold"/>
              </a:rPr>
              <a:t>CVR Lift: +10.0%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7225" y="3717428"/>
            <a:ext cx="10477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900" i="0" u="none">
                <a:solidFill>
                  <a:srgbClr val="1E293B"/>
                </a:solidFill>
                <a:latin typeface="Open Sans"/>
              </a:rPr>
              <a:t>+$53,070 / Quarter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71975" y="2907803"/>
            <a:ext cx="19050" cy="3810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71975" y="3288803"/>
            <a:ext cx="19050" cy="3810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71975" y="3669803"/>
            <a:ext cx="19050" cy="3810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71975" y="4050803"/>
            <a:ext cx="19050" cy="3810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71975" y="4431803"/>
            <a:ext cx="19050" cy="3810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130671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06871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206871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49585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66875" y="1456729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Open Sans"/>
              </a:rPr>
              <a:t>https://hushoffice.com/wp-content/uploads/2024/10/hushFreeXM-2-person-acoustic-booth-for-office.jpg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690092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Open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Open Sans"/>
              </a:rPr>
              <a:t>hushoffice.com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06835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6875" y="2221110"/>
            <a:ext cx="99536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Open Sans"/>
              </a:rPr>
              <a:t>https://static.vecteezy.com/system/resources/previews/071/522/880/large_2x/financial-growth-and-success-in-a-modern-city-upward-trending-stock-market-graph-over-a-night-city-skyline-representing-economic-prosperity-and-investment-opportunities-photo.jpg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640210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Open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Open Sans"/>
              </a:rPr>
              <a:t>www.vecteezy.com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430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Montserrat"/>
              </a:rPr>
              <a:t>Image Sources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001910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1306710"/>
            <a:ext cx="1104900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224016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24016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35310"/>
            <a:ext cx="857250" cy="476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66875" y="1449585"/>
            <a:ext cx="99536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Open Sans"/>
              </a:rPr>
              <a:t>https://static.vecteezy.com/system/resources/thumbnails/079/926/772/small/smiling-female-receptionist-wearing-a-headset-working-at-a-computer-in-a-modern-hotel-lobby-photo.jpeg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6875" y="1868685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Open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Open Sans"/>
              </a:rPr>
              <a:t>www.vecteezy.com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78285"/>
            <a:ext cx="857250" cy="476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6875" y="2392560"/>
            <a:ext cx="99536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Open Sans"/>
              </a:rPr>
              <a:t>https://static.vecteezy.com/system/resources/previews/071/522/880/large_2x/financial-growth-and-success-in-a-modern-city-upward-trending-stock-market-graph-over-a-night-city-skyline-representing-economic-prosperity-and-investment-opportunities-photo.jpg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2811660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Open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Open Sans"/>
              </a:rPr>
              <a:t>www.vecteezy.com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76250"/>
            <a:ext cx="11601450" cy="430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Montserrat"/>
              </a:rPr>
              <a:t>Image Sources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001910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