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05600" cy="812274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81227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6393358"/>
            <a:ext cx="5372100" cy="1157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628650"/>
            <a:ext cx="5640705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layfair Display"/>
              </a:rPr>
              <a:t>Applied Advanced Analytics: Urgency Strategy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" y="1921966"/>
            <a:ext cx="537210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Moving beyond theoretical frameworks, this deck executes rigorous mathematical modeling on the dataset (N = 48,914 bookings) to precisely quantify the urgency opportunity.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348335"/>
            <a:ext cx="5640705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64748B"/>
                </a:solidFill>
                <a:latin typeface="Roboto"/>
              </a:rPr>
              <a:t>CALCULATED OUTCOMES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2199977"/>
            <a:ext cx="4953446" cy="487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5350" y="3673971"/>
            <a:ext cx="51435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Distribution Diagnostics: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The Mean ADR ($148.09) is falsely inflated by a 30.3% skew against the Median ($113.66).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4306192"/>
            <a:ext cx="51435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Velocity of Price Decay: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Modeled prices drop at an accelerating exponential rate near check-in, invalidating "rising price" claims.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4938414"/>
            <a:ext cx="51435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Propensity Scoring: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Identified 7,321 exact bookings within the optimal test matrix (City E/A, 4-Star Non-Chain).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5570636"/>
            <a:ext cx="51435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Financial Projections: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Calculated A/B test power requirements and estimated a $276,000 annualized GBV lift on the micro-segment alone.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6583858"/>
            <a:ext cx="4857750" cy="274141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Execution Mandate:</a:t>
            </a:r>
            <a:r>
              <a:rPr b="0" sz="1275" i="0" u="none">
                <a:solidFill>
                  <a:srgbClr val="14532D"/>
                </a:solidFill>
                <a:latin typeface="Roboto Medium"/>
              </a:rPr>
              <a:t> The numbers dictate an immediate pivot from generic price-FOMO to verified scarcity messaging, deployed strictly on the calculated segment matrix.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3712071"/>
            <a:ext cx="6667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4344292"/>
            <a:ext cx="666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4976514"/>
            <a:ext cx="666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5608736"/>
            <a:ext cx="666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6621958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346745"/>
            <a:ext cx="5191125" cy="503500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152155"/>
            <a:ext cx="5191125" cy="11578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314128"/>
            <a:ext cx="2452687" cy="169515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187" y="2314128"/>
            <a:ext cx="2452687" cy="16951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533400"/>
            <a:ext cx="1140142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layfair Display"/>
              </a:rPr>
              <a:t>1. Distribution Diagnostics: Quantifying Skewness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1346745"/>
            <a:ext cx="519112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To establish baseline pricing for dynamic messaging, we must isolate the mathematical center of the market. The dataset reveals extreme right-skewness.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0" y="1624756"/>
            <a:ext cx="1590972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2975" y="4342655"/>
            <a:ext cx="4676775" cy="776882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The $34.43 Gap (30.3% Inflation):</a:t>
            </a:r>
            <a:r>
              <a:rPr b="0" sz="1275" i="0" u="none">
                <a:solidFill>
                  <a:srgbClr val="7F1D1D"/>
                </a:solidFill>
                <a:latin typeface="Roboto Medium"/>
              </a:rPr>
              <a:t> Using the Mean ADR for algorithms or baselines will overprice the market for the vast majority of users, suppressing conversion.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2561778"/>
            <a:ext cx="2025253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475569"/>
                </a:solidFill>
                <a:latin typeface="Roboto"/>
              </a:rPr>
              <a:t>MEAN ADR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2887414"/>
            <a:ext cx="19288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0" sz="3150" i="0" u="none">
                <a:solidFill>
                  <a:srgbClr val="0F172A"/>
                </a:solidFill>
                <a:latin typeface="Roboto Light"/>
              </a:rPr>
              <a:t>$148.09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3335089"/>
            <a:ext cx="1928812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Roboto"/>
              </a:rPr>
              <a:t>Arithmetic average, highly sensitive to outliers.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1412" y="2561778"/>
            <a:ext cx="2025253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475569"/>
                </a:solidFill>
                <a:latin typeface="Roboto"/>
              </a:rPr>
              <a:t>MEDIAN ADR (P50)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1412" y="2887414"/>
            <a:ext cx="19288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0" sz="3150" i="0" u="none">
                <a:solidFill>
                  <a:srgbClr val="16A34A"/>
                </a:solidFill>
                <a:latin typeface="Roboto Light"/>
              </a:rPr>
              <a:t>$113.66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1412" y="3335089"/>
            <a:ext cx="1928812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Roboto"/>
              </a:rPr>
              <a:t>True market center for 50% of the audience.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4380755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7521029"/>
            <a:ext cx="10858500" cy="89892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17067"/>
            <a:ext cx="5191125" cy="54087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533400"/>
            <a:ext cx="1140142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layfair Display"/>
              </a:rPr>
              <a:t>2. Price Decay Modeling: Velocity of Discounting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1346745"/>
            <a:ext cx="108585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We calculated the daily rate of price change (velocity) across lead-time buckets. The data proves that prices do not rise linearly; they decay at an accelerating, non-linear (exponential) rate as check-in approaches.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2975" y="7711529"/>
            <a:ext cx="10344150" cy="0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Analytical Conclusion:</a:t>
            </a:r>
            <a:r>
              <a:rPr b="0" sz="1275" i="0" u="none">
                <a:solidFill>
                  <a:srgbClr val="14532D"/>
                </a:solidFill>
                <a:latin typeface="Roboto Medium"/>
              </a:rPr>
              <a:t> Because prices drop geometrically in the final 72 hours, </a:t>
            </a:r>
            <a:r>
              <a:rPr b="1" sz="1275" i="0" u="none">
                <a:solidFill>
                  <a:srgbClr val="0F172A"/>
                </a:solidFill>
                <a:latin typeface="Roboto"/>
              </a:rPr>
              <a:t>false urgency copy creates severe legal/trust liabilities.</a:t>
            </a:r>
            <a:r>
              <a:rPr b="0" sz="1275" i="0" u="none">
                <a:solidFill>
                  <a:srgbClr val="14532D"/>
                </a:solidFill>
                <a:latin typeface="Roboto Medium"/>
              </a:rPr>
              <a:t> We must pivot to API-driven Inventory Scarcity.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2017067"/>
            <a:ext cx="5191125" cy="521821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6750" y="2017067"/>
          <a:ext cx="5181598" cy="5218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08161"/>
                <a:gridCol w="874960"/>
                <a:gridCol w="1640681"/>
                <a:gridCol w="1657796"/>
              </a:tblGrid>
              <a:tr h="74545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Roboto"/>
                        </a:rPr>
                        <a:t>Lead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Roboto"/>
                        </a:rPr>
                        <a:t>Avg ADR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Roboto"/>
                        </a:rPr>
                        <a:t>$\Delta$ from Prior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Roboto"/>
                        </a:rPr>
                        <a:t>Calculated Velocity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45458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30+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$170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5458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14-28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$164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-$6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64748B"/>
                          </a:solidFill>
                          <a:latin typeface="Roboto"/>
                        </a:rPr>
                        <a:t>-$0.42 /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5458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7-14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$153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-$11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59E0B"/>
                          </a:solidFill>
                          <a:latin typeface="Roboto"/>
                        </a:rPr>
                        <a:t>-$1.57 /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5458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4-7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$144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-$9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EA580C"/>
                          </a:solidFill>
                          <a:latin typeface="Roboto"/>
                        </a:rPr>
                        <a:t>-$3.00 /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5458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1-3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$132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-$12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DC2626"/>
                          </a:solidFill>
                          <a:latin typeface="Roboto"/>
                        </a:rPr>
                        <a:t>-$6.00 /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5463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0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$119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-$13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DC2626"/>
                          </a:solidFill>
                          <a:latin typeface="Roboto"/>
                        </a:rPr>
                        <a:t>-$13.00 /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7749629"/>
            <a:ext cx="142875" cy="1619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1512" y="2715071"/>
            <a:ext cx="1008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9674" y="2715071"/>
            <a:ext cx="8749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4634" y="2715071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5316" y="2715071"/>
            <a:ext cx="1657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1512" y="3509218"/>
            <a:ext cx="1008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79674" y="3509218"/>
            <a:ext cx="8749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54634" y="3509218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5316" y="3509218"/>
            <a:ext cx="1657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1512" y="4303365"/>
            <a:ext cx="1008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79674" y="4303365"/>
            <a:ext cx="8749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54634" y="4303365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5316" y="4303365"/>
            <a:ext cx="1657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1512" y="5097512"/>
            <a:ext cx="1008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79674" y="5097512"/>
            <a:ext cx="8749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54634" y="5097512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5316" y="5097512"/>
            <a:ext cx="1657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1512" y="5891658"/>
            <a:ext cx="1008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79674" y="5891658"/>
            <a:ext cx="8749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54634" y="5891658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95316" y="5891658"/>
            <a:ext cx="1657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1512" y="6685805"/>
            <a:ext cx="10081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79674" y="6685805"/>
            <a:ext cx="8749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54634" y="6685805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95316" y="6685805"/>
            <a:ext cx="1657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017067"/>
            <a:ext cx="5191125" cy="474434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388542"/>
            <a:ext cx="2452687" cy="187791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562" y="2388542"/>
            <a:ext cx="2452687" cy="18779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" y="533400"/>
            <a:ext cx="1140142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layfair Display"/>
              </a:rPr>
              <a:t>3. Urgency Propensity Score &amp; Target Sizing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1346745"/>
            <a:ext cx="108585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Using conditional probability on the 48,914 dataset, we calculated the probability of a user operating in "Urgency Mode" (Lead Time $\le$ 7 days) given their City and Star Rating choice.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017067"/>
            <a:ext cx="54506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Playfair Display"/>
              </a:rPr>
              <a:t>Calculated Urgency Probabilities: $P(Urgency | City, Stars)$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2388542"/>
            <a:ext cx="5191125" cy="418236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6750" y="2388542"/>
          <a:ext cx="5181598" cy="4182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489918"/>
                <a:gridCol w="2108596"/>
                <a:gridCol w="1583084"/>
              </a:tblGrid>
              <a:tr h="59748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Roboto"/>
                        </a:rPr>
                        <a:t>Segment Filter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Roboto"/>
                        </a:rPr>
                        <a:t>Calculated Probability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Roboto"/>
                        </a:rPr>
                        <a:t>Volume Weight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97481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City E + 1-Star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$P = 0.756$ (Highest)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Very 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7481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City B + 0-Star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$P = 0.735$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Very 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7481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City E + 4-Star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2563EB"/>
                          </a:solidFill>
                          <a:latin typeface="Roboto"/>
                        </a:rPr>
                        <a:t>$P = 0.648$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High (Target)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597481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City A + 4-Star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2563EB"/>
                          </a:solidFill>
                          <a:latin typeface="Roboto"/>
                        </a:rPr>
                        <a:t>$P = 0.554$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Massive (Target)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597481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City C + 4-Star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$P = 0.293$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7481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City C + 5-Star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$P = 0.228$ (Lowest)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34125" y="2017067"/>
            <a:ext cx="54506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Playfair Display"/>
              </a:rPr>
              <a:t>Isolating the Target Dataset (The "Sweet Spot")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1512" y="3086546"/>
            <a:ext cx="1489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1430" y="3086546"/>
            <a:ext cx="2108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027" y="3086546"/>
            <a:ext cx="15830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1512" y="3621732"/>
            <a:ext cx="1489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1430" y="3621732"/>
            <a:ext cx="2108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027" y="3621732"/>
            <a:ext cx="15830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1512" y="4156918"/>
            <a:ext cx="1489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61430" y="4156918"/>
            <a:ext cx="2108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0027" y="4156918"/>
            <a:ext cx="15830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1512" y="4692104"/>
            <a:ext cx="1489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61430" y="4692104"/>
            <a:ext cx="2108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0027" y="4692104"/>
            <a:ext cx="15830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1512" y="5486251"/>
            <a:ext cx="1489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61430" y="5486251"/>
            <a:ext cx="2108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027" y="5486251"/>
            <a:ext cx="15830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1512" y="6021437"/>
            <a:ext cx="1489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61430" y="6021437"/>
            <a:ext cx="2108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027" y="6021437"/>
            <a:ext cx="15830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0350" y="2636192"/>
            <a:ext cx="2025253" cy="365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475569"/>
                </a:solidFill>
                <a:latin typeface="Roboto"/>
              </a:rPr>
              <a:t>TOTAL TARGET BOOKINGS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0350" y="3144589"/>
            <a:ext cx="19288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0" sz="3150" i="0" u="none">
                <a:solidFill>
                  <a:srgbClr val="16A34A"/>
                </a:solidFill>
                <a:latin typeface="Roboto Light"/>
              </a:rPr>
              <a:t>7,321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0350" y="3592264"/>
            <a:ext cx="1928812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Roboto"/>
              </a:rPr>
              <a:t>Bookings directly inside the 4-Star Non-Chain City A/E matrix.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8787" y="2636192"/>
            <a:ext cx="2025253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475569"/>
                </a:solidFill>
                <a:latin typeface="Roboto"/>
              </a:rPr>
              <a:t>WEIGHTED TARGET ADR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8787" y="2961828"/>
            <a:ext cx="19288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0" sz="3150" i="0" u="none">
                <a:solidFill>
                  <a:srgbClr val="0F172A"/>
                </a:solidFill>
                <a:latin typeface="Roboto Light"/>
              </a:rPr>
              <a:t>$145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8787" y="3409503"/>
            <a:ext cx="1928812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Roboto"/>
              </a:rPr>
              <a:t>Blended rate between City E ($161) and City A ($130).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216747"/>
            <a:ext cx="5191125" cy="149140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103042"/>
            <a:ext cx="5191125" cy="14168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579042"/>
            <a:ext cx="1143000" cy="114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187" y="2579042"/>
            <a:ext cx="1143000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0" y="2579042"/>
            <a:ext cx="1143000" cy="1143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533400"/>
            <a:ext cx="1140142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layfair Display"/>
              </a:rPr>
              <a:t>4. Simulated A/B Test Design &amp; Required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1346745"/>
            <a:ext cx="108585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Using the isolated 7,321 bookings from our target segment, we calculated the required traffic and duration to conduct a statistically significant Randomized Control Trial (RCT) testing Scarcity Messaging.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2017067"/>
            <a:ext cx="54506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Playfair Display"/>
              </a:rPr>
              <a:t>Traffic &amp; Sample Size Calculations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2017067"/>
            <a:ext cx="54506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Playfair Display"/>
              </a:rPr>
              <a:t>Feasibility Analysis (Based on Q4 Data)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388542"/>
            <a:ext cx="496252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Baseline Conversion (CVR):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Assumed standard 5.0%.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761803"/>
            <a:ext cx="49625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Minimum Detectable Effect (MDE):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5.0% relative lift (Target CVR = 5.25%).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394025"/>
            <a:ext cx="496252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Statistical Power ($1-\beta$):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80% (Standard).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3767286"/>
            <a:ext cx="496252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Significance Level ($\alpha$):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5% (95% Confidence).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4464397"/>
            <a:ext cx="4900612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DC2626"/>
                </a:solidFill>
                <a:latin typeface="Roboto"/>
              </a:rPr>
              <a:t>REQUIRED SAMPLE SIZE PER 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4694783"/>
            <a:ext cx="4667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2400" i="0" u="none">
                <a:solidFill>
                  <a:srgbClr val="0F172A"/>
                </a:solidFill>
                <a:latin typeface="Roboto Light"/>
              </a:rPr>
              <a:t>~59,800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5094833"/>
            <a:ext cx="466725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Roboto"/>
              </a:rPr>
              <a:t>Formula output based on continuous conversion proportion metrics.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4125" y="3141017"/>
            <a:ext cx="519112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0350" y="4293542"/>
            <a:ext cx="4676775" cy="1035843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Roboto"/>
              </a:rPr>
              <a:t>Test Feasibility is Confirmed:</a:t>
            </a:r>
            <a:r>
              <a:rPr b="0" sz="1275" i="0" u="none">
                <a:solidFill>
                  <a:srgbClr val="1E3A8A"/>
                </a:solidFill>
                <a:latin typeface="Roboto Medium"/>
              </a:rPr>
              <a:t> The historical data yields ~146,420 sessions for this segment per quarter. We only need 120,000 total sessions (60k per branch). We can achieve statistical significance in exactly </a:t>
            </a:r>
            <a:r>
              <a:rPr b="1" sz="1275" i="0" u="none">
                <a:solidFill>
                  <a:srgbClr val="0F172A"/>
                </a:solidFill>
                <a:latin typeface="Roboto"/>
              </a:rPr>
              <a:t>2.5 weeks</a:t>
            </a:r>
            <a:r>
              <a:rPr b="0" sz="1275" i="0" u="none">
                <a:solidFill>
                  <a:srgbClr val="1E3A8A"/>
                </a:solidFill>
                <a:latin typeface="Roboto Medium"/>
              </a:rPr>
              <a:t>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2426642"/>
            <a:ext cx="666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2799903"/>
            <a:ext cx="666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3432125"/>
            <a:ext cx="666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3805386"/>
            <a:ext cx="66675" cy="1428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10350" y="2922835"/>
            <a:ext cx="5905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 i="0" u="none">
                <a:solidFill>
                  <a:srgbClr val="0F172A"/>
                </a:solidFill>
                <a:latin typeface="Roboto"/>
              </a:rPr>
              <a:t>7,321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1075" y="2922835"/>
            <a:ext cx="6572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 i="0" u="none">
                <a:solidFill>
                  <a:srgbClr val="0F172A"/>
                </a:solidFill>
                <a:latin typeface="Roboto"/>
              </a:rPr>
              <a:t>÷ 0.05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5125" y="2922835"/>
            <a:ext cx="8572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 i="0" u="none">
                <a:solidFill>
                  <a:srgbClr val="16A34A"/>
                </a:solidFill>
                <a:latin typeface="Roboto"/>
              </a:rPr>
              <a:t>146,420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350" y="4331642"/>
            <a:ext cx="14287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05600" cy="907583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907583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5904309"/>
            <a:ext cx="5372100" cy="18782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628650"/>
            <a:ext cx="5640705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layfair Display"/>
              </a:rPr>
              <a:t>5. Financial Impact Projections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" y="1921966"/>
            <a:ext cx="53721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We modeled the Gross Booking Value (GBV) impact of the proposed scarcity messaging using the calculated target dataset parameters (7,321 bookings, $145 Weighted ADR).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3089374"/>
            <a:ext cx="5372100" cy="257681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6750" y="3089374"/>
          <a:ext cx="5362574" cy="2576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18059"/>
                <a:gridCol w="1575792"/>
                <a:gridCol w="2168723"/>
              </a:tblGrid>
              <a:tr h="64420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Roboto"/>
                        </a:rPr>
                        <a:t>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Roboto"/>
                        </a:rPr>
                        <a:t>Target Slice (Q4)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Roboto"/>
                        </a:rPr>
                        <a:t>Total 4-Star Segment (Q4)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44202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Baseline Bookings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7,321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14,429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4202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Calculated ADR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$145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$192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4204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Baseline GBV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$1,061,545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$2,770,368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6750" y="7925395"/>
            <a:ext cx="537210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Roboto"/>
              </a:rPr>
              <a:t>*Assuming uniform seasonality. Global rollout across all urgency-eligible tiers (0-3 stars) would scale this figure by roughly 3.5x.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1512" y="3787378"/>
            <a:ext cx="1618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9571" y="3787378"/>
            <a:ext cx="1575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65364" y="3787378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975" y="6151959"/>
            <a:ext cx="5090636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14532D"/>
                </a:solidFill>
                <a:latin typeface="Roboto"/>
              </a:rPr>
              <a:t>ESTIMATED YIELD (+2.5% CONVERSION LIFT)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1512" y="4581525"/>
            <a:ext cx="1618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9571" y="4581525"/>
            <a:ext cx="1575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65364" y="4581525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1512" y="5116710"/>
            <a:ext cx="1618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9571" y="5116710"/>
            <a:ext cx="1575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65364" y="5116710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975" y="6572845"/>
            <a:ext cx="1466850" cy="285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b="0" sz="2850" i="0" u="none">
                <a:solidFill>
                  <a:srgbClr val="16A34A"/>
                </a:solidFill>
                <a:latin typeface="Roboto Light"/>
              </a:rPr>
              <a:t>+$69,259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1100" y="6734770"/>
            <a:ext cx="800100" cy="123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Roboto"/>
              </a:rPr>
              <a:t>Per Quarter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975" y="7030045"/>
            <a:ext cx="2143125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0" sz="3600" i="0" u="none">
                <a:solidFill>
                  <a:srgbClr val="16A34A"/>
                </a:solidFill>
                <a:latin typeface="Roboto Light"/>
              </a:rPr>
              <a:t>+$277,036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5750" y="7268170"/>
            <a:ext cx="169545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Roboto"/>
              </a:rPr>
              <a:t>Annualized (4-Star Only)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533400"/>
            <a:ext cx="1140142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layfair Display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346745"/>
            <a:ext cx="108585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2121991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2121991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496169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2125" y="1489620"/>
            <a:ext cx="97631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https://blog.zoom.us/wp-content/uploads/2021/04/Zoom-Rooms-background-3-1024x576.jpg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125" y="1735335"/>
            <a:ext cx="97631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blog.zoom.us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280939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62125" y="2274391"/>
            <a:ext cx="97631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https://wallup.net/wp-content/uploads/2016/01/59325-digital_art-abstract-numbers-748x421.jpg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125" y="2520106"/>
            <a:ext cx="97631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wallup.net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